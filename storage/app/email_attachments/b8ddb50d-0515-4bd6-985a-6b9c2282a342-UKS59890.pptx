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1"/>
  </p:notes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A232A8-74D8-41EC-A30C-333D4AF9EA87}" type="datetimeFigureOut">
              <a:rPr lang="en-IN" smtClean="0"/>
              <a:t>12-09-2026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F95DB6-BB59-4006-9459-1560ECC60DB0}" type="slidenum">
              <a:rPr lang="en-IN" smtClean="0"/>
              <a:t>‹#›</a:t>
            </a:fld>
            <a:endParaRPr lang="en-IN"/>
          </a:p>
        </p:txBody>
      </p:sp>
    </p:spTree>
    <p:extLst>
      <p:ext uri="{BB962C8B-B14F-4D97-AF65-F5344CB8AC3E}">
        <p14:creationId xmlns:p14="http://schemas.microsoft.com/office/powerpoint/2010/main" val="1771253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8" Type="http://schemas.openxmlformats.org/officeDocument/2006/relationships/hyperlink" Target="https://www.igi-global.com/chapter/role-of-training-and-development-in-employee-motivation/348703" TargetMode="External"/><Relationship Id="rId3" Type="http://schemas.openxmlformats.org/officeDocument/2006/relationships/hyperlink" Target="https://www.tandfonline.com/doi/abs/10.1080/09585191003612059?casa_token=n-c1c-LGm74AAAAA:hNR6TqwWDh8p7fRwzkDvOZkMNvT7paPdeZF2jnu5cSSLiOsqMZgW-4TGcUcCMZnmK4CxjovbHppkag" TargetMode="External"/><Relationship Id="rId7" Type="http://schemas.openxmlformats.org/officeDocument/2006/relationships/hyperlink" Target="https://jhrmp.sljol.info/en/articles/10.4038/jhrmp.v11i4.81" TargetMode="External"/><Relationship Id="rId12" Type="http://schemas.openxmlformats.org/officeDocument/2006/relationships/hyperlink" Target="https://link.springer.com/chapter/10.1007/978-981-95-4318-2_3"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www.mdpi.com/2071-1050/15/10/8251" TargetMode="External"/><Relationship Id="rId11" Type="http://schemas.openxmlformats.org/officeDocument/2006/relationships/hyperlink" Target="https://link.springer.com/article/10.1007/s11356-022-21262-2" TargetMode="External"/><Relationship Id="rId5" Type="http://schemas.openxmlformats.org/officeDocument/2006/relationships/hyperlink" Target="https://www.emerald.com/tlo/article/30/5/532/378956" TargetMode="External"/><Relationship Id="rId10" Type="http://schemas.openxmlformats.org/officeDocument/2006/relationships/hyperlink" Target="https://www.tandfonline.com/doi/abs/10.1080/15378020.2020.1724850?casa_token=44p-XhLvEYkAAAAA:P3wckh43N0a_aVLdYc9bzkbs9aSYErj1TUHWoMhqfIPKFJSptQDfoRcmvk4gROV5yMyZr2sHFf7wBg" TargetMode="External"/><Relationship Id="rId4" Type="http://schemas.openxmlformats.org/officeDocument/2006/relationships/hyperlink" Target="https://onlinelibrary.wiley.com/doi/abs/10.1002/csr.2534" TargetMode="External"/><Relationship Id="rId9" Type="http://schemas.openxmlformats.org/officeDocument/2006/relationships/hyperlink" Target="https://www.emerald.com/books/edited-volume/16897/chapter/93886465"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hospitality industry is very reliant on direct employee-customer interaction, and good employee competence is crucial to the consistency of service delivery. Knowledge, skills, confidence and an ability to apply service standards can be developed through training. The dissertation suggests that Marriott is a suitable organisation to study as it is a brand that relies on its staff providing reliable and responsive service to customers at a number of properties across a range of customer needs. The issue is not if Marriott offers training, it's if training is delivered to employees in a manner that translates to service performance. There has been some previous research that has explored training, service quality and customer satisfaction in the context of hospitality organisations, yet quantitative evidence prior to this that specifically related to employee development and Marriott specific outcomes is limited</a:t>
            </a:r>
            <a:endParaRPr lang="en-IN" dirty="0"/>
          </a:p>
        </p:txBody>
      </p:sp>
      <p:sp>
        <p:nvSpPr>
          <p:cNvPr id="4" name="Slide Number Placeholder 3"/>
          <p:cNvSpPr>
            <a:spLocks noGrp="1"/>
          </p:cNvSpPr>
          <p:nvPr>
            <p:ph type="sldNum" sz="quarter" idx="5"/>
          </p:nvPr>
        </p:nvSpPr>
        <p:spPr/>
        <p:txBody>
          <a:bodyPr/>
          <a:lstStyle/>
          <a:p>
            <a:fld id="{5BF95DB6-BB59-4006-9459-1560ECC60DB0}" type="slidenum">
              <a:rPr lang="en-IN" smtClean="0"/>
              <a:t>2</a:t>
            </a:fld>
            <a:endParaRPr lang="en-IN"/>
          </a:p>
        </p:txBody>
      </p:sp>
    </p:spTree>
    <p:extLst>
      <p:ext uri="{BB962C8B-B14F-4D97-AF65-F5344CB8AC3E}">
        <p14:creationId xmlns:p14="http://schemas.microsoft.com/office/powerpoint/2010/main" val="365959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7D152-7FCE-499E-8138-AC6BCE53D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7F4F8-59AB-F510-0ECE-910C03B3AA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1E1AC-83EA-C02D-B65C-E2E46C89C8BD}"/>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research objective is to understand the influence of Employee Training and Development on the quality of services at Marriott International using secondary data and quantitative research approach. The relationship between training and development and service quality is explored in objective one. Objective two uses secondary quantitative evidence to assess the impact of training and development on customer satisfaction. Objective three focuses on developing proposals for enhancements in training &amp; development to improve service quality. The research questions are specific to these research objectives and serve as a framework for analysis.</a:t>
            </a:r>
            <a:endParaRPr lang="en-IN" dirty="0"/>
          </a:p>
        </p:txBody>
      </p:sp>
      <p:sp>
        <p:nvSpPr>
          <p:cNvPr id="4" name="Slide Number Placeholder 3">
            <a:extLst>
              <a:ext uri="{FF2B5EF4-FFF2-40B4-BE49-F238E27FC236}">
                <a16:creationId xmlns:a16="http://schemas.microsoft.com/office/drawing/2014/main" id="{5BBC23A1-98C5-4257-E46C-B93439AD2F95}"/>
              </a:ext>
            </a:extLst>
          </p:cNvPr>
          <p:cNvSpPr>
            <a:spLocks noGrp="1"/>
          </p:cNvSpPr>
          <p:nvPr>
            <p:ph type="sldNum" sz="quarter" idx="5"/>
          </p:nvPr>
        </p:nvSpPr>
        <p:spPr/>
        <p:txBody>
          <a:bodyPr/>
          <a:lstStyle/>
          <a:p>
            <a:fld id="{5BF95DB6-BB59-4006-9459-1560ECC60DB0}" type="slidenum">
              <a:rPr lang="en-IN" smtClean="0"/>
              <a:t>3</a:t>
            </a:fld>
            <a:endParaRPr lang="en-IN"/>
          </a:p>
        </p:txBody>
      </p:sp>
    </p:spTree>
    <p:extLst>
      <p:ext uri="{BB962C8B-B14F-4D97-AF65-F5344CB8AC3E}">
        <p14:creationId xmlns:p14="http://schemas.microsoft.com/office/powerpoint/2010/main" val="4018355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2A55-FF30-8813-2211-50D43D025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BC552-A611-0584-B05E-D2A2071F9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04FEE-BFB5-8C1A-4717-70882A28CFFB}"/>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There are three core concepts that are separated in the literature. Employee training and development are organised activities which aim to improve the knowledge, skills and work related capacities of the employees. Service quality is related to the effectiveness of service delivery and service interactions based on the customer's expectations. Customer satisfaction is a more comprehensive evaluation made after the purchase and may be affected by service encounters along with facilities, convenience, value and customer expectations. Good employee training is a logical component of employee satisfaction, which is why this distinction is important. Organisations can benefit from learning to enhance their employees' performance and service capability, as evidence of hospitality suggests; however, organisers must also consider the context and customer perception of the impact of learning</a:t>
            </a:r>
            <a:endParaRPr lang="en-IN" dirty="0"/>
          </a:p>
        </p:txBody>
      </p:sp>
      <p:sp>
        <p:nvSpPr>
          <p:cNvPr id="4" name="Slide Number Placeholder 3">
            <a:extLst>
              <a:ext uri="{FF2B5EF4-FFF2-40B4-BE49-F238E27FC236}">
                <a16:creationId xmlns:a16="http://schemas.microsoft.com/office/drawing/2014/main" id="{90476BF7-2B0B-7F15-9D60-7B153F8810A1}"/>
              </a:ext>
            </a:extLst>
          </p:cNvPr>
          <p:cNvSpPr>
            <a:spLocks noGrp="1"/>
          </p:cNvSpPr>
          <p:nvPr>
            <p:ph type="sldNum" sz="quarter" idx="5"/>
          </p:nvPr>
        </p:nvSpPr>
        <p:spPr/>
        <p:txBody>
          <a:bodyPr/>
          <a:lstStyle/>
          <a:p>
            <a:fld id="{5BF95DB6-BB59-4006-9459-1560ECC60DB0}" type="slidenum">
              <a:rPr lang="en-IN" smtClean="0"/>
              <a:t>4</a:t>
            </a:fld>
            <a:endParaRPr lang="en-IN"/>
          </a:p>
        </p:txBody>
      </p:sp>
    </p:spTree>
    <p:extLst>
      <p:ext uri="{BB962C8B-B14F-4D97-AF65-F5344CB8AC3E}">
        <p14:creationId xmlns:p14="http://schemas.microsoft.com/office/powerpoint/2010/main" val="2549666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04013-B155-80E5-128B-E3F0D3B04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ACAE8-87DF-112B-3A23-8D21A24B07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39D99-D21A-E30B-BC20-2B035272C7FF}"/>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study is grounded on two theoretical perspectives. Human Capital Theory is used to justify the value of investing in employees: Investing in human capital can enhance knowledge, skills and competencies that can boost productivity in an organisation. The SERVQUAL adds dimensions through which the quality of services can be judged: reliability, responsiveness, assurance, empathy and tangibles. The theoretical route is therefore training investment can increase the capability and behaviour of the employees, which can help in the delivery of service quality, and which may impact on customers' evaluation.</a:t>
            </a:r>
            <a:endParaRPr lang="en-IN" dirty="0"/>
          </a:p>
        </p:txBody>
      </p:sp>
      <p:sp>
        <p:nvSpPr>
          <p:cNvPr id="4" name="Slide Number Placeholder 3">
            <a:extLst>
              <a:ext uri="{FF2B5EF4-FFF2-40B4-BE49-F238E27FC236}">
                <a16:creationId xmlns:a16="http://schemas.microsoft.com/office/drawing/2014/main" id="{66AA5756-9349-6B57-F4E6-B3FAEBC61E9D}"/>
              </a:ext>
            </a:extLst>
          </p:cNvPr>
          <p:cNvSpPr>
            <a:spLocks noGrp="1"/>
          </p:cNvSpPr>
          <p:nvPr>
            <p:ph type="sldNum" sz="quarter" idx="5"/>
          </p:nvPr>
        </p:nvSpPr>
        <p:spPr/>
        <p:txBody>
          <a:bodyPr/>
          <a:lstStyle/>
          <a:p>
            <a:fld id="{5BF95DB6-BB59-4006-9459-1560ECC60DB0}" type="slidenum">
              <a:rPr lang="en-IN" smtClean="0"/>
              <a:t>5</a:t>
            </a:fld>
            <a:endParaRPr lang="en-IN"/>
          </a:p>
        </p:txBody>
      </p:sp>
    </p:spTree>
    <p:extLst>
      <p:ext uri="{BB962C8B-B14F-4D97-AF65-F5344CB8AC3E}">
        <p14:creationId xmlns:p14="http://schemas.microsoft.com/office/powerpoint/2010/main" val="1033243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19D49-7157-D5B2-6990-F6AAE32B3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CFC7C-6C47-7115-3934-DE2C58D59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8BB92-0562-23CA-ECBC-C3916BFBECFA}"/>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There is a clear gap in evidence identified from the literature. There has been some existing research that has focused on employee training, service quality and customer satisfaction, though much of this is based in hospitality organisations other than Marriott or concentrates on wider human-resource practices. Some studies specifically examine the type of training – for example green training – and others investigate broader service or organisation outcomes. Marriott has also been featured in other wider hotel chain comparisons, but these comparisons will not isolate employee development as a single explanatory factor. Thus, the present study aims to fill this void by using empirical data from the hospitality industry, Marriott organisational data, and an external customer-satisfaction index.</a:t>
            </a:r>
            <a:endParaRPr lang="en-IN" dirty="0"/>
          </a:p>
        </p:txBody>
      </p:sp>
      <p:sp>
        <p:nvSpPr>
          <p:cNvPr id="4" name="Slide Number Placeholder 3">
            <a:extLst>
              <a:ext uri="{FF2B5EF4-FFF2-40B4-BE49-F238E27FC236}">
                <a16:creationId xmlns:a16="http://schemas.microsoft.com/office/drawing/2014/main" id="{926DC0A6-331F-4C00-6D4C-44A14853709C}"/>
              </a:ext>
            </a:extLst>
          </p:cNvPr>
          <p:cNvSpPr>
            <a:spLocks noGrp="1"/>
          </p:cNvSpPr>
          <p:nvPr>
            <p:ph type="sldNum" sz="quarter" idx="5"/>
          </p:nvPr>
        </p:nvSpPr>
        <p:spPr/>
        <p:txBody>
          <a:bodyPr/>
          <a:lstStyle/>
          <a:p>
            <a:fld id="{5BF95DB6-BB59-4006-9459-1560ECC60DB0}" type="slidenum">
              <a:rPr lang="en-IN" smtClean="0"/>
              <a:t>6</a:t>
            </a:fld>
            <a:endParaRPr lang="en-IN"/>
          </a:p>
        </p:txBody>
      </p:sp>
    </p:spTree>
    <p:extLst>
      <p:ext uri="{BB962C8B-B14F-4D97-AF65-F5344CB8AC3E}">
        <p14:creationId xmlns:p14="http://schemas.microsoft.com/office/powerpoint/2010/main" val="3954028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455D-A875-6B9A-CBC8-F49CB3518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61C4B-F9F3-8D95-2427-748F4A6440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9ED47-EFA0-1DE6-95DA-ABB8E16C2AC4}"/>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methodology used is Research Onion and it is designed to maintain coherence between the research questions and analysis. The study was carried out using the positivism method because the study includes relationships that can be observed and measured in the form of secondary data in the form of numbers. A deductive approach was suitable as the research was based on previously established theoretical and empirical knowledge, and the expected relationships were tested to see if they are supported by evidence. The method used was secondary quantitatively, therefore there was no questionnaire, interview, observation. A mono-method quantitative choice supports the numerical evidence and a cross-sectional analytical approach acknowledges that the participants were not followed longitudinally.</a:t>
            </a:r>
            <a:endParaRPr lang="en-IN" dirty="0"/>
          </a:p>
        </p:txBody>
      </p:sp>
      <p:sp>
        <p:nvSpPr>
          <p:cNvPr id="4" name="Slide Number Placeholder 3">
            <a:extLst>
              <a:ext uri="{FF2B5EF4-FFF2-40B4-BE49-F238E27FC236}">
                <a16:creationId xmlns:a16="http://schemas.microsoft.com/office/drawing/2014/main" id="{1AD0E1F6-DCC2-29F4-F152-14FF5B14F101}"/>
              </a:ext>
            </a:extLst>
          </p:cNvPr>
          <p:cNvSpPr>
            <a:spLocks noGrp="1"/>
          </p:cNvSpPr>
          <p:nvPr>
            <p:ph type="sldNum" sz="quarter" idx="5"/>
          </p:nvPr>
        </p:nvSpPr>
        <p:spPr/>
        <p:txBody>
          <a:bodyPr/>
          <a:lstStyle/>
          <a:p>
            <a:fld id="{5BF95DB6-BB59-4006-9459-1560ECC60DB0}" type="slidenum">
              <a:rPr lang="en-IN" smtClean="0"/>
              <a:t>7</a:t>
            </a:fld>
            <a:endParaRPr lang="en-IN"/>
          </a:p>
        </p:txBody>
      </p:sp>
    </p:spTree>
    <p:extLst>
      <p:ext uri="{BB962C8B-B14F-4D97-AF65-F5344CB8AC3E}">
        <p14:creationId xmlns:p14="http://schemas.microsoft.com/office/powerpoint/2010/main" val="4006546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ED14A-D3CB-7DA8-E72A-E725B2728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05648-862F-3945-B9A7-AF4481793C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B8EF9-7E69-48E4-F127-BC5BFEDFCEEA}"/>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Incorporating secondary data, peer-reviewed academic studies and credible organisational publications which are relevant to training, service quality and customer satisfaction were carried out. It suggests the following databases such as Scopus, Web of Science, Business Source Complete, Emerald Insight, Sage Journals and ScienceDirect as suitable ones. Sources were evaluated for their relevance, credibility, methodological clarity and comparability. The analysis was conducted by extracting the context, sample and variables reported in a study based on each research objective and the findings reported. Where appropriate, descriptive statistics and percentages and trends were presented. Pearson correlations and regression coefficients and mediation estimates were reported in their statistical contexts.</a:t>
            </a:r>
            <a:endParaRPr lang="en-IN" dirty="0"/>
          </a:p>
        </p:txBody>
      </p:sp>
      <p:sp>
        <p:nvSpPr>
          <p:cNvPr id="4" name="Slide Number Placeholder 3">
            <a:extLst>
              <a:ext uri="{FF2B5EF4-FFF2-40B4-BE49-F238E27FC236}">
                <a16:creationId xmlns:a16="http://schemas.microsoft.com/office/drawing/2014/main" id="{41D7ED27-58DB-13AB-3F01-7CC4F3758551}"/>
              </a:ext>
            </a:extLst>
          </p:cNvPr>
          <p:cNvSpPr>
            <a:spLocks noGrp="1"/>
          </p:cNvSpPr>
          <p:nvPr>
            <p:ph type="sldNum" sz="quarter" idx="5"/>
          </p:nvPr>
        </p:nvSpPr>
        <p:spPr/>
        <p:txBody>
          <a:bodyPr/>
          <a:lstStyle/>
          <a:p>
            <a:fld id="{5BF95DB6-BB59-4006-9459-1560ECC60DB0}" type="slidenum">
              <a:rPr lang="en-IN" smtClean="0"/>
              <a:t>8</a:t>
            </a:fld>
            <a:endParaRPr lang="en-IN"/>
          </a:p>
        </p:txBody>
      </p:sp>
    </p:spTree>
    <p:extLst>
      <p:ext uri="{BB962C8B-B14F-4D97-AF65-F5344CB8AC3E}">
        <p14:creationId xmlns:p14="http://schemas.microsoft.com/office/powerpoint/2010/main" val="3036130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380FA-C405-828A-FFF7-39BC1D2B4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39020-DB95-A77F-37F9-F61F45BB0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BBB3E-F704-169E-2036-2D529065E498}"/>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relationships of training dimensions with service quality are positive and consistent in supporting objective one. Dhar found the correlations of .49 for access to training, .62 for training benefits and .55 for support for training of 494 employees in small and medium tourist hotels of Uttarakhand. </a:t>
            </a:r>
            <a:r>
              <a:rPr lang="en-IN" sz="1200" kern="1200" dirty="0" err="1">
                <a:solidFill>
                  <a:schemeClr val="tx1"/>
                </a:solidFill>
                <a:effectLst/>
                <a:latin typeface="+mn-lt"/>
                <a:ea typeface="+mn-ea"/>
                <a:cs typeface="+mn-cs"/>
              </a:rPr>
              <a:t>Waqanimaravu</a:t>
            </a:r>
            <a:r>
              <a:rPr lang="en-IN" sz="1200" kern="1200" dirty="0">
                <a:solidFill>
                  <a:schemeClr val="tx1"/>
                </a:solidFill>
                <a:effectLst/>
                <a:latin typeface="+mn-lt"/>
                <a:ea typeface="+mn-ea"/>
                <a:cs typeface="+mn-cs"/>
              </a:rPr>
              <a:t> and </a:t>
            </a:r>
            <a:r>
              <a:rPr lang="en-IN" sz="1200" kern="1200" dirty="0" err="1">
                <a:solidFill>
                  <a:schemeClr val="tx1"/>
                </a:solidFill>
                <a:effectLst/>
                <a:latin typeface="+mn-lt"/>
                <a:ea typeface="+mn-ea"/>
                <a:cs typeface="+mn-cs"/>
              </a:rPr>
              <a:t>Arasanmi</a:t>
            </a:r>
            <a:r>
              <a:rPr lang="en-IN" sz="1200" kern="1200" dirty="0">
                <a:solidFill>
                  <a:schemeClr val="tx1"/>
                </a:solidFill>
                <a:effectLst/>
                <a:latin typeface="+mn-lt"/>
                <a:ea typeface="+mn-ea"/>
                <a:cs typeface="+mn-cs"/>
              </a:rPr>
              <a:t> had .436, .665 and .487 respectively on 120 usable hospitality responses. The correlation between training benefits and the other factors is the highest in both studies as evidenced in this comparison. This is significant as it moves the focus from an employee's ability to attend training to the question of whether they have access to training.</a:t>
            </a:r>
            <a:endParaRPr lang="en-IN" dirty="0"/>
          </a:p>
        </p:txBody>
      </p:sp>
      <p:sp>
        <p:nvSpPr>
          <p:cNvPr id="4" name="Slide Number Placeholder 3">
            <a:extLst>
              <a:ext uri="{FF2B5EF4-FFF2-40B4-BE49-F238E27FC236}">
                <a16:creationId xmlns:a16="http://schemas.microsoft.com/office/drawing/2014/main" id="{EA7B1963-4003-7194-8302-3AB138D6FB43}"/>
              </a:ext>
            </a:extLst>
          </p:cNvPr>
          <p:cNvSpPr>
            <a:spLocks noGrp="1"/>
          </p:cNvSpPr>
          <p:nvPr>
            <p:ph type="sldNum" sz="quarter" idx="5"/>
          </p:nvPr>
        </p:nvSpPr>
        <p:spPr/>
        <p:txBody>
          <a:bodyPr/>
          <a:lstStyle/>
          <a:p>
            <a:fld id="{5BF95DB6-BB59-4006-9459-1560ECC60DB0}" type="slidenum">
              <a:rPr lang="en-IN" smtClean="0"/>
              <a:t>9</a:t>
            </a:fld>
            <a:endParaRPr lang="en-IN"/>
          </a:p>
        </p:txBody>
      </p:sp>
    </p:spTree>
    <p:extLst>
      <p:ext uri="{BB962C8B-B14F-4D97-AF65-F5344CB8AC3E}">
        <p14:creationId xmlns:p14="http://schemas.microsoft.com/office/powerpoint/2010/main" val="1175199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57843-F44A-8C7E-D6F2-DF253156A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6907F-0D45-9996-6347-6FE70D0C3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045BE-B277-2B08-09BE-C4C9293DC22B}"/>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regression and mediation results confirm this critical interpretation of Objective one. The study by </a:t>
            </a:r>
            <a:r>
              <a:rPr lang="en-IN" sz="1200" kern="1200" dirty="0" err="1">
                <a:solidFill>
                  <a:schemeClr val="tx1"/>
                </a:solidFill>
                <a:effectLst/>
                <a:latin typeface="+mn-lt"/>
                <a:ea typeface="+mn-ea"/>
                <a:cs typeface="+mn-cs"/>
              </a:rPr>
              <a:t>Waqanimaravu</a:t>
            </a:r>
            <a:r>
              <a:rPr lang="en-IN" sz="1200" kern="1200" dirty="0">
                <a:solidFill>
                  <a:schemeClr val="tx1"/>
                </a:solidFill>
                <a:effectLst/>
                <a:latin typeface="+mn-lt"/>
                <a:ea typeface="+mn-ea"/>
                <a:cs typeface="+mn-cs"/>
              </a:rPr>
              <a:t> and </a:t>
            </a:r>
            <a:r>
              <a:rPr lang="en-IN" sz="1200" kern="1200" dirty="0" err="1">
                <a:solidFill>
                  <a:schemeClr val="tx1"/>
                </a:solidFill>
                <a:effectLst/>
                <a:latin typeface="+mn-lt"/>
                <a:ea typeface="+mn-ea"/>
                <a:cs typeface="+mn-cs"/>
              </a:rPr>
              <a:t>Arasanmi</a:t>
            </a:r>
            <a:r>
              <a:rPr lang="en-IN" sz="1200" kern="1200" dirty="0">
                <a:solidFill>
                  <a:schemeClr val="tx1"/>
                </a:solidFill>
                <a:effectLst/>
                <a:latin typeface="+mn-lt"/>
                <a:ea typeface="+mn-ea"/>
                <a:cs typeface="+mn-cs"/>
              </a:rPr>
              <a:t> (2016) revealed that the perceived availability of training was not a significant predictor of service quality with (beta) value of .023 and p value of &gt;.05. Perceived training benefits, however, strongly predicted service quality with the beta being .553 and the p being less than .05, and perceived training support had beta equal to .202 and the p less than .01. The three training variables was reported to explain 46.3% of the variance in service quality. A potential mechanism for this is proposed by Dhar, who identifies organisational commitment as a mediator between training and service quality. All of the above indicate that relevance, perceived value, organisational support and the ability of employees to transfer learning into practice are key to effective training.</a:t>
            </a:r>
            <a:endParaRPr lang="en-IN" dirty="0"/>
          </a:p>
        </p:txBody>
      </p:sp>
      <p:sp>
        <p:nvSpPr>
          <p:cNvPr id="4" name="Slide Number Placeholder 3">
            <a:extLst>
              <a:ext uri="{FF2B5EF4-FFF2-40B4-BE49-F238E27FC236}">
                <a16:creationId xmlns:a16="http://schemas.microsoft.com/office/drawing/2014/main" id="{15C124CD-F840-A582-87ED-C74E3848F011}"/>
              </a:ext>
            </a:extLst>
          </p:cNvPr>
          <p:cNvSpPr>
            <a:spLocks noGrp="1"/>
          </p:cNvSpPr>
          <p:nvPr>
            <p:ph type="sldNum" sz="quarter" idx="5"/>
          </p:nvPr>
        </p:nvSpPr>
        <p:spPr/>
        <p:txBody>
          <a:bodyPr/>
          <a:lstStyle/>
          <a:p>
            <a:fld id="{5BF95DB6-BB59-4006-9459-1560ECC60DB0}" type="slidenum">
              <a:rPr lang="en-IN" smtClean="0"/>
              <a:t>10</a:t>
            </a:fld>
            <a:endParaRPr lang="en-IN"/>
          </a:p>
        </p:txBody>
      </p:sp>
    </p:spTree>
    <p:extLst>
      <p:ext uri="{BB962C8B-B14F-4D97-AF65-F5344CB8AC3E}">
        <p14:creationId xmlns:p14="http://schemas.microsoft.com/office/powerpoint/2010/main" val="2759299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1ADAF-2702-A10D-E6B5-F7416C528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E0126-1E90-676C-D992-EA36CE1B2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53398-26C9-78DD-FCB4-F15258E43451}"/>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more cautious finding is given in Objective two, as there are no matched training or satisfaction observations available for Marriott. The external ACSI series records Marriott at 77 in 2020, 76 in 2021, 78 in 2022, 80 in 2023, 79 in 2024 and 78 in 2025. The pattern thus reflects an improvement, then a slight decrease, instead of steady increases. The key methodological insight here is that ACSI is a customer satisfaction measure, external to Marriott's internal or global satisfaction measure. Therefore, the series does not provide evidence of any movement, or context for the level of satisfaction. The dissertation then does not attempt to correlate participation in Marriott training with ACSI scores, since the scores are not observed at the same level.</a:t>
            </a:r>
            <a:endParaRPr lang="en-IN" dirty="0"/>
          </a:p>
        </p:txBody>
      </p:sp>
      <p:sp>
        <p:nvSpPr>
          <p:cNvPr id="4" name="Slide Number Placeholder 3">
            <a:extLst>
              <a:ext uri="{FF2B5EF4-FFF2-40B4-BE49-F238E27FC236}">
                <a16:creationId xmlns:a16="http://schemas.microsoft.com/office/drawing/2014/main" id="{109A1C83-5415-63E0-5F7D-1BAA97195604}"/>
              </a:ext>
            </a:extLst>
          </p:cNvPr>
          <p:cNvSpPr>
            <a:spLocks noGrp="1"/>
          </p:cNvSpPr>
          <p:nvPr>
            <p:ph type="sldNum" sz="quarter" idx="5"/>
          </p:nvPr>
        </p:nvSpPr>
        <p:spPr/>
        <p:txBody>
          <a:bodyPr/>
          <a:lstStyle/>
          <a:p>
            <a:fld id="{5BF95DB6-BB59-4006-9459-1560ECC60DB0}" type="slidenum">
              <a:rPr lang="en-IN" smtClean="0"/>
              <a:t>11</a:t>
            </a:fld>
            <a:endParaRPr lang="en-IN"/>
          </a:p>
        </p:txBody>
      </p:sp>
    </p:spTree>
    <p:extLst>
      <p:ext uri="{BB962C8B-B14F-4D97-AF65-F5344CB8AC3E}">
        <p14:creationId xmlns:p14="http://schemas.microsoft.com/office/powerpoint/2010/main" val="2049565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08212-E4C6-9C0F-7340-0A19AA92F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55AA1-554E-3CAB-EF3B-94444CED9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834019-E0D7-0734-C13F-DC9448199818}"/>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There is evidence from the broader hospitality sector that supports an opportunity for training to customer satisfaction. Han and colleagues applied PLS-SEM and obtained results which indicated that green training significantly influenced green experience with beta of .399 and p &lt; 0.001, and that green experience significantly influenced customer satisfaction with beta of .621 and p &lt; 0.001. The indirect effect was .248, the total effect was .250, and R-squared value for customer satisfaction was .393. This is certainly a good journey in customer experience but not evidence on the full training program at Marriott. </a:t>
            </a:r>
            <a:r>
              <a:rPr lang="en-IN" sz="1200" kern="1200" dirty="0" err="1">
                <a:solidFill>
                  <a:schemeClr val="tx1"/>
                </a:solidFill>
                <a:effectLst/>
                <a:latin typeface="+mn-lt"/>
                <a:ea typeface="+mn-ea"/>
                <a:cs typeface="+mn-cs"/>
              </a:rPr>
              <a:t>Ambepitiya</a:t>
            </a:r>
            <a:r>
              <a:rPr lang="en-IN" sz="1200" kern="1200" dirty="0">
                <a:solidFill>
                  <a:schemeClr val="tx1"/>
                </a:solidFill>
                <a:effectLst/>
                <a:latin typeface="+mn-lt"/>
                <a:ea typeface="+mn-ea"/>
                <a:cs typeface="+mn-cs"/>
              </a:rPr>
              <a:t> and Dharmasiri also found that professional training was related to service quality and customer satisfaction in the Sri Lankan hotels. HRM is more extensive than training as it is also associated with wider HRM relationships with service quality and satisfaction as found by Chand</a:t>
            </a:r>
            <a:endParaRPr lang="en-IN" dirty="0"/>
          </a:p>
        </p:txBody>
      </p:sp>
      <p:sp>
        <p:nvSpPr>
          <p:cNvPr id="4" name="Slide Number Placeholder 3">
            <a:extLst>
              <a:ext uri="{FF2B5EF4-FFF2-40B4-BE49-F238E27FC236}">
                <a16:creationId xmlns:a16="http://schemas.microsoft.com/office/drawing/2014/main" id="{3D9F92FA-901C-715E-80E3-DD8860A8D38A}"/>
              </a:ext>
            </a:extLst>
          </p:cNvPr>
          <p:cNvSpPr>
            <a:spLocks noGrp="1"/>
          </p:cNvSpPr>
          <p:nvPr>
            <p:ph type="sldNum" sz="quarter" idx="5"/>
          </p:nvPr>
        </p:nvSpPr>
        <p:spPr/>
        <p:txBody>
          <a:bodyPr/>
          <a:lstStyle/>
          <a:p>
            <a:fld id="{5BF95DB6-BB59-4006-9459-1560ECC60DB0}" type="slidenum">
              <a:rPr lang="en-IN" smtClean="0"/>
              <a:t>12</a:t>
            </a:fld>
            <a:endParaRPr lang="en-IN"/>
          </a:p>
        </p:txBody>
      </p:sp>
    </p:spTree>
    <p:extLst>
      <p:ext uri="{BB962C8B-B14F-4D97-AF65-F5344CB8AC3E}">
        <p14:creationId xmlns:p14="http://schemas.microsoft.com/office/powerpoint/2010/main" val="29931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12477-854C-000D-0EB9-58D94FD4F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C4DF9-03C3-C47E-F89E-38CAFC645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01ECD-87C6-FBB3-E35C-27372F02E17E}"/>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evidence shows a great amount of investment in learning and development (L&amp;D) across the organisation, with a particular focus on Marriott. The percentage of associates who undertook career or skills-related training increased from 78 per cent in 2022 to 90 per cent in 2023, an increase of 12 per cent. Marriott also includes leadership development, learning support, cross training and performance development. Over 242,000 managed and franchised associates participated in classroom learning events in 2024 and around 95 percent of eligible associates completed Leadership Performance Acceleration reviews. The following indicators reflect progress in training reach and in integrating training into development processes. But participation does not equal effectiveness. Finally, in 2024, Marriott switched its digital-learning-hour approach and platform, so it is not advisable to compare later measures with earlier ones. The analytical implication is to evaluate training by applying and result. This case context is important to Marriott but does not create a causal training-to-service-quality link.</a:t>
            </a:r>
            <a:endParaRPr lang="en-IN" dirty="0"/>
          </a:p>
        </p:txBody>
      </p:sp>
      <p:sp>
        <p:nvSpPr>
          <p:cNvPr id="4" name="Slide Number Placeholder 3">
            <a:extLst>
              <a:ext uri="{FF2B5EF4-FFF2-40B4-BE49-F238E27FC236}">
                <a16:creationId xmlns:a16="http://schemas.microsoft.com/office/drawing/2014/main" id="{5B63BF34-02F0-06BA-8498-503EABCFAE79}"/>
              </a:ext>
            </a:extLst>
          </p:cNvPr>
          <p:cNvSpPr>
            <a:spLocks noGrp="1"/>
          </p:cNvSpPr>
          <p:nvPr>
            <p:ph type="sldNum" sz="quarter" idx="5"/>
          </p:nvPr>
        </p:nvSpPr>
        <p:spPr/>
        <p:txBody>
          <a:bodyPr/>
          <a:lstStyle/>
          <a:p>
            <a:fld id="{5BF95DB6-BB59-4006-9459-1560ECC60DB0}" type="slidenum">
              <a:rPr lang="en-IN" smtClean="0"/>
              <a:t>13</a:t>
            </a:fld>
            <a:endParaRPr lang="en-IN"/>
          </a:p>
        </p:txBody>
      </p:sp>
    </p:spTree>
    <p:extLst>
      <p:ext uri="{BB962C8B-B14F-4D97-AF65-F5344CB8AC3E}">
        <p14:creationId xmlns:p14="http://schemas.microsoft.com/office/powerpoint/2010/main" val="1168750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B7D54-0A70-C10F-1B25-DDBE9DD17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1E2D0-ACD3-9684-CEB8-47080D294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F3702-7BF6-58EA-69A0-127E13000E82}"/>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results result in 4 practical recommendations. First, Marriott should enhance role-specific and scenario-based training on complaint handling and communication, service recovery and problem solving as these had the strongest association with service quality, as perceived training benefits was the most important variable. Second, supervisor coaching, observation, feedback and follow-up should be employed to enhance post training transfer. Third, effectiveness of training should not be assessed merely through training attendance but should measure the impact of learning on employees' performance, service Quality measures and/or customer results. Fourth, customer feedback, complaints and service-recovery should drive training priorities. These recommendations are purposefully evidence-based and not "one size fits all. They understand the current learning environment at Marriott and are looking for ways to enhance the operational impact of training.</a:t>
            </a:r>
            <a:endParaRPr lang="en-IN" dirty="0"/>
          </a:p>
        </p:txBody>
      </p:sp>
      <p:sp>
        <p:nvSpPr>
          <p:cNvPr id="4" name="Slide Number Placeholder 3">
            <a:extLst>
              <a:ext uri="{FF2B5EF4-FFF2-40B4-BE49-F238E27FC236}">
                <a16:creationId xmlns:a16="http://schemas.microsoft.com/office/drawing/2014/main" id="{92229A5E-EB69-1E7C-688C-A6F5551198B2}"/>
              </a:ext>
            </a:extLst>
          </p:cNvPr>
          <p:cNvSpPr>
            <a:spLocks noGrp="1"/>
          </p:cNvSpPr>
          <p:nvPr>
            <p:ph type="sldNum" sz="quarter" idx="5"/>
          </p:nvPr>
        </p:nvSpPr>
        <p:spPr/>
        <p:txBody>
          <a:bodyPr/>
          <a:lstStyle/>
          <a:p>
            <a:fld id="{5BF95DB6-BB59-4006-9459-1560ECC60DB0}" type="slidenum">
              <a:rPr lang="en-IN" smtClean="0"/>
              <a:t>14</a:t>
            </a:fld>
            <a:endParaRPr lang="en-IN"/>
          </a:p>
        </p:txBody>
      </p:sp>
    </p:spTree>
    <p:extLst>
      <p:ext uri="{BB962C8B-B14F-4D97-AF65-F5344CB8AC3E}">
        <p14:creationId xmlns:p14="http://schemas.microsoft.com/office/powerpoint/2010/main" val="3093026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4CEFF-221C-E826-97AF-42D49996E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5A310-B788-AE61-5918-13109E95BB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12DFB-0661-5398-754A-8726C0F1E176}"/>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The findings of the study conclude that the role employee training and development in improving service quality is quite important, but from the evidence found it can be concluded that the factors that affect the effectiveness of training and development are the relevance of the training, the support of the organization and the transfer of training to the workplace. Empirical evidence that supports Objective one is the positive relationship between training and service quality as seen in the hospitality field especially in relation to perceived benefits and support. There is moderate support for the objective two goal, as many other hospitality studies have identified other pathways to customer outcomes and Marriott's ACSI trend is a contextual one. Through practical suggestions, objective three is met with role-specific learning, supervisory reinforcement, outcome-based evaluation and feedback from customers. The sources that supplement the analysis are those of Dhar, </a:t>
            </a:r>
            <a:r>
              <a:rPr lang="en-IN" sz="1200" kern="1200" dirty="0" err="1">
                <a:solidFill>
                  <a:schemeClr val="tx1"/>
                </a:solidFill>
                <a:effectLst/>
                <a:latin typeface="+mn-lt"/>
                <a:ea typeface="+mn-ea"/>
                <a:cs typeface="+mn-cs"/>
              </a:rPr>
              <a:t>Waqanimaravu</a:t>
            </a:r>
            <a:r>
              <a:rPr lang="en-IN" sz="1200" kern="1200" dirty="0">
                <a:solidFill>
                  <a:schemeClr val="tx1"/>
                </a:solidFill>
                <a:effectLst/>
                <a:latin typeface="+mn-lt"/>
                <a:ea typeface="+mn-ea"/>
                <a:cs typeface="+mn-cs"/>
              </a:rPr>
              <a:t> and </a:t>
            </a:r>
            <a:r>
              <a:rPr lang="en-IN" sz="1200" kern="1200" dirty="0" err="1">
                <a:solidFill>
                  <a:schemeClr val="tx1"/>
                </a:solidFill>
                <a:effectLst/>
                <a:latin typeface="+mn-lt"/>
                <a:ea typeface="+mn-ea"/>
                <a:cs typeface="+mn-cs"/>
              </a:rPr>
              <a:t>Arasanmi</a:t>
            </a:r>
            <a:r>
              <a:rPr lang="en-IN" sz="1200" kern="1200" dirty="0">
                <a:solidFill>
                  <a:schemeClr val="tx1"/>
                </a:solidFill>
                <a:effectLst/>
                <a:latin typeface="+mn-lt"/>
                <a:ea typeface="+mn-ea"/>
                <a:cs typeface="+mn-cs"/>
              </a:rPr>
              <a:t>, Han and colleagues, ACSI Travel Studies and the evidence from Marriott Serve 360</a:t>
            </a:r>
            <a:endParaRPr lang="en-IN" dirty="0"/>
          </a:p>
        </p:txBody>
      </p:sp>
      <p:sp>
        <p:nvSpPr>
          <p:cNvPr id="4" name="Slide Number Placeholder 3">
            <a:extLst>
              <a:ext uri="{FF2B5EF4-FFF2-40B4-BE49-F238E27FC236}">
                <a16:creationId xmlns:a16="http://schemas.microsoft.com/office/drawing/2014/main" id="{6B584EF9-2987-A264-E99D-954227940A60}"/>
              </a:ext>
            </a:extLst>
          </p:cNvPr>
          <p:cNvSpPr>
            <a:spLocks noGrp="1"/>
          </p:cNvSpPr>
          <p:nvPr>
            <p:ph type="sldNum" sz="quarter" idx="5"/>
          </p:nvPr>
        </p:nvSpPr>
        <p:spPr/>
        <p:txBody>
          <a:bodyPr/>
          <a:lstStyle/>
          <a:p>
            <a:fld id="{5BF95DB6-BB59-4006-9459-1560ECC60DB0}" type="slidenum">
              <a:rPr lang="en-IN" smtClean="0"/>
              <a:t>15</a:t>
            </a:fld>
            <a:endParaRPr lang="en-IN"/>
          </a:p>
        </p:txBody>
      </p:sp>
    </p:spTree>
    <p:extLst>
      <p:ext uri="{BB962C8B-B14F-4D97-AF65-F5344CB8AC3E}">
        <p14:creationId xmlns:p14="http://schemas.microsoft.com/office/powerpoint/2010/main" val="3269674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9830-E733-4E86-199A-371D01414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59B39-E483-E430-BD46-02DEA84827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FF936-6967-58FB-B409-699D5F341B2A}"/>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Chand, M., 2010. The impact of HRM practices on service quality, customer satisfaction and performance in the Indian hotel industry. The International Journal of Human Resource Management, 21(4), pp.551-566. </a:t>
            </a:r>
            <a:r>
              <a:rPr lang="en-IN" sz="1200" u="sng" kern="1200" dirty="0">
                <a:solidFill>
                  <a:schemeClr val="tx1"/>
                </a:solidFill>
                <a:effectLst/>
                <a:latin typeface="+mn-lt"/>
                <a:ea typeface="+mn-ea"/>
                <a:cs typeface="+mn-cs"/>
                <a:hlinkClick r:id="rId3"/>
              </a:rPr>
              <a:t>https://www.tandfonline.com/doi/abs/10.1080/09585191003612059?casa_token=n-c1c-LGm74AAAAA:hNR6TqwWDh8p7fRwzkDvOZkMNvT7paPdeZF2jnu5cSSLiOsqMZgW-4TGcUcCMZnmK4CxjovbHppkag</a:t>
            </a:r>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Han, J.W., Kok, S.K. and McClelland, R., 2023. The impact of green training on employee turnover intention and customer satisfaction: An integrated perspective. Corporate Social Responsibility and Environmental Management, 30(6), pp.3006-3019. </a:t>
            </a:r>
            <a:r>
              <a:rPr lang="en-IN" sz="1200" u="sng" kern="1200" dirty="0">
                <a:solidFill>
                  <a:schemeClr val="tx1"/>
                </a:solidFill>
                <a:effectLst/>
                <a:latin typeface="+mn-lt"/>
                <a:ea typeface="+mn-ea"/>
                <a:cs typeface="+mn-cs"/>
                <a:hlinkClick r:id="rId4"/>
              </a:rPr>
              <a:t>https://onlinelibrary.wiley.com/doi/abs/10.1002/csr.2534</a:t>
            </a:r>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Han, J.W., Nguyen, T.T.M., Hua, S.M. and Pham, T.H., 2023. Organizational learning through training effectiveness: evidence from the hospitality industry in Vietnam. The Learning Organization, 30(5), pp.532-553.</a:t>
            </a:r>
            <a:r>
              <a:rPr lang="en-IN" sz="1200" u="sng" kern="1200" dirty="0">
                <a:solidFill>
                  <a:schemeClr val="tx1"/>
                </a:solidFill>
                <a:effectLst/>
                <a:latin typeface="+mn-lt"/>
                <a:ea typeface="+mn-ea"/>
                <a:cs typeface="+mn-cs"/>
                <a:hlinkClick r:id="rId5"/>
              </a:rPr>
              <a:t>https://www.emerald.com/tlo/article/30/5/532/378956</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Papademetriou, C., Anastasiadou, S. and </a:t>
            </a:r>
            <a:r>
              <a:rPr lang="en-IN" sz="1200" kern="1200" dirty="0" err="1">
                <a:solidFill>
                  <a:schemeClr val="tx1"/>
                </a:solidFill>
                <a:effectLst/>
                <a:latin typeface="+mn-lt"/>
                <a:ea typeface="+mn-ea"/>
                <a:cs typeface="+mn-cs"/>
              </a:rPr>
              <a:t>Papalexandris</a:t>
            </a:r>
            <a:r>
              <a:rPr lang="en-IN" sz="1200" kern="1200" dirty="0">
                <a:solidFill>
                  <a:schemeClr val="tx1"/>
                </a:solidFill>
                <a:effectLst/>
                <a:latin typeface="+mn-lt"/>
                <a:ea typeface="+mn-ea"/>
                <a:cs typeface="+mn-cs"/>
              </a:rPr>
              <a:t>, S., 2023. The effect of sustainable human resource management practices on customer satisfaction, service quality, and institutional performance in hotel businesses. Sustainability, 15(10), p.8251. </a:t>
            </a:r>
            <a:r>
              <a:rPr lang="en-IN" sz="1200" u="sng" kern="1200" dirty="0">
                <a:solidFill>
                  <a:schemeClr val="tx1"/>
                </a:solidFill>
                <a:effectLst/>
                <a:latin typeface="+mn-lt"/>
                <a:ea typeface="+mn-ea"/>
                <a:cs typeface="+mn-cs"/>
                <a:hlinkClick r:id="rId6"/>
              </a:rPr>
              <a:t>https://www.mdpi.com/2071-1050/15/10/8251</a:t>
            </a:r>
            <a:r>
              <a:rPr lang="en-IN" sz="1200" kern="1200" dirty="0">
                <a:solidFill>
                  <a:schemeClr val="tx1"/>
                </a:solidFill>
                <a:effectLst/>
                <a:latin typeface="+mn-lt"/>
                <a:ea typeface="+mn-ea"/>
                <a:cs typeface="+mn-cs"/>
              </a:rPr>
              <a:t> </a:t>
            </a:r>
          </a:p>
          <a:p>
            <a:r>
              <a:rPr lang="en-IN" sz="1200" kern="1200" dirty="0" err="1">
                <a:solidFill>
                  <a:schemeClr val="tx1"/>
                </a:solidFill>
                <a:effectLst/>
                <a:latin typeface="+mn-lt"/>
                <a:ea typeface="+mn-ea"/>
                <a:cs typeface="+mn-cs"/>
              </a:rPr>
              <a:t>Senadhira</a:t>
            </a:r>
            <a:r>
              <a:rPr lang="en-IN" sz="1200" kern="1200" dirty="0">
                <a:solidFill>
                  <a:schemeClr val="tx1"/>
                </a:solidFill>
                <a:effectLst/>
                <a:latin typeface="+mn-lt"/>
                <a:ea typeface="+mn-ea"/>
                <a:cs typeface="+mn-cs"/>
              </a:rPr>
              <a:t>, D.I.V., 2026. From Training to Service-Quality Behaviour: The Moderating Role of Employee Engagement in Frontline Banking. Journal of Human Resource Management Perspectives, 11(4).</a:t>
            </a:r>
            <a:r>
              <a:rPr lang="en-IN" sz="1200" u="sng" kern="1200" dirty="0">
                <a:solidFill>
                  <a:schemeClr val="tx1"/>
                </a:solidFill>
                <a:effectLst/>
                <a:latin typeface="+mn-lt"/>
                <a:ea typeface="+mn-ea"/>
                <a:cs typeface="+mn-cs"/>
                <a:hlinkClick r:id="rId7"/>
              </a:rPr>
              <a:t>https://jhrmp.sljol.info/</a:t>
            </a:r>
            <a:r>
              <a:rPr lang="en-IN" sz="1200" u="sng" kern="1200" dirty="0" err="1">
                <a:solidFill>
                  <a:schemeClr val="tx1"/>
                </a:solidFill>
                <a:effectLst/>
                <a:latin typeface="+mn-lt"/>
                <a:ea typeface="+mn-ea"/>
                <a:cs typeface="+mn-cs"/>
                <a:hlinkClick r:id="rId7"/>
              </a:rPr>
              <a:t>en</a:t>
            </a:r>
            <a:r>
              <a:rPr lang="en-IN" sz="1200" u="sng" kern="1200" dirty="0">
                <a:solidFill>
                  <a:schemeClr val="tx1"/>
                </a:solidFill>
                <a:effectLst/>
                <a:latin typeface="+mn-lt"/>
                <a:ea typeface="+mn-ea"/>
                <a:cs typeface="+mn-cs"/>
                <a:hlinkClick r:id="rId7"/>
              </a:rPr>
              <a:t>/articles/10.4038/jhrmp.v11i4.81</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Singh, A. and Ansari, A.I., 2024. Role of training and development in employee motivation: Tourism and hospitality sector. In Enhancing Employee Motivation Through Training and Development (pp. 248-261). IGI Global Scientific </a:t>
            </a:r>
            <a:r>
              <a:rPr lang="en-IN" sz="1200" kern="1200" dirty="0" err="1">
                <a:solidFill>
                  <a:schemeClr val="tx1"/>
                </a:solidFill>
                <a:effectLst/>
                <a:latin typeface="+mn-lt"/>
                <a:ea typeface="+mn-ea"/>
                <a:cs typeface="+mn-cs"/>
              </a:rPr>
              <a:t>Publishing.</a:t>
            </a:r>
            <a:r>
              <a:rPr lang="en-IN" sz="1200" u="sng" kern="1200" dirty="0" err="1">
                <a:solidFill>
                  <a:schemeClr val="tx1"/>
                </a:solidFill>
                <a:effectLst/>
                <a:latin typeface="+mn-lt"/>
                <a:ea typeface="+mn-ea"/>
                <a:cs typeface="+mn-cs"/>
                <a:hlinkClick r:id="rId8"/>
              </a:rPr>
              <a:t>https</a:t>
            </a:r>
            <a:r>
              <a:rPr lang="en-IN" sz="1200" u="sng" kern="1200" dirty="0">
                <a:solidFill>
                  <a:schemeClr val="tx1"/>
                </a:solidFill>
                <a:effectLst/>
                <a:latin typeface="+mn-lt"/>
                <a:ea typeface="+mn-ea"/>
                <a:cs typeface="+mn-cs"/>
                <a:hlinkClick r:id="rId8"/>
              </a:rPr>
              <a:t>://www.igi-global.com/chapter/role-of-training-and-development-in-employee-motivation/348703</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Talukder, M.B. and Kumar, S., 2024. The Development of Human Capital in The Hospitality </a:t>
            </a:r>
            <a:r>
              <a:rPr lang="en-IN" sz="1200" kern="1200" dirty="0" err="1">
                <a:solidFill>
                  <a:schemeClr val="tx1"/>
                </a:solidFill>
                <a:effectLst/>
                <a:latin typeface="+mn-lt"/>
                <a:ea typeface="+mn-ea"/>
                <a:cs typeface="+mn-cs"/>
              </a:rPr>
              <a:t>Business.</a:t>
            </a:r>
            <a:r>
              <a:rPr lang="en-IN" sz="1200" u="sng" kern="1200" dirty="0" err="1">
                <a:solidFill>
                  <a:schemeClr val="tx1"/>
                </a:solidFill>
                <a:effectLst/>
                <a:latin typeface="+mn-lt"/>
                <a:ea typeface="+mn-ea"/>
                <a:cs typeface="+mn-cs"/>
                <a:hlinkClick r:id="rId9"/>
              </a:rPr>
              <a:t>https</a:t>
            </a:r>
            <a:r>
              <a:rPr lang="en-IN" sz="1200" u="sng" kern="1200" dirty="0">
                <a:solidFill>
                  <a:schemeClr val="tx1"/>
                </a:solidFill>
                <a:effectLst/>
                <a:latin typeface="+mn-lt"/>
                <a:ea typeface="+mn-ea"/>
                <a:cs typeface="+mn-cs"/>
                <a:hlinkClick r:id="rId9"/>
              </a:rPr>
              <a:t>://www.emerald.com/books/edited-volume/16897/chapter/93886465</a:t>
            </a:r>
            <a:endParaRPr lang="en-IN" sz="1200" kern="1200" dirty="0">
              <a:solidFill>
                <a:schemeClr val="tx1"/>
              </a:solidFill>
              <a:effectLst/>
              <a:latin typeface="+mn-lt"/>
              <a:ea typeface="+mn-ea"/>
              <a:cs typeface="+mn-cs"/>
            </a:endParaRPr>
          </a:p>
          <a:p>
            <a:r>
              <a:rPr lang="en-IN" sz="1200" kern="1200" dirty="0" err="1">
                <a:solidFill>
                  <a:schemeClr val="tx1"/>
                </a:solidFill>
                <a:effectLst/>
                <a:latin typeface="+mn-lt"/>
                <a:ea typeface="+mn-ea"/>
                <a:cs typeface="+mn-cs"/>
              </a:rPr>
              <a:t>Waqanimaravu</a:t>
            </a:r>
            <a:r>
              <a:rPr lang="en-IN" sz="1200" kern="1200" dirty="0">
                <a:solidFill>
                  <a:schemeClr val="tx1"/>
                </a:solidFill>
                <a:effectLst/>
                <a:latin typeface="+mn-lt"/>
                <a:ea typeface="+mn-ea"/>
                <a:cs typeface="+mn-cs"/>
              </a:rPr>
              <a:t>, M. and </a:t>
            </a:r>
            <a:r>
              <a:rPr lang="en-IN" sz="1200" kern="1200" dirty="0" err="1">
                <a:solidFill>
                  <a:schemeClr val="tx1"/>
                </a:solidFill>
                <a:effectLst/>
                <a:latin typeface="+mn-lt"/>
                <a:ea typeface="+mn-ea"/>
                <a:cs typeface="+mn-cs"/>
              </a:rPr>
              <a:t>Arasanmi</a:t>
            </a:r>
            <a:r>
              <a:rPr lang="en-IN" sz="1200" kern="1200" dirty="0">
                <a:solidFill>
                  <a:schemeClr val="tx1"/>
                </a:solidFill>
                <a:effectLst/>
                <a:latin typeface="+mn-lt"/>
                <a:ea typeface="+mn-ea"/>
                <a:cs typeface="+mn-cs"/>
              </a:rPr>
              <a:t>, C.N., 2020. Employee training and service quality in the hospitality industry. Journal of Foodservice Business Research, 23(3), pp.216-227. </a:t>
            </a:r>
            <a:r>
              <a:rPr lang="en-IN" sz="1200" u="sng" kern="1200" dirty="0">
                <a:solidFill>
                  <a:schemeClr val="tx1"/>
                </a:solidFill>
                <a:effectLst/>
                <a:latin typeface="+mn-lt"/>
                <a:ea typeface="+mn-ea"/>
                <a:cs typeface="+mn-cs"/>
                <a:hlinkClick r:id="rId10"/>
              </a:rPr>
              <a:t>https://www.tandfonline.com/doi/abs/10.1080/15378020.2020.1724850?casa_token=44p-XhLvEYkAAAAA:P3wckh43N0a_aVLdYc9bzkbs9aSYErj1TUHWoMhqfIPKFJSptQDfoRcmvk4gROV5yMyZr2sHFf7wBg</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Xue, B.W., Lin, H.H., Chen, C.C., Lee, P.Y. and Hsu, C.H., 2022. How to improve the problem of hotel manpower shortage in the COVID-19 epidemic environment? Exploring the effectiveness of the hotel practice training system. Environmental Science and Pollution Research, 29(48), pp.72169-72184.</a:t>
            </a:r>
            <a:r>
              <a:rPr lang="en-IN" sz="1200" u="sng" kern="1200" dirty="0">
                <a:solidFill>
                  <a:schemeClr val="tx1"/>
                </a:solidFill>
                <a:effectLst/>
                <a:latin typeface="+mn-lt"/>
                <a:ea typeface="+mn-ea"/>
                <a:cs typeface="+mn-cs"/>
                <a:hlinkClick r:id="rId11"/>
              </a:rPr>
              <a:t>https://link.springer.com/article/10.1007/s11356-022-21262-2</a:t>
            </a:r>
            <a:endParaRPr lang="en-IN" sz="1200" kern="1200" dirty="0">
              <a:solidFill>
                <a:schemeClr val="tx1"/>
              </a:solidFill>
              <a:effectLst/>
              <a:latin typeface="+mn-lt"/>
              <a:ea typeface="+mn-ea"/>
              <a:cs typeface="+mn-cs"/>
            </a:endParaRPr>
          </a:p>
          <a:p>
            <a:r>
              <a:rPr lang="en-IN" sz="1200" kern="1200" dirty="0" err="1">
                <a:solidFill>
                  <a:schemeClr val="tx1"/>
                </a:solidFill>
                <a:effectLst/>
                <a:latin typeface="+mn-lt"/>
                <a:ea typeface="+mn-ea"/>
                <a:cs typeface="+mn-cs"/>
              </a:rPr>
              <a:t>Zumitzavan</a:t>
            </a:r>
            <a:r>
              <a:rPr lang="en-IN" sz="1200" kern="1200" dirty="0">
                <a:solidFill>
                  <a:schemeClr val="tx1"/>
                </a:solidFill>
                <a:effectLst/>
                <a:latin typeface="+mn-lt"/>
                <a:ea typeface="+mn-ea"/>
                <a:cs typeface="+mn-cs"/>
              </a:rPr>
              <a:t>, V., 2026. Research Methodologies and Designs. In Social Science Methodologies for Management Research: From Philosophy to Practice in the AI Era (pp. 21-40). Singapore: Springer Nature Singapore. </a:t>
            </a:r>
            <a:r>
              <a:rPr lang="en-IN" sz="1200" u="sng" kern="1200" dirty="0">
                <a:solidFill>
                  <a:schemeClr val="tx1"/>
                </a:solidFill>
                <a:effectLst/>
                <a:latin typeface="+mn-lt"/>
                <a:ea typeface="+mn-ea"/>
                <a:cs typeface="+mn-cs"/>
                <a:hlinkClick r:id="rId12"/>
              </a:rPr>
              <a:t>https://link.springer.com/chapter/10.1007/978-981-95-4318-2_3</a:t>
            </a:r>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96EF012-9863-1F7C-22F7-BD9464D8F293}"/>
              </a:ext>
            </a:extLst>
          </p:cNvPr>
          <p:cNvSpPr>
            <a:spLocks noGrp="1"/>
          </p:cNvSpPr>
          <p:nvPr>
            <p:ph type="sldNum" sz="quarter" idx="5"/>
          </p:nvPr>
        </p:nvSpPr>
        <p:spPr/>
        <p:txBody>
          <a:bodyPr/>
          <a:lstStyle/>
          <a:p>
            <a:fld id="{5BF95DB6-BB59-4006-9459-1560ECC60DB0}" type="slidenum">
              <a:rPr lang="en-IN" smtClean="0"/>
              <a:t>16</a:t>
            </a:fld>
            <a:endParaRPr lang="en-IN"/>
          </a:p>
        </p:txBody>
      </p:sp>
    </p:spTree>
    <p:extLst>
      <p:ext uri="{BB962C8B-B14F-4D97-AF65-F5344CB8AC3E}">
        <p14:creationId xmlns:p14="http://schemas.microsoft.com/office/powerpoint/2010/main" val="1712292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GB"/>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GB"/>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GB"/>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9/12/2026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9/12/2026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tandfonline.com/doi/abs/10.1080/09585191003612059?casa_token=n-c1c-LGm74AAAAA:hNR6TqwWDh8p7fRwzkDvOZkMNvT7paPdeZF2jnu5cSSLiOsqMZgW-4TGcUcCMZnmK4CxjovbHppka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www.tandfonline.com/doi/abs/10.1080/15378020.2020.1724850?casa_token=44p-XhLvEYkAAAAA:P3wckh43N0a_aVLdYc9bzkbs9aSYErj1TUHWoMhqfIPKFJSptQDfoRcmvk4gROV5yMyZr2sHFf7wBg" TargetMode="External"/><Relationship Id="rId4" Type="http://schemas.openxmlformats.org/officeDocument/2006/relationships/hyperlink" Target="https://onlinelibrary.wiley.com/doi/abs/10.1002/csr.253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THE ROLE OF EMPLOYEE TRAINING AND DEVELOPMENT IN ENHANCING SERVICE QUALITY: A CASE STUDY OF MARRIOTT INTERNATIONAL</a:t>
            </a:r>
            <a:endParaRPr lang="en-US" dirty="0">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52C73-A831-5830-4FB3-4C4EAFAB65A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Research Background and Problem</a:t>
            </a:r>
          </a:p>
        </p:txBody>
      </p:sp>
      <p:sp>
        <p:nvSpPr>
          <p:cNvPr id="3" name="Content Placeholder 2">
            <a:extLst>
              <a:ext uri="{FF2B5EF4-FFF2-40B4-BE49-F238E27FC236}">
                <a16:creationId xmlns:a16="http://schemas.microsoft.com/office/drawing/2014/main" id="{E23A6CD4-2B5D-EB71-3BCA-51E1B22B2B49}"/>
              </a:ext>
            </a:extLst>
          </p:cNvPr>
          <p:cNvSpPr>
            <a:spLocks noGrp="1"/>
          </p:cNvSpPr>
          <p:nvPr>
            <p:ph idx="1"/>
          </p:nvPr>
        </p:nvSpPr>
        <p:spPr/>
        <p:txBody>
          <a:bodyPr/>
          <a:lstStyle/>
          <a:p>
            <a:pPr lvl="0" algn="just">
              <a:lnSpc>
                <a:spcPct val="150000"/>
              </a:lnSpc>
            </a:pPr>
            <a:r>
              <a:rPr lang="en-IN" dirty="0">
                <a:latin typeface="Times New Roman" panose="02020603050405020304" pitchFamily="18" charset="0"/>
                <a:cs typeface="Times New Roman" panose="02020603050405020304" pitchFamily="18" charset="0"/>
              </a:rPr>
              <a:t>The quality of the service provided is affected by the ability of the employees.</a:t>
            </a:r>
          </a:p>
          <a:p>
            <a:pPr lvl="0" algn="just">
              <a:lnSpc>
                <a:spcPct val="150000"/>
              </a:lnSpc>
            </a:pPr>
            <a:r>
              <a:rPr lang="en-IN" dirty="0">
                <a:latin typeface="Times New Roman" panose="02020603050405020304" pitchFamily="18" charset="0"/>
                <a:cs typeface="Times New Roman" panose="02020603050405020304" pitchFamily="18" charset="0"/>
              </a:rPr>
              <a:t>Training is enabling knowledge, skills and performance</a:t>
            </a:r>
          </a:p>
          <a:p>
            <a:pPr lvl="0" algn="just">
              <a:lnSpc>
                <a:spcPct val="150000"/>
              </a:lnSpc>
            </a:pPr>
            <a:r>
              <a:rPr lang="en-IN" dirty="0">
                <a:latin typeface="Times New Roman" panose="02020603050405020304" pitchFamily="18" charset="0"/>
                <a:cs typeface="Times New Roman" panose="02020603050405020304" pitchFamily="18" charset="0"/>
              </a:rPr>
              <a:t>Guest experience is an essential, consistent part of Marriott's business.</a:t>
            </a:r>
          </a:p>
          <a:p>
            <a:pPr algn="just">
              <a:lnSpc>
                <a:spcPct val="150000"/>
              </a:lnSpc>
            </a:pPr>
            <a:r>
              <a:rPr lang="en-IN" dirty="0">
                <a:latin typeface="Times New Roman" panose="02020603050405020304" pitchFamily="18" charset="0"/>
                <a:cs typeface="Times New Roman" panose="02020603050405020304" pitchFamily="18" charset="0"/>
              </a:rPr>
              <a:t>Some quantitative evidence, but not specific to Marriott</a:t>
            </a:r>
          </a:p>
        </p:txBody>
      </p:sp>
    </p:spTree>
    <p:extLst>
      <p:ext uri="{BB962C8B-B14F-4D97-AF65-F5344CB8AC3E}">
        <p14:creationId xmlns:p14="http://schemas.microsoft.com/office/powerpoint/2010/main" val="256086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FD312-39E8-9E84-1229-B57A9531F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1D01E-A6F6-B9DE-E546-653B5E170CD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Aim, Objectives and Research Questions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6EB763-CF9C-D72E-DB3A-620894A2DC61}"/>
              </a:ext>
            </a:extLst>
          </p:cNvPr>
          <p:cNvSpPr>
            <a:spLocks noGrp="1"/>
          </p:cNvSpPr>
          <p:nvPr>
            <p:ph idx="1"/>
          </p:nvPr>
        </p:nvSpPr>
        <p:spPr/>
        <p:txBody>
          <a:bodyPr/>
          <a:lstStyle/>
          <a:p>
            <a:pPr lvl="0" algn="just">
              <a:lnSpc>
                <a:spcPct val="150000"/>
              </a:lnSpc>
            </a:pPr>
            <a:r>
              <a:rPr lang="en-US" dirty="0">
                <a:latin typeface="Times New Roman" panose="02020603050405020304" pitchFamily="18" charset="0"/>
                <a:cs typeface="Times New Roman" panose="02020603050405020304" pitchFamily="18" charset="0"/>
              </a:rPr>
              <a:t>Aim: Investigate how training and development enhance the quality of service</a:t>
            </a:r>
          </a:p>
          <a:p>
            <a:pPr lvl="0" algn="just">
              <a:lnSpc>
                <a:spcPct val="150000"/>
              </a:lnSpc>
            </a:pPr>
            <a:r>
              <a:rPr lang="en-US" dirty="0">
                <a:latin typeface="Times New Roman" panose="02020603050405020304" pitchFamily="18" charset="0"/>
                <a:cs typeface="Times New Roman" panose="02020603050405020304" pitchFamily="18" charset="0"/>
              </a:rPr>
              <a:t>Objective 1: Training and quality of service</a:t>
            </a:r>
          </a:p>
          <a:p>
            <a:pPr lvl="0" algn="just">
              <a:lnSpc>
                <a:spcPct val="150000"/>
              </a:lnSpc>
            </a:pPr>
            <a:r>
              <a:rPr lang="en-US" dirty="0">
                <a:latin typeface="Times New Roman" panose="02020603050405020304" pitchFamily="18" charset="0"/>
                <a:cs typeface="Times New Roman" panose="02020603050405020304" pitchFamily="18" charset="0"/>
              </a:rPr>
              <a:t>Objective 2: Training and customer satisfaction</a:t>
            </a:r>
          </a:p>
          <a:p>
            <a:pPr lvl="0" algn="just">
              <a:lnSpc>
                <a:spcPct val="150000"/>
              </a:lnSpc>
            </a:pPr>
            <a:r>
              <a:rPr lang="en-US" dirty="0">
                <a:latin typeface="Times New Roman" panose="02020603050405020304" pitchFamily="18" charset="0"/>
                <a:cs typeface="Times New Roman" panose="02020603050405020304" pitchFamily="18" charset="0"/>
              </a:rPr>
              <a:t>Objective 3: Improvement proposals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63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B5E5E-F394-0BF2-C067-FCBFE5A1F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CC95D-F214-195A-022D-6AD10754EF0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Key Concepts from the Literature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32D89F-ED28-C41F-9B44-89EFE249C015}"/>
              </a:ext>
            </a:extLst>
          </p:cNvPr>
          <p:cNvSpPr>
            <a:spLocks noGrp="1"/>
          </p:cNvSpPr>
          <p:nvPr>
            <p:ph idx="1"/>
          </p:nvPr>
        </p:nvSpPr>
        <p:spPr/>
        <p:txBody>
          <a:bodyPr/>
          <a:lstStyle/>
          <a:p>
            <a:pPr lvl="0" algn="just">
              <a:lnSpc>
                <a:spcPct val="150000"/>
              </a:lnSpc>
            </a:pPr>
            <a:r>
              <a:rPr lang="en-US" dirty="0">
                <a:latin typeface="Times New Roman" panose="02020603050405020304" pitchFamily="18" charset="0"/>
                <a:cs typeface="Times New Roman" panose="02020603050405020304" pitchFamily="18" charset="0"/>
              </a:rPr>
              <a:t>Providing employees with learning and development opportunities</a:t>
            </a:r>
          </a:p>
          <a:p>
            <a:pPr lvl="0" algn="just">
              <a:lnSpc>
                <a:spcPct val="150000"/>
              </a:lnSpc>
            </a:pPr>
            <a:r>
              <a:rPr lang="en-US" dirty="0">
                <a:latin typeface="Times New Roman" panose="02020603050405020304" pitchFamily="18" charset="0"/>
                <a:cs typeface="Times New Roman" panose="02020603050405020304" pitchFamily="18" charset="0"/>
              </a:rPr>
              <a:t>Service quality</a:t>
            </a:r>
          </a:p>
          <a:p>
            <a:pPr lvl="0" algn="just">
              <a:lnSpc>
                <a:spcPct val="150000"/>
              </a:lnSpc>
            </a:pPr>
            <a:r>
              <a:rPr lang="en-US" dirty="0">
                <a:latin typeface="Times New Roman" panose="02020603050405020304" pitchFamily="18" charset="0"/>
                <a:cs typeface="Times New Roman" panose="02020603050405020304" pitchFamily="18" charset="0"/>
              </a:rPr>
              <a:t>Customer satisfaction</a:t>
            </a:r>
          </a:p>
          <a:p>
            <a:pPr lvl="0" algn="just">
              <a:lnSpc>
                <a:spcPct val="150000"/>
              </a:lnSpc>
            </a:pPr>
            <a:r>
              <a:rPr lang="en-US" dirty="0">
                <a:latin typeface="Times New Roman" panose="02020603050405020304" pitchFamily="18" charset="0"/>
                <a:cs typeface="Times New Roman" panose="02020603050405020304" pitchFamily="18" charset="0"/>
              </a:rPr>
              <a:t>While training is crucial, it's not the only factor.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4606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6B4CB-5536-62C9-2010-CC3FFBB38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AD5C1-8007-9E13-055C-BFF71BBAD44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Theoretical Framework</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3091D7-6C4C-2435-A285-7B4AE3E90BAC}"/>
              </a:ext>
            </a:extLst>
          </p:cNvPr>
          <p:cNvSpPr>
            <a:spLocks noGrp="1"/>
          </p:cNvSpPr>
          <p:nvPr>
            <p:ph idx="1"/>
          </p:nvPr>
        </p:nvSpPr>
        <p:spPr/>
        <p:txBody>
          <a:bodyPr/>
          <a:lstStyle/>
          <a:p>
            <a:pPr lvl="0" algn="just">
              <a:lnSpc>
                <a:spcPct val="150000"/>
              </a:lnSpc>
            </a:pPr>
            <a:r>
              <a:rPr lang="en-US" dirty="0">
                <a:latin typeface="Times New Roman" panose="02020603050405020304" pitchFamily="18" charset="0"/>
                <a:cs typeface="Times New Roman" panose="02020603050405020304" pitchFamily="18" charset="0"/>
              </a:rPr>
              <a:t>Human Capital Theory</a:t>
            </a:r>
          </a:p>
          <a:p>
            <a:pPr lvl="0" algn="just">
              <a:lnSpc>
                <a:spcPct val="150000"/>
              </a:lnSpc>
            </a:pPr>
            <a:r>
              <a:rPr lang="en-US" dirty="0">
                <a:latin typeface="Times New Roman" panose="02020603050405020304" pitchFamily="18" charset="0"/>
                <a:cs typeface="Times New Roman" panose="02020603050405020304" pitchFamily="18" charset="0"/>
              </a:rPr>
              <a:t>SERVQUAL Model</a:t>
            </a:r>
          </a:p>
          <a:p>
            <a:pPr lvl="0" algn="just">
              <a:lnSpc>
                <a:spcPct val="150000"/>
              </a:lnSpc>
            </a:pPr>
            <a:r>
              <a:rPr lang="en-US" dirty="0">
                <a:latin typeface="Times New Roman" panose="02020603050405020304" pitchFamily="18" charset="0"/>
                <a:cs typeface="Times New Roman" panose="02020603050405020304" pitchFamily="18" charset="0"/>
              </a:rPr>
              <a:t>Training → capability of employees → service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a:t>
            </a:r>
          </a:p>
          <a:p>
            <a:pPr lvl="0" algn="just">
              <a:lnSpc>
                <a:spcPct val="150000"/>
              </a:lnSpc>
            </a:pPr>
            <a:r>
              <a:rPr lang="en-US" dirty="0">
                <a:latin typeface="Times New Roman" panose="02020603050405020304" pitchFamily="18" charset="0"/>
                <a:cs typeface="Times New Roman" panose="02020603050405020304" pitchFamily="18" charset="0"/>
              </a:rPr>
              <a:t>Service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 customer evaluation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3857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CCA49-92AC-F032-B2D3-7FE583F83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5175E-E6E0-FF53-6D8D-40E3995A0DC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Literature Gap and Conceptual Logic</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17EF48-E2B0-0F89-CCC9-1024976A7285}"/>
              </a:ext>
            </a:extLst>
          </p:cNvPr>
          <p:cNvSpPr>
            <a:spLocks noGrp="1"/>
          </p:cNvSpPr>
          <p:nvPr>
            <p:ph idx="1"/>
          </p:nvPr>
        </p:nvSpPr>
        <p:spPr>
          <a:xfrm>
            <a:off x="581193" y="2340864"/>
            <a:ext cx="6093928" cy="3634486"/>
          </a:xfrm>
        </p:spPr>
        <p:txBody>
          <a:bodyPr/>
          <a:lstStyle/>
          <a:p>
            <a:pPr lvl="0" algn="just">
              <a:lnSpc>
                <a:spcPct val="150000"/>
              </a:lnSpc>
            </a:pPr>
            <a:r>
              <a:rPr lang="en-US" dirty="0">
                <a:latin typeface="Times New Roman" panose="02020603050405020304" pitchFamily="18" charset="0"/>
                <a:cs typeface="Times New Roman" panose="02020603050405020304" pitchFamily="18" charset="0"/>
              </a:rPr>
              <a:t>There is positive evidence throughout the hospitality research.</a:t>
            </a:r>
          </a:p>
          <a:p>
            <a:pPr lvl="0" algn="just">
              <a:lnSpc>
                <a:spcPct val="150000"/>
              </a:lnSpc>
            </a:pPr>
            <a:r>
              <a:rPr lang="en-US" dirty="0">
                <a:latin typeface="Times New Roman" panose="02020603050405020304" pitchFamily="18" charset="0"/>
                <a:cs typeface="Times New Roman" panose="02020603050405020304" pitchFamily="18" charset="0"/>
              </a:rPr>
              <a:t>There is limited evidence specific to Marriott.</a:t>
            </a:r>
          </a:p>
          <a:p>
            <a:pPr lvl="0" algn="just">
              <a:lnSpc>
                <a:spcPct val="150000"/>
              </a:lnSpc>
            </a:pPr>
            <a:r>
              <a:rPr lang="en-US" dirty="0">
                <a:latin typeface="Times New Roman" panose="02020603050405020304" pitchFamily="18" charset="0"/>
                <a:cs typeface="Times New Roman" panose="02020603050405020304" pitchFamily="18" charset="0"/>
              </a:rPr>
              <a:t>Not all HRM evidence is training evidence</a:t>
            </a:r>
          </a:p>
          <a:p>
            <a:pPr lvl="0" algn="just">
              <a:lnSpc>
                <a:spcPct val="150000"/>
              </a:lnSpc>
            </a:pPr>
            <a:r>
              <a:rPr lang="en-US" dirty="0">
                <a:latin typeface="Times New Roman" panose="02020603050405020304" pitchFamily="18" charset="0"/>
                <a:cs typeface="Times New Roman" panose="02020603050405020304" pitchFamily="18" charset="0"/>
              </a:rPr>
              <a:t>Study focuses on the evidence gap for Marriott.</a:t>
            </a:r>
            <a:endParaRPr lang="en-IN" dirty="0">
              <a:latin typeface="Times New Roman" panose="02020603050405020304" pitchFamily="18" charset="0"/>
              <a:cs typeface="Times New Roman" panose="02020603050405020304" pitchFamily="18" charset="0"/>
            </a:endParaRPr>
          </a:p>
        </p:txBody>
      </p:sp>
      <p:pic>
        <p:nvPicPr>
          <p:cNvPr id="4" name="image1.png">
            <a:extLst>
              <a:ext uri="{FF2B5EF4-FFF2-40B4-BE49-F238E27FC236}">
                <a16:creationId xmlns:a16="http://schemas.microsoft.com/office/drawing/2014/main" id="{06D0955C-D745-D573-5A4A-0B436D6BE1A6}"/>
              </a:ext>
            </a:extLst>
          </p:cNvPr>
          <p:cNvPicPr/>
          <p:nvPr/>
        </p:nvPicPr>
        <p:blipFill>
          <a:blip r:embed="rId3"/>
          <a:srcRect/>
          <a:stretch>
            <a:fillRect/>
          </a:stretch>
        </p:blipFill>
        <p:spPr>
          <a:xfrm>
            <a:off x="6948002" y="2846832"/>
            <a:ext cx="4662805" cy="2622550"/>
          </a:xfrm>
          <a:prstGeom prst="rect">
            <a:avLst/>
          </a:prstGeom>
          <a:ln w="25400">
            <a:solidFill>
              <a:srgbClr val="000000"/>
            </a:solidFill>
            <a:prstDash val="solid"/>
          </a:ln>
        </p:spPr>
      </p:pic>
    </p:spTree>
    <p:extLst>
      <p:ext uri="{BB962C8B-B14F-4D97-AF65-F5344CB8AC3E}">
        <p14:creationId xmlns:p14="http://schemas.microsoft.com/office/powerpoint/2010/main" val="4116874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50ACB-414B-0665-AEDB-7083644C1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6287A-FC3B-8CEF-B5BB-24272E97D0A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Research Methodology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ECA4D1-24C7-C70C-49AF-37CB25564B46}"/>
              </a:ext>
            </a:extLst>
          </p:cNvPr>
          <p:cNvSpPr>
            <a:spLocks noGrp="1"/>
          </p:cNvSpPr>
          <p:nvPr>
            <p:ph idx="1"/>
          </p:nvPr>
        </p:nvSpPr>
        <p:spPr>
          <a:xfrm>
            <a:off x="581193" y="2340864"/>
            <a:ext cx="6093928" cy="3634486"/>
          </a:xfrm>
        </p:spPr>
        <p:txBody>
          <a:bodyPr/>
          <a:lstStyle/>
          <a:p>
            <a:pPr lvl="0"/>
            <a:r>
              <a:rPr lang="en-US" dirty="0">
                <a:latin typeface="Times New Roman" panose="02020603050405020304" pitchFamily="18" charset="0"/>
                <a:cs typeface="Times New Roman" panose="02020603050405020304" pitchFamily="18" charset="0"/>
              </a:rPr>
              <a:t>Philosophy: Positivism</a:t>
            </a:r>
          </a:p>
          <a:p>
            <a:pPr lvl="0"/>
            <a:r>
              <a:rPr lang="en-US" dirty="0">
                <a:latin typeface="Times New Roman" panose="02020603050405020304" pitchFamily="18" charset="0"/>
                <a:cs typeface="Times New Roman" panose="02020603050405020304" pitchFamily="18" charset="0"/>
              </a:rPr>
              <a:t>Approach: Deductive</a:t>
            </a:r>
          </a:p>
          <a:p>
            <a:pPr lvl="0"/>
            <a:r>
              <a:rPr lang="en-US" dirty="0">
                <a:latin typeface="Times New Roman" panose="02020603050405020304" pitchFamily="18" charset="0"/>
                <a:cs typeface="Times New Roman" panose="02020603050405020304" pitchFamily="18" charset="0"/>
              </a:rPr>
              <a:t>Strategy: Secondary quantitative</a:t>
            </a:r>
          </a:p>
          <a:p>
            <a:pPr lvl="0"/>
            <a:r>
              <a:rPr lang="en-US" dirty="0">
                <a:latin typeface="Times New Roman" panose="02020603050405020304" pitchFamily="18" charset="0"/>
                <a:cs typeface="Times New Roman" panose="02020603050405020304" pitchFamily="18" charset="0"/>
              </a:rPr>
              <a:t>The choice/time-horizon is a mono-method cross section.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612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6DBED-A6FA-DBA5-7E42-8FEE44388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FEE4F-22E9-61F9-7F84-D777F5534FB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Collection and Analysis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09BA02-559A-4FDD-7928-70E62C000F9C}"/>
              </a:ext>
            </a:extLst>
          </p:cNvPr>
          <p:cNvSpPr>
            <a:spLocks noGrp="1"/>
          </p:cNvSpPr>
          <p:nvPr>
            <p:ph idx="1"/>
          </p:nvPr>
        </p:nvSpPr>
        <p:spPr>
          <a:xfrm>
            <a:off x="581192" y="2340864"/>
            <a:ext cx="9029151" cy="3634486"/>
          </a:xfrm>
        </p:spPr>
        <p:txBody>
          <a:bodyPr/>
          <a:lstStyle/>
          <a:p>
            <a:pPr lvl="0"/>
            <a:r>
              <a:rPr lang="en-US" dirty="0">
                <a:latin typeface="Times New Roman" panose="02020603050405020304" pitchFamily="18" charset="0"/>
                <a:cs typeface="Times New Roman" panose="02020603050405020304" pitchFamily="18" charset="0"/>
              </a:rPr>
              <a:t>Scopus, Web of Science</a:t>
            </a:r>
          </a:p>
          <a:p>
            <a:pPr lvl="0"/>
            <a:r>
              <a:rPr lang="en-US" dirty="0">
                <a:latin typeface="Times New Roman" panose="02020603050405020304" pitchFamily="18" charset="0"/>
                <a:cs typeface="Times New Roman" panose="02020603050405020304" pitchFamily="18" charset="0"/>
              </a:rPr>
              <a:t>Business Source Complete, Emerald and Sage and ScienceDirect are available.</a:t>
            </a:r>
          </a:p>
          <a:p>
            <a:pPr lvl="0"/>
            <a:r>
              <a:rPr lang="en-US" dirty="0">
                <a:latin typeface="Times New Roman" panose="02020603050405020304" pitchFamily="18" charset="0"/>
                <a:cs typeface="Times New Roman" panose="02020603050405020304" pitchFamily="18" charset="0"/>
              </a:rPr>
              <a:t>Describe reported correlations, regression and mediation.</a:t>
            </a:r>
          </a:p>
          <a:p>
            <a:pPr lvl="0"/>
            <a:r>
              <a:rPr lang="en-US" dirty="0">
                <a:latin typeface="Times New Roman" panose="02020603050405020304" pitchFamily="18" charset="0"/>
                <a:cs typeface="Times New Roman" panose="02020603050405020304" pitchFamily="18" charset="0"/>
              </a:rPr>
              <a:t>Evidence collected by the research objective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29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34F5D-1FC7-2E78-6585-5358E647E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83B39-DBCC-5387-27AF-2AD1F6AD00EC}"/>
              </a:ext>
            </a:extLst>
          </p:cNvPr>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Objective 1: Training and Service Quality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F2E8FE-E8E1-D3AC-8A64-3DA603DF6BFA}"/>
              </a:ext>
            </a:extLst>
          </p:cNvPr>
          <p:cNvSpPr>
            <a:spLocks noGrp="1"/>
          </p:cNvSpPr>
          <p:nvPr>
            <p:ph idx="1"/>
          </p:nvPr>
        </p:nvSpPr>
        <p:spPr>
          <a:xfrm>
            <a:off x="581193" y="2340864"/>
            <a:ext cx="5170384" cy="3634486"/>
          </a:xfrm>
        </p:spPr>
        <p:txBody>
          <a:bodyPr/>
          <a:lstStyle/>
          <a:p>
            <a:pPr lvl="0"/>
            <a:r>
              <a:rPr lang="en-US" dirty="0">
                <a:latin typeface="Times New Roman" panose="02020603050405020304" pitchFamily="18" charset="0"/>
                <a:cs typeface="Times New Roman" panose="02020603050405020304" pitchFamily="18" charset="0"/>
              </a:rPr>
              <a:t>Positive relationships between the studies.</a:t>
            </a:r>
          </a:p>
          <a:p>
            <a:pPr lvl="0"/>
            <a:r>
              <a:rPr lang="en-US" dirty="0">
                <a:latin typeface="Times New Roman" panose="02020603050405020304" pitchFamily="18" charset="0"/>
                <a:cs typeface="Times New Roman" panose="02020603050405020304" pitchFamily="18" charset="0"/>
              </a:rPr>
              <a:t>Training access: r = 0.490 /0.436</a:t>
            </a:r>
          </a:p>
          <a:p>
            <a:pPr lvl="0"/>
            <a:r>
              <a:rPr lang="en-US" dirty="0">
                <a:latin typeface="Times New Roman" panose="02020603050405020304" pitchFamily="18" charset="0"/>
                <a:cs typeface="Times New Roman" panose="02020603050405020304" pitchFamily="18" charset="0"/>
              </a:rPr>
              <a:t>Training benefits: r = 0.620 /0.665</a:t>
            </a:r>
          </a:p>
          <a:p>
            <a:pPr lvl="0"/>
            <a:r>
              <a:rPr lang="en-US" dirty="0">
                <a:latin typeface="Times New Roman" panose="02020603050405020304" pitchFamily="18" charset="0"/>
                <a:cs typeface="Times New Roman" panose="02020603050405020304" pitchFamily="18" charset="0"/>
              </a:rPr>
              <a:t>Training support: r = 0.550 /0.487</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96D3585-6309-8550-00D4-6FCFA1F9F0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51577" y="2453640"/>
            <a:ext cx="5041900" cy="3230880"/>
          </a:xfrm>
          <a:prstGeom prst="rect">
            <a:avLst/>
          </a:prstGeom>
          <a:noFill/>
        </p:spPr>
      </p:pic>
    </p:spTree>
    <p:extLst>
      <p:ext uri="{BB962C8B-B14F-4D97-AF65-F5344CB8AC3E}">
        <p14:creationId xmlns:p14="http://schemas.microsoft.com/office/powerpoint/2010/main" val="2200710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4978E-6A67-E722-6767-CAA29710C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0F3A1-796D-5092-32F4-6A11A6F5D30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 1: Critical Statistical Interpretation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6AF142-CBF1-3ADA-8C4A-3BEE47C4D11A}"/>
              </a:ext>
            </a:extLst>
          </p:cNvPr>
          <p:cNvSpPr>
            <a:spLocks noGrp="1"/>
          </p:cNvSpPr>
          <p:nvPr>
            <p:ph idx="1"/>
          </p:nvPr>
        </p:nvSpPr>
        <p:spPr>
          <a:xfrm>
            <a:off x="581192" y="2340864"/>
            <a:ext cx="7968447" cy="3634486"/>
          </a:xfrm>
        </p:spPr>
        <p:txBody>
          <a:bodyPr/>
          <a:lstStyle/>
          <a:p>
            <a:pPr lvl="0"/>
            <a:r>
              <a:rPr lang="en-US" dirty="0">
                <a:latin typeface="Times New Roman" panose="02020603050405020304" pitchFamily="18" charset="0"/>
                <a:cs typeface="Times New Roman" panose="02020603050405020304" pitchFamily="18" charset="0"/>
              </a:rPr>
              <a:t>Training access: β = .023, p &gt; .05</a:t>
            </a:r>
          </a:p>
          <a:p>
            <a:pPr lvl="0"/>
            <a:r>
              <a:rPr lang="en-US" dirty="0">
                <a:latin typeface="Times New Roman" panose="02020603050405020304" pitchFamily="18" charset="0"/>
                <a:cs typeface="Times New Roman" panose="02020603050405020304" pitchFamily="18" charset="0"/>
              </a:rPr>
              <a:t>Training benefits: β = .553, p &lt; .05</a:t>
            </a:r>
          </a:p>
          <a:p>
            <a:pPr lvl="0"/>
            <a:r>
              <a:rPr lang="en-US" dirty="0">
                <a:latin typeface="Times New Roman" panose="02020603050405020304" pitchFamily="18" charset="0"/>
                <a:cs typeface="Times New Roman" panose="02020603050405020304" pitchFamily="18" charset="0"/>
              </a:rPr>
              <a:t>Training support: β = .202, p &lt; .01</a:t>
            </a:r>
          </a:p>
          <a:p>
            <a:pPr lvl="0"/>
            <a:r>
              <a:rPr lang="en-US" dirty="0" err="1">
                <a:latin typeface="Times New Roman" panose="02020603050405020304" pitchFamily="18" charset="0"/>
                <a:cs typeface="Times New Roman" panose="02020603050405020304" pitchFamily="18" charset="0"/>
              </a:rPr>
              <a:t>Organisational</a:t>
            </a:r>
            <a:r>
              <a:rPr lang="en-US" dirty="0">
                <a:latin typeface="Times New Roman" panose="02020603050405020304" pitchFamily="18" charset="0"/>
                <a:cs typeface="Times New Roman" panose="02020603050405020304" pitchFamily="18" charset="0"/>
              </a:rPr>
              <a:t> commitment is suggested as a possible mechanism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1680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18110-075A-B3E2-387F-9ECF48BBE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DF741-2918-8EBF-4776-DF11FF7F49B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 2: Marriott Customer Satisfaction Trend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5FC344-380D-EB5A-B9A2-3EC330AEE638}"/>
              </a:ext>
            </a:extLst>
          </p:cNvPr>
          <p:cNvSpPr>
            <a:spLocks noGrp="1"/>
          </p:cNvSpPr>
          <p:nvPr>
            <p:ph idx="1"/>
          </p:nvPr>
        </p:nvSpPr>
        <p:spPr>
          <a:xfrm>
            <a:off x="581193" y="2340864"/>
            <a:ext cx="5170384" cy="3634486"/>
          </a:xfrm>
        </p:spPr>
        <p:txBody>
          <a:bodyPr/>
          <a:lstStyle/>
          <a:p>
            <a:pPr lvl="0"/>
            <a:r>
              <a:rPr lang="en-US" dirty="0">
                <a:latin typeface="Times New Roman" panose="02020603050405020304" pitchFamily="18" charset="0"/>
                <a:cs typeface="Times New Roman" panose="02020603050405020304" pitchFamily="18" charset="0"/>
              </a:rPr>
              <a:t>2020: 77</a:t>
            </a:r>
          </a:p>
          <a:p>
            <a:pPr lvl="0"/>
            <a:r>
              <a:rPr lang="en-US" dirty="0">
                <a:latin typeface="Times New Roman" panose="02020603050405020304" pitchFamily="18" charset="0"/>
                <a:cs typeface="Times New Roman" panose="02020603050405020304" pitchFamily="18" charset="0"/>
              </a:rPr>
              <a:t>2021: 76</a:t>
            </a:r>
          </a:p>
          <a:p>
            <a:pPr lvl="0"/>
            <a:r>
              <a:rPr lang="en-US" dirty="0">
                <a:latin typeface="Times New Roman" panose="02020603050405020304" pitchFamily="18" charset="0"/>
                <a:cs typeface="Times New Roman" panose="02020603050405020304" pitchFamily="18" charset="0"/>
              </a:rPr>
              <a:t>2022: 78</a:t>
            </a:r>
          </a:p>
          <a:p>
            <a:pPr lvl="0"/>
            <a:r>
              <a:rPr lang="en-US" dirty="0">
                <a:latin typeface="Times New Roman" panose="02020603050405020304" pitchFamily="18" charset="0"/>
                <a:cs typeface="Times New Roman" panose="02020603050405020304" pitchFamily="18" charset="0"/>
              </a:rPr>
              <a:t>2023: 80 → 2024: 79 → 2025: 78</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82572A6-9D67-1BAD-569E-A138DA4264A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340864"/>
            <a:ext cx="5308506" cy="3337560"/>
          </a:xfrm>
          <a:prstGeom prst="rect">
            <a:avLst/>
          </a:prstGeom>
          <a:noFill/>
        </p:spPr>
      </p:pic>
    </p:spTree>
    <p:extLst>
      <p:ext uri="{BB962C8B-B14F-4D97-AF65-F5344CB8AC3E}">
        <p14:creationId xmlns:p14="http://schemas.microsoft.com/office/powerpoint/2010/main" val="737719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203B2-B87C-09DC-0ECB-39713E1D0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DB816-C257-66BA-DB5A-49CC94CF780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 2: Empirical Evidence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4178CB-6A6B-1319-DE9A-23342F59C941}"/>
              </a:ext>
            </a:extLst>
          </p:cNvPr>
          <p:cNvSpPr>
            <a:spLocks noGrp="1"/>
          </p:cNvSpPr>
          <p:nvPr>
            <p:ph idx="1"/>
          </p:nvPr>
        </p:nvSpPr>
        <p:spPr>
          <a:xfrm>
            <a:off x="581192" y="2340864"/>
            <a:ext cx="7968447" cy="3634486"/>
          </a:xfrm>
        </p:spPr>
        <p:txBody>
          <a:bodyPr/>
          <a:lstStyle/>
          <a:p>
            <a:pPr lvl="0"/>
            <a:r>
              <a:rPr lang="en-US" dirty="0">
                <a:latin typeface="Times New Roman" panose="02020603050405020304" pitchFamily="18" charset="0"/>
                <a:cs typeface="Times New Roman" panose="02020603050405020304" pitchFamily="18" charset="0"/>
              </a:rPr>
              <a:t>Han et al. (2023): training → experience → satisfaction</a:t>
            </a:r>
          </a:p>
          <a:p>
            <a:pPr lvl="0"/>
            <a:r>
              <a:rPr lang="en-US" dirty="0">
                <a:latin typeface="Times New Roman" panose="02020603050405020304" pitchFamily="18" charset="0"/>
                <a:cs typeface="Times New Roman" panose="02020603050405020304" pitchFamily="18" charset="0"/>
              </a:rPr>
              <a:t>green training = experience: β = 0.399</a:t>
            </a:r>
          </a:p>
          <a:p>
            <a:pPr lvl="0"/>
            <a:r>
              <a:rPr lang="en-US" dirty="0">
                <a:latin typeface="Times New Roman" panose="02020603050405020304" pitchFamily="18" charset="0"/>
                <a:cs typeface="Times New Roman" panose="02020603050405020304" pitchFamily="18" charset="0"/>
              </a:rPr>
              <a:t>β = 0.621, experience → satisfaction</a:t>
            </a:r>
          </a:p>
          <a:p>
            <a:pPr lvl="0"/>
            <a:r>
              <a:rPr lang="en-US" dirty="0">
                <a:latin typeface="Times New Roman" panose="02020603050405020304" pitchFamily="18" charset="0"/>
                <a:cs typeface="Times New Roman" panose="02020603050405020304" pitchFamily="18" charset="0"/>
              </a:rPr>
              <a:t>For the customer satisfaction, the R2 is 0.393.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9796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1C9EC-ABDA-441D-183F-3C004DE26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5FE74-2328-0F33-A564-B5157133FC9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Marriott-Specific Training Evidence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425C17-A72E-6A82-841B-7D9673882B16}"/>
              </a:ext>
            </a:extLst>
          </p:cNvPr>
          <p:cNvSpPr>
            <a:spLocks noGrp="1"/>
          </p:cNvSpPr>
          <p:nvPr>
            <p:ph idx="1"/>
          </p:nvPr>
        </p:nvSpPr>
        <p:spPr>
          <a:xfrm>
            <a:off x="581192" y="2340864"/>
            <a:ext cx="6231088" cy="3634486"/>
          </a:xfrm>
        </p:spPr>
        <p:txBody>
          <a:bodyPr/>
          <a:lstStyle/>
          <a:p>
            <a:pPr lvl="0"/>
            <a:r>
              <a:rPr lang="en-US" dirty="0">
                <a:latin typeface="Times New Roman" panose="02020603050405020304" pitchFamily="18" charset="0"/>
                <a:cs typeface="Times New Roman" panose="02020603050405020304" pitchFamily="18" charset="0"/>
              </a:rPr>
              <a:t>2022: 78% training participation</a:t>
            </a:r>
          </a:p>
          <a:p>
            <a:pPr lvl="0"/>
            <a:r>
              <a:rPr lang="en-US" dirty="0">
                <a:latin typeface="Times New Roman" panose="02020603050405020304" pitchFamily="18" charset="0"/>
                <a:cs typeface="Times New Roman" panose="02020603050405020304" pitchFamily="18" charset="0"/>
              </a:rPr>
              <a:t>2023: 90% training participation</a:t>
            </a:r>
          </a:p>
          <a:p>
            <a:pPr lvl="0"/>
            <a:r>
              <a:rPr lang="en-US" dirty="0">
                <a:latin typeface="Times New Roman" panose="02020603050405020304" pitchFamily="18" charset="0"/>
                <a:cs typeface="Times New Roman" panose="02020603050405020304" pitchFamily="18" charset="0"/>
              </a:rPr>
              <a:t>Leadership development and cross training.</a:t>
            </a:r>
          </a:p>
          <a:p>
            <a:pPr lvl="0"/>
            <a:r>
              <a:rPr lang="en-US" dirty="0">
                <a:latin typeface="Times New Roman" panose="02020603050405020304" pitchFamily="18" charset="0"/>
                <a:cs typeface="Times New Roman" panose="02020603050405020304" pitchFamily="18" charset="0"/>
              </a:rPr>
              <a:t>Attending training doesn't necessarily mean that you are an effective trainer</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E396B99-1222-74E6-FC7D-FBB348A198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70141" y="2624328"/>
            <a:ext cx="4572635" cy="2743200"/>
          </a:xfrm>
          <a:prstGeom prst="rect">
            <a:avLst/>
          </a:prstGeom>
          <a:noFill/>
        </p:spPr>
      </p:pic>
    </p:spTree>
    <p:extLst>
      <p:ext uri="{BB962C8B-B14F-4D97-AF65-F5344CB8AC3E}">
        <p14:creationId xmlns:p14="http://schemas.microsoft.com/office/powerpoint/2010/main" val="3514799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5B211-2B84-15C5-6100-E4E418FA6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57877-DA20-46B9-F210-B6B34E241B3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Recommendations, Limitations and Future Research</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ACE96C-D9BE-B208-BC48-D13F56163E8F}"/>
              </a:ext>
            </a:extLst>
          </p:cNvPr>
          <p:cNvSpPr>
            <a:spLocks noGrp="1"/>
          </p:cNvSpPr>
          <p:nvPr>
            <p:ph idx="1"/>
          </p:nvPr>
        </p:nvSpPr>
        <p:spPr>
          <a:xfrm>
            <a:off x="581192" y="2340864"/>
            <a:ext cx="9212032" cy="3634486"/>
          </a:xfrm>
        </p:spPr>
        <p:txBody>
          <a:bodyPr>
            <a:normAutofit lnSpcReduction="10000"/>
          </a:bodyPr>
          <a:lstStyle/>
          <a:p>
            <a:pPr marL="0" lvl="0" indent="0">
              <a:buNone/>
            </a:pPr>
            <a:r>
              <a:rPr lang="en-US" b="1" dirty="0">
                <a:latin typeface="Times New Roman" panose="02020603050405020304" pitchFamily="18" charset="0"/>
                <a:cs typeface="Times New Roman" panose="02020603050405020304" pitchFamily="18" charset="0"/>
              </a:rPr>
              <a:t>Recommendations</a:t>
            </a:r>
          </a:p>
          <a:p>
            <a:pPr lvl="0"/>
            <a:r>
              <a:rPr lang="en-US" dirty="0">
                <a:latin typeface="Times New Roman" panose="02020603050405020304" pitchFamily="18" charset="0"/>
                <a:cs typeface="Times New Roman" panose="02020603050405020304" pitchFamily="18" charset="0"/>
              </a:rPr>
              <a:t>Role-specific, scenario-based training</a:t>
            </a:r>
          </a:p>
          <a:p>
            <a:pPr lvl="0"/>
            <a:r>
              <a:rPr lang="en-US" dirty="0">
                <a:latin typeface="Times New Roman" panose="02020603050405020304" pitchFamily="18" charset="0"/>
                <a:cs typeface="Times New Roman" panose="02020603050405020304" pitchFamily="18" charset="0"/>
              </a:rPr>
              <a:t>Coaching and transfer of training are promoted at the supervisor level</a:t>
            </a:r>
          </a:p>
          <a:p>
            <a:pPr lvl="0"/>
            <a:r>
              <a:rPr lang="en-US" dirty="0">
                <a:latin typeface="Times New Roman" panose="02020603050405020304" pitchFamily="18" charset="0"/>
                <a:cs typeface="Times New Roman" panose="02020603050405020304" pitchFamily="18" charset="0"/>
              </a:rPr>
              <a:t>Outcome-based training evaluation</a:t>
            </a:r>
          </a:p>
          <a:p>
            <a:pPr lvl="0"/>
            <a:r>
              <a:rPr lang="en-US" dirty="0">
                <a:latin typeface="Times New Roman" panose="02020603050405020304" pitchFamily="18" charset="0"/>
                <a:cs typeface="Times New Roman" panose="02020603050405020304" pitchFamily="18" charset="0"/>
              </a:rPr>
              <a:t>Integrate customer feedback</a:t>
            </a:r>
          </a:p>
          <a:p>
            <a:pPr lvl="0"/>
            <a:endParaRPr lang="en-US" dirty="0">
              <a:latin typeface="Times New Roman" panose="02020603050405020304" pitchFamily="18" charset="0"/>
              <a:cs typeface="Times New Roman" panose="02020603050405020304" pitchFamily="18" charset="0"/>
            </a:endParaRPr>
          </a:p>
          <a:p>
            <a:pPr marL="0" lvl="0" indent="0">
              <a:buNone/>
            </a:pPr>
            <a:r>
              <a:rPr lang="en-US" b="1" dirty="0">
                <a:latin typeface="Times New Roman" panose="02020603050405020304" pitchFamily="18" charset="0"/>
                <a:cs typeface="Times New Roman" panose="02020603050405020304" pitchFamily="18" charset="0"/>
              </a:rPr>
              <a:t>Limitations/Future</a:t>
            </a:r>
          </a:p>
          <a:p>
            <a:pPr lvl="0"/>
            <a:r>
              <a:rPr lang="en-US" dirty="0">
                <a:latin typeface="Times New Roman" panose="02020603050405020304" pitchFamily="18" charset="0"/>
                <a:cs typeface="Times New Roman" panose="02020603050405020304" pitchFamily="18" charset="0"/>
              </a:rPr>
              <a:t>No dataset of the same level was found in the Marriott Collection.</a:t>
            </a:r>
          </a:p>
          <a:p>
            <a:pPr lvl="0"/>
            <a:r>
              <a:rPr lang="en-US" dirty="0">
                <a:latin typeface="Times New Roman" panose="02020603050405020304" pitchFamily="18" charset="0"/>
                <a:cs typeface="Times New Roman" panose="02020603050405020304" pitchFamily="18" charset="0"/>
              </a:rPr>
              <a:t>Longitudinal primary research to be undertaken in the future.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0057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F5D10-29B5-D750-BEA5-E033ED434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D7E3A-2F35-A216-309F-3A71911F84E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 and Key 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DABA29-DB23-56E1-231F-253E6F091392}"/>
              </a:ext>
            </a:extLst>
          </p:cNvPr>
          <p:cNvSpPr>
            <a:spLocks noGrp="1"/>
          </p:cNvSpPr>
          <p:nvPr>
            <p:ph idx="1"/>
          </p:nvPr>
        </p:nvSpPr>
        <p:spPr>
          <a:xfrm>
            <a:off x="581192" y="2071370"/>
            <a:ext cx="9212032" cy="4084474"/>
          </a:xfrm>
        </p:spPr>
        <p:txBody>
          <a:bodyPr>
            <a:normAutofit fontScale="92500" lnSpcReduction="10000"/>
          </a:bodyPr>
          <a:lstStyle/>
          <a:p>
            <a:pPr lvl="0"/>
            <a:r>
              <a:rPr lang="en-US" dirty="0">
                <a:latin typeface="Times New Roman" panose="02020603050405020304" pitchFamily="18" charset="0"/>
                <a:cs typeface="Times New Roman" panose="02020603050405020304" pitchFamily="18" charset="0"/>
              </a:rPr>
              <a:t>Training is provided when appropriate and available for service quality</a:t>
            </a:r>
          </a:p>
          <a:p>
            <a:pPr lvl="0"/>
            <a:r>
              <a:rPr lang="en-US" dirty="0">
                <a:latin typeface="Times New Roman" panose="02020603050405020304" pitchFamily="18" charset="0"/>
                <a:cs typeface="Times New Roman" panose="02020603050405020304" pitchFamily="18" charset="0"/>
              </a:rPr>
              <a:t>It is effective when transferred to the workplace</a:t>
            </a:r>
          </a:p>
          <a:p>
            <a:pPr lvl="0"/>
            <a:r>
              <a:rPr lang="en-US" dirty="0">
                <a:latin typeface="Times New Roman" panose="02020603050405020304" pitchFamily="18" charset="0"/>
                <a:cs typeface="Times New Roman" panose="02020603050405020304" pitchFamily="18" charset="0"/>
              </a:rPr>
              <a:t>In the area of development, Marriott has made significant investments.</a:t>
            </a:r>
          </a:p>
          <a:p>
            <a:pPr lvl="0"/>
            <a:r>
              <a:rPr lang="en-US" dirty="0">
                <a:latin typeface="Times New Roman" panose="02020603050405020304" pitchFamily="18" charset="0"/>
                <a:cs typeface="Times New Roman" panose="02020603050405020304" pitchFamily="18" charset="0"/>
              </a:rPr>
              <a:t>There is no direct causal connection that can be made</a:t>
            </a:r>
          </a:p>
          <a:p>
            <a:pPr marL="0" lvl="0" indent="0">
              <a:buNone/>
            </a:pPr>
            <a:endParaRPr lang="en-US" dirty="0">
              <a:latin typeface="Times New Roman" panose="02020603050405020304" pitchFamily="18" charset="0"/>
              <a:cs typeface="Times New Roman" panose="02020603050405020304" pitchFamily="18" charset="0"/>
            </a:endParaRPr>
          </a:p>
          <a:p>
            <a:pPr marL="0" lvl="0" indent="0">
              <a:buNone/>
            </a:pPr>
            <a:r>
              <a:rPr lang="en-US" b="1" dirty="0">
                <a:latin typeface="Times New Roman" panose="02020603050405020304" pitchFamily="18" charset="0"/>
                <a:cs typeface="Times New Roman" panose="02020603050405020304" pitchFamily="18" charset="0"/>
              </a:rPr>
              <a:t>Key references</a:t>
            </a:r>
          </a:p>
          <a:p>
            <a:pPr lvl="0"/>
            <a:r>
              <a:rPr lang="en-US" dirty="0">
                <a:latin typeface="Times New Roman" panose="02020603050405020304" pitchFamily="18" charset="0"/>
                <a:cs typeface="Times New Roman" panose="02020603050405020304" pitchFamily="18" charset="0"/>
              </a:rPr>
              <a:t>Dhar (2015)</a:t>
            </a:r>
          </a:p>
          <a:p>
            <a:pPr lvl="0"/>
            <a:r>
              <a:rPr lang="en-US" dirty="0" err="1">
                <a:latin typeface="Times New Roman" panose="02020603050405020304" pitchFamily="18" charset="0"/>
                <a:cs typeface="Times New Roman" panose="02020603050405020304" pitchFamily="18" charset="0"/>
              </a:rPr>
              <a:t>Waqanimaravu</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Arasanmi</a:t>
            </a:r>
            <a:r>
              <a:rPr lang="en-US" dirty="0">
                <a:latin typeface="Times New Roman" panose="02020603050405020304" pitchFamily="18" charset="0"/>
                <a:cs typeface="Times New Roman" panose="02020603050405020304" pitchFamily="18" charset="0"/>
              </a:rPr>
              <a:t> (2020)</a:t>
            </a:r>
          </a:p>
          <a:p>
            <a:pPr lvl="0"/>
            <a:r>
              <a:rPr lang="en-US" dirty="0">
                <a:latin typeface="Times New Roman" panose="02020603050405020304" pitchFamily="18" charset="0"/>
                <a:cs typeface="Times New Roman" panose="02020603050405020304" pitchFamily="18" charset="0"/>
              </a:rPr>
              <a:t>Han, Kok &amp; McClelland (2023)</a:t>
            </a:r>
          </a:p>
          <a:p>
            <a:pPr lvl="0"/>
            <a:r>
              <a:rPr lang="en-US" dirty="0">
                <a:latin typeface="Times New Roman" panose="02020603050405020304" pitchFamily="18" charset="0"/>
                <a:cs typeface="Times New Roman" panose="02020603050405020304" pitchFamily="18" charset="0"/>
              </a:rPr>
              <a:t>Marriott Serve 360</a:t>
            </a:r>
          </a:p>
          <a:p>
            <a:pPr lvl="0"/>
            <a:r>
              <a:rPr lang="en-US" dirty="0">
                <a:latin typeface="Times New Roman" panose="02020603050405020304" pitchFamily="18" charset="0"/>
                <a:cs typeface="Times New Roman" panose="02020603050405020304" pitchFamily="18" charset="0"/>
              </a:rPr>
              <a:t>ACSI Travel Studies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2837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4455C-D714-4C73-D730-4B53F38E9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F0A8D1-6A79-5D85-5DAC-206F9E8AE9C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3FD3C2-D900-A72A-530A-F4CCB73530E9}"/>
              </a:ext>
            </a:extLst>
          </p:cNvPr>
          <p:cNvSpPr>
            <a:spLocks noGrp="1"/>
          </p:cNvSpPr>
          <p:nvPr>
            <p:ph idx="1"/>
          </p:nvPr>
        </p:nvSpPr>
        <p:spPr>
          <a:xfrm>
            <a:off x="581192" y="2071370"/>
            <a:ext cx="10757368" cy="4084474"/>
          </a:xfrm>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Chand, M., 2010. The impact of HRM practices on service quality, customer satisfaction and performance in the Indian hotel industry. The International Journal of Human Resource Management, 21(4), pp.551-566. </a:t>
            </a:r>
            <a:r>
              <a:rPr lang="en-IN" u="sng" dirty="0">
                <a:latin typeface="Times New Roman" panose="02020603050405020304" pitchFamily="18" charset="0"/>
                <a:cs typeface="Times New Roman" panose="02020603050405020304" pitchFamily="18" charset="0"/>
                <a:hlinkClick r:id="rId3"/>
              </a:rPr>
              <a:t>https://www.tandfonline.com/doi/abs/10.1080/09585191003612059?casa_token=n-c1c-LGm74AAAAA:hNR6TqwWDh8p7fRwzkDvOZkMNvT7paPdeZF2jnu5cSSLiOsqMZgW-4TGcUcCMZnmK4CxjovbHppkag</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Han, J.W., Kok, S.K. and McClelland, R., 2023. The impact of green training on employee turnover intention and customer satisfaction: An integrated perspective. Corporate Social Responsibility and Environmental Management, 30(6), pp.3006-3019. </a:t>
            </a:r>
            <a:r>
              <a:rPr lang="en-IN" u="sng" dirty="0">
                <a:latin typeface="Times New Roman" panose="02020603050405020304" pitchFamily="18" charset="0"/>
                <a:cs typeface="Times New Roman" panose="02020603050405020304" pitchFamily="18" charset="0"/>
                <a:hlinkClick r:id="rId4"/>
              </a:rPr>
              <a:t>https://onlinelibrary.wiley.com/doi/abs/10.1002/csr.2534</a:t>
            </a:r>
            <a:r>
              <a:rPr lang="en-IN" dirty="0">
                <a:latin typeface="Times New Roman" panose="02020603050405020304" pitchFamily="18" charset="0"/>
                <a:cs typeface="Times New Roman" panose="02020603050405020304" pitchFamily="18" charset="0"/>
              </a:rPr>
              <a:t> </a:t>
            </a:r>
          </a:p>
          <a:p>
            <a:pPr algn="just"/>
            <a:r>
              <a:rPr lang="en-IN" dirty="0" err="1">
                <a:latin typeface="Times New Roman" panose="02020603050405020304" pitchFamily="18" charset="0"/>
                <a:cs typeface="Times New Roman" panose="02020603050405020304" pitchFamily="18" charset="0"/>
              </a:rPr>
              <a:t>Waqanimaravu</a:t>
            </a:r>
            <a:r>
              <a:rPr lang="en-IN" dirty="0">
                <a:latin typeface="Times New Roman" panose="02020603050405020304" pitchFamily="18" charset="0"/>
                <a:cs typeface="Times New Roman" panose="02020603050405020304" pitchFamily="18" charset="0"/>
              </a:rPr>
              <a:t>, M. and </a:t>
            </a:r>
            <a:r>
              <a:rPr lang="en-IN" dirty="0" err="1">
                <a:latin typeface="Times New Roman" panose="02020603050405020304" pitchFamily="18" charset="0"/>
                <a:cs typeface="Times New Roman" panose="02020603050405020304" pitchFamily="18" charset="0"/>
              </a:rPr>
              <a:t>Arasanmi</a:t>
            </a:r>
            <a:r>
              <a:rPr lang="en-IN" dirty="0">
                <a:latin typeface="Times New Roman" panose="02020603050405020304" pitchFamily="18" charset="0"/>
                <a:cs typeface="Times New Roman" panose="02020603050405020304" pitchFamily="18" charset="0"/>
              </a:rPr>
              <a:t>, C.N., 2020. Employee training and service quality in the hospitality industry. Journal of Foodservice Business Research, 23(3), pp.216-227. </a:t>
            </a:r>
            <a:r>
              <a:rPr lang="en-IN" u="sng" dirty="0">
                <a:latin typeface="Times New Roman" panose="02020603050405020304" pitchFamily="18" charset="0"/>
                <a:cs typeface="Times New Roman" panose="02020603050405020304" pitchFamily="18" charset="0"/>
                <a:hlinkClick r:id="rId5"/>
              </a:rPr>
              <a:t>https://www.tandfonline.com/doi/abs/10.1080/15378020.2020.1724850?casa_token=44p-XhLvEYkAAAAA:P3wckh43N0a_aVLdYc9bzkbs9aSYErj1TUHWoMhqfIPKFJSptQDfoRcmvk4gROV5yMyZr2sHFf7wBg</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0025689"/>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{11187724-7FD4-4E7C-B456-FBCCFBCF0C67}TF201209c3-d067-44f9-a26f-c8f216c4431347f6cf9d_win32-4021059b889a</Template>
  <TotalTime>10</TotalTime>
  <Words>3279</Words>
  <Application>Microsoft Office PowerPoint</Application>
  <PresentationFormat>Widescreen</PresentationFormat>
  <Paragraphs>126</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Franklin Gothic Book</vt:lpstr>
      <vt:lpstr>Franklin Gothic Demi</vt:lpstr>
      <vt:lpstr>Times New Roman</vt:lpstr>
      <vt:lpstr>Wingdings 2</vt:lpstr>
      <vt:lpstr>DividendVTI</vt:lpstr>
      <vt:lpstr>THE ROLE OF EMPLOYEE TRAINING AND DEVELOPMENT IN ENHANCING SERVICE QUALITY: A CASE STUDY OF MARRIOTT INTERNATIONAL</vt:lpstr>
      <vt:lpstr>Research Background and Problem</vt:lpstr>
      <vt:lpstr>Aim, Objectives and Research Questions</vt:lpstr>
      <vt:lpstr>Key Concepts from the Literature</vt:lpstr>
      <vt:lpstr>Theoretical Framework</vt:lpstr>
      <vt:lpstr>Literature Gap and Conceptual Logic</vt:lpstr>
      <vt:lpstr>Research Methodology</vt:lpstr>
      <vt:lpstr>Data Collection and Analysis</vt:lpstr>
      <vt:lpstr>Objective 1: Training and Service Quality</vt:lpstr>
      <vt:lpstr>Objective 1: Critical Statistical Interpretation</vt:lpstr>
      <vt:lpstr>Objective 2: Marriott Customer Satisfaction Trend</vt:lpstr>
      <vt:lpstr>Objective 2: Empirical Evidence</vt:lpstr>
      <vt:lpstr>Marriott-Specific Training Evidence</vt:lpstr>
      <vt:lpstr>Recommendations, Limitations and Future Research</vt:lpstr>
      <vt:lpstr>Conclusion and Key 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Vikrant Pachouri</dc:creator>
  <cp:lastModifiedBy>Vikrant Pachouri</cp:lastModifiedBy>
  <cp:revision>3</cp:revision>
  <dcterms:created xsi:type="dcterms:W3CDTF">2026-09-12T11:39:14Z</dcterms:created>
  <dcterms:modified xsi:type="dcterms:W3CDTF">2026-09-12T11:50:05Z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