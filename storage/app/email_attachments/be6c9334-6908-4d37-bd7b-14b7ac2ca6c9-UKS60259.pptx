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trictFirstAndLastChars="0" embedTrueTypeFonts="1" saveSubsetFonts="1" autoCompressPictures="0">
  <p:sldMasterIdLst>
    <p:sldMasterId id="2147483659"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9144000" cy="5143500" type="screen16x9"/>
  <p:notesSz cx="6858000" cy="9144000"/>
  <p:embeddedFontLst>
    <p:embeddedFont>
      <p:font typeface="Roboto" panose="020B0604020202020204" charset="0"/>
      <p:regular r:id="rId19"/>
      <p:bold r:id="rId20"/>
      <p:italic r:id="rId21"/>
      <p:boldItalic r:id="rId22"/>
    </p:embeddedFont>
    <p:embeddedFont>
      <p:font typeface="Merriweather" panose="020B0604020202020204" charset="0"/>
      <p:regular r:id="rId23"/>
      <p:bold r:id="rId24"/>
      <p:italic r:id="rId25"/>
      <p:boldItalic r:id="rId2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E39C8DE0-C07B-4A0A-9976-AC201BF9D326}">
  <a:tblStyle styleId="{E39C8DE0-C07B-4A0A-9976-AC201BF9D326}"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43" d="100"/>
          <a:sy n="143" d="100"/>
        </p:scale>
        <p:origin x="684" y="114"/>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26" Type="http://schemas.openxmlformats.org/officeDocument/2006/relationships/font" Target="fonts/font8.fntdata"/><Relationship Id="rId3" Type="http://schemas.openxmlformats.org/officeDocument/2006/relationships/slide" Target="slides/slide2.xml"/><Relationship Id="rId21" Type="http://schemas.openxmlformats.org/officeDocument/2006/relationships/font" Target="fonts/font3.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7.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2.fntdata"/><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6.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5.fntdata"/><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4.fntdata"/><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8" Type="http://schemas.openxmlformats.org/officeDocument/2006/relationships/hyperlink" Target="https://www.mdpi.com/2076-328X/13/3/244" TargetMode="External"/><Relationship Id="rId3" Type="http://schemas.openxmlformats.org/officeDocument/2006/relationships/hyperlink" Target="https://journals.sagepub.com/doi/abs/10.1177/23220937221119599" TargetMode="External"/><Relationship Id="rId7" Type="http://schemas.openxmlformats.org/officeDocument/2006/relationships/hyperlink" Target="https://www.scielo.br/j/jistm/a/9xN7Sd5SSdBSphzmfZ78zqC/?format=pdf&amp;lang=en" TargetMode="External"/><Relationship Id="rId12" Type="http://schemas.openxmlformats.org/officeDocument/2006/relationships/hyperlink" Target="https://www.researchgate.net/profile/Rakesh-Vadithe/publication/394086567_Bridging_the_gap_how_HR_analytics_integrates_with_business_intelligence_and_integrated_reporting_for_organizational_agility/links/6888b290253dcb78df88f974/Bridging-the-gap-how-HR-analytics-integrates-with-business-intelligence-and-integrated-reporting-for-organizational-agility.pdf" TargetMode="External"/><Relationship Id="rId2" Type="http://schemas.openxmlformats.org/officeDocument/2006/relationships/slide" Target="../slides/slide15.xml"/><Relationship Id="rId1" Type="http://schemas.openxmlformats.org/officeDocument/2006/relationships/notesMaster" Target="../notesMasters/notesMaster1.xml"/><Relationship Id="rId6" Type="http://schemas.openxmlformats.org/officeDocument/2006/relationships/hyperlink" Target="https://www.sciencedirect.com/science/article/pii/S1053482220300681" TargetMode="External"/><Relationship Id="rId11" Type="http://schemas.openxmlformats.org/officeDocument/2006/relationships/hyperlink" Target="https://www.emerald.com/pr/article-pdf/51/3/900/2154147/pr-12-2019-0680.pdf" TargetMode="External"/><Relationship Id="rId5" Type="http://schemas.openxmlformats.org/officeDocument/2006/relationships/hyperlink" Target="https://journals.sagepub.com/doi/abs/10.1177/15344843231209362" TargetMode="External"/><Relationship Id="rId10" Type="http://schemas.openxmlformats.org/officeDocument/2006/relationships/hyperlink" Target="https://www.tescoplc.com/investors/reports-results-and-presentations/annual-report-2025" TargetMode="External"/><Relationship Id="rId4" Type="http://schemas.openxmlformats.org/officeDocument/2006/relationships/hyperlink" Target="https://journals.sagepub.com/doi/abs/10.1177/23220937251322236" TargetMode="External"/><Relationship Id="rId9" Type="http://schemas.openxmlformats.org/officeDocument/2006/relationships/hyperlink" Target="https://eprints.whiterose.ac.uk/id/eprint/182675/3/Intro%20to%20Special%20Issue%20Jan%202021%20Manuscript.pdf" TargetMode="Externa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
        <p:cNvGrpSpPr/>
        <p:nvPr/>
      </p:nvGrpSpPr>
      <p:grpSpPr>
        <a:xfrm>
          <a:off x="0" y="0"/>
          <a:ext cx="0" cy="0"/>
          <a:chOff x="0" y="0"/>
          <a:chExt cx="0" cy="0"/>
        </a:xfrm>
      </p:grpSpPr>
      <p:sp>
        <p:nvSpPr>
          <p:cNvPr id="61" name="Google Shape;6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 name="Google Shape;6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just" rtl="0">
              <a:lnSpc>
                <a:spcPct val="115000"/>
              </a:lnSpc>
              <a:spcBef>
                <a:spcPts val="0"/>
              </a:spcBef>
              <a:spcAft>
                <a:spcPts val="0"/>
              </a:spcAft>
              <a:buNone/>
            </a:pPr>
            <a:r>
              <a:rPr lang="en" sz="1200">
                <a:latin typeface="Times New Roman"/>
                <a:ea typeface="Times New Roman"/>
                <a:cs typeface="Times New Roman"/>
                <a:sym typeface="Times New Roman"/>
              </a:rPr>
              <a:t>Welcome!</a:t>
            </a:r>
            <a:br>
              <a:rPr lang="en" sz="1200">
                <a:latin typeface="Times New Roman"/>
                <a:ea typeface="Times New Roman"/>
                <a:cs typeface="Times New Roman"/>
                <a:sym typeface="Times New Roman"/>
              </a:rPr>
            </a:br>
            <a:r>
              <a:rPr lang="en" sz="1200">
                <a:solidFill>
                  <a:schemeClr val="dk1"/>
                </a:solidFill>
                <a:latin typeface="Times New Roman"/>
                <a:ea typeface="Times New Roman"/>
                <a:cs typeface="Times New Roman"/>
                <a:sym typeface="Times New Roman"/>
              </a:rPr>
              <a:t>The aim of this presentation is to analyse the situation of people analytics for better workforce management to add value to Tesco plc. It examines the role employee information plays in HR functions and decision-making, as well as in organisational agility and competitiveness. Stakeholder benefits, as well as any ethical risks of workforce information use, are also taken into account.</a:t>
            </a:r>
            <a:endParaRPr sz="1200">
              <a:latin typeface="Times New Roman"/>
              <a:ea typeface="Times New Roman"/>
              <a:cs typeface="Times New Roman"/>
              <a:sym typeface="Times New Roman"/>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
        <p:cNvGrpSpPr/>
        <p:nvPr/>
      </p:nvGrpSpPr>
      <p:grpSpPr>
        <a:xfrm>
          <a:off x="0" y="0"/>
          <a:ext cx="0" cy="0"/>
          <a:chOff x="0" y="0"/>
          <a:chExt cx="0" cy="0"/>
        </a:xfrm>
      </p:grpSpPr>
      <p:sp>
        <p:nvSpPr>
          <p:cNvPr id="67" name="Google Shape;67;g3fa874a7b8b_0_7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8" name="Google Shape;68;g3fa874a7b8b_0_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200">
                <a:latin typeface="Times New Roman"/>
                <a:ea typeface="Times New Roman"/>
                <a:cs typeface="Times New Roman"/>
                <a:sym typeface="Times New Roman"/>
              </a:rPr>
              <a:t>As a Highly Competitive Retail Sector, Tesco needs effective workforce management. Using people analytics, Tesco can gain insight into employee behaviour, trends in the workforce and refine HR practices. The organisation makes informed choices about their workforce, informed by employee data, to help meet business goals and improve employee experiences (Tesco plc, 2025).</a:t>
            </a:r>
            <a:endParaRPr sz="1200">
              <a:latin typeface="Times New Roman"/>
              <a:ea typeface="Times New Roman"/>
              <a:cs typeface="Times New Roman"/>
              <a:sym typeface="Times New Roman"/>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
        <p:cNvGrpSpPr/>
        <p:nvPr/>
      </p:nvGrpSpPr>
      <p:grpSpPr>
        <a:xfrm>
          <a:off x="0" y="0"/>
          <a:ext cx="0" cy="0"/>
          <a:chOff x="0" y="0"/>
          <a:chExt cx="0" cy="0"/>
        </a:xfrm>
      </p:grpSpPr>
      <p:sp>
        <p:nvSpPr>
          <p:cNvPr id="74" name="Google Shape;74;g3fa874a7b8b_0_9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 name="Google Shape;75;g3fa874a7b8b_0_9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just" rtl="0">
              <a:lnSpc>
                <a:spcPct val="115000"/>
              </a:lnSpc>
              <a:spcBef>
                <a:spcPts val="1200"/>
              </a:spcBef>
              <a:spcAft>
                <a:spcPts val="1200"/>
              </a:spcAft>
              <a:buClr>
                <a:schemeClr val="dk1"/>
              </a:buClr>
              <a:buSzPts val="1100"/>
              <a:buFont typeface="Arial"/>
              <a:buNone/>
            </a:pPr>
            <a:r>
              <a:rPr lang="en" sz="1200">
                <a:solidFill>
                  <a:schemeClr val="dk1"/>
                </a:solidFill>
                <a:latin typeface="Times New Roman"/>
                <a:ea typeface="Times New Roman"/>
                <a:cs typeface="Times New Roman"/>
                <a:sym typeface="Times New Roman"/>
              </a:rPr>
              <a:t>Tesco uses people analytics in every phase of a person's career, from hiring to staying on board. Human resource information can help HR managers to identify employee needs and design appropriate interventions (Suri and Lakhanpal, 2024). The importance of analytics lies in the fact that it enables Tesco to shift from traditional to proactive HR practice from traditional practice and ensures that it is able to find the issues that can impact the organisation's performance beforehand.</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g3fa874a7b8b_0_9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2" name="Google Shape;82;g3fa874a7b8b_0_9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just" rtl="0">
              <a:lnSpc>
                <a:spcPct val="115000"/>
              </a:lnSpc>
              <a:spcBef>
                <a:spcPts val="1200"/>
              </a:spcBef>
              <a:spcAft>
                <a:spcPts val="1200"/>
              </a:spcAft>
              <a:buClr>
                <a:schemeClr val="dk1"/>
              </a:buClr>
              <a:buSzPts val="1100"/>
              <a:buFont typeface="Arial"/>
              <a:buNone/>
            </a:pPr>
            <a:r>
              <a:rPr lang="en" sz="1200">
                <a:solidFill>
                  <a:schemeClr val="dk1"/>
                </a:solidFill>
                <a:latin typeface="Times New Roman"/>
                <a:ea typeface="Times New Roman"/>
                <a:cs typeface="Times New Roman"/>
                <a:sym typeface="Times New Roman"/>
              </a:rPr>
              <a:t>With workforce analytics supporting recruitment and workforce planning decisions, Tesco is prepared to handle the future workforce. Data offers insight on staffing needs, staff availability and, of course, varying demands on operations (Goswami and Mansi, 2025). This will help HR to refine their recruitment approach and better reuse their staff. But workforce planning needs to be ongoing as retail needs change regularly.</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g3fa874a7b8b_0_9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 name="Google Shape;89;g3fa874a7b8b_0_9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just" rtl="0">
              <a:lnSpc>
                <a:spcPct val="115000"/>
              </a:lnSpc>
              <a:spcBef>
                <a:spcPts val="1200"/>
              </a:spcBef>
              <a:spcAft>
                <a:spcPts val="1200"/>
              </a:spcAft>
              <a:buClr>
                <a:schemeClr val="dk1"/>
              </a:buClr>
              <a:buSzPts val="1100"/>
              <a:buFont typeface="Arial"/>
              <a:buNone/>
            </a:pPr>
            <a:r>
              <a:rPr lang="en" sz="1200">
                <a:solidFill>
                  <a:schemeClr val="dk1"/>
                </a:solidFill>
                <a:latin typeface="Times New Roman"/>
                <a:ea typeface="Times New Roman"/>
                <a:cs typeface="Times New Roman"/>
                <a:sym typeface="Times New Roman"/>
              </a:rPr>
              <a:t>Tesco uses employee engagement and performance analytics to gain insight into employee experience and development needs. Employees can give feedback, and this information is helpful for understanding employee motivation, satisfaction with working at the company, and its culture (Yoon </a:t>
            </a:r>
            <a:r>
              <a:rPr lang="en" sz="1200" i="1">
                <a:solidFill>
                  <a:schemeClr val="dk1"/>
                </a:solidFill>
                <a:latin typeface="Times New Roman"/>
                <a:ea typeface="Times New Roman"/>
                <a:cs typeface="Times New Roman"/>
                <a:sym typeface="Times New Roman"/>
              </a:rPr>
              <a:t>et al.,</a:t>
            </a:r>
            <a:r>
              <a:rPr lang="en" sz="1200">
                <a:solidFill>
                  <a:schemeClr val="dk1"/>
                </a:solidFill>
                <a:latin typeface="Times New Roman"/>
                <a:ea typeface="Times New Roman"/>
                <a:cs typeface="Times New Roman"/>
                <a:sym typeface="Times New Roman"/>
              </a:rPr>
              <a:t> 2024). While analytics may enhance decision-making, the behaviour of the employee is complex and numerical indications need to be mixed with managerial judgments.</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g3fa874a7b8b_0_9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 name="Google Shape;96;g3fa874a7b8b_0_9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just" rtl="0">
              <a:lnSpc>
                <a:spcPct val="115000"/>
              </a:lnSpc>
              <a:spcBef>
                <a:spcPts val="1200"/>
              </a:spcBef>
              <a:spcAft>
                <a:spcPts val="1200"/>
              </a:spcAft>
              <a:buClr>
                <a:schemeClr val="dk1"/>
              </a:buClr>
              <a:buSzPts val="1100"/>
              <a:buFont typeface="Arial"/>
              <a:buNone/>
            </a:pPr>
            <a:r>
              <a:rPr lang="en" sz="1200">
                <a:solidFill>
                  <a:schemeClr val="dk1"/>
                </a:solidFill>
                <a:latin typeface="Times New Roman"/>
                <a:ea typeface="Times New Roman"/>
                <a:cs typeface="Times New Roman"/>
                <a:sym typeface="Times New Roman"/>
              </a:rPr>
              <a:t>The added value of people analytics lies in converting the raw employee data into knowledge. Tesco gathers information about the workforce and the patterns to identify key issues. These insights enable managers to gain a sense of employee issues and construct proper resolutions. Thus, analytics helps to make evidence-based decisions instead of merely making assumptions.</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g3fa874a7b8b_0_95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3" name="Google Shape;103;g3fa874a7b8b_0_9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just" rtl="0">
              <a:lnSpc>
                <a:spcPct val="115000"/>
              </a:lnSpc>
              <a:spcBef>
                <a:spcPts val="1200"/>
              </a:spcBef>
              <a:spcAft>
                <a:spcPts val="1200"/>
              </a:spcAft>
              <a:buClr>
                <a:schemeClr val="dk1"/>
              </a:buClr>
              <a:buSzPts val="1100"/>
              <a:buFont typeface="Arial"/>
              <a:buNone/>
            </a:pPr>
            <a:r>
              <a:rPr lang="en" sz="1200">
                <a:solidFill>
                  <a:schemeClr val="dk1"/>
                </a:solidFill>
                <a:latin typeface="Times New Roman"/>
                <a:ea typeface="Times New Roman"/>
                <a:cs typeface="Times New Roman"/>
                <a:sym typeface="Times New Roman"/>
              </a:rPr>
              <a:t>Tesco's people analytics function is crucial for HR information systems to be effective. These systems enable data on employees to be gathered, evaluated and displayed in valuable ways. Force workforce dashboards can be used by managers for identifying trends and making decisions (Soares</a:t>
            </a:r>
            <a:r>
              <a:rPr lang="en" sz="1200" i="1">
                <a:solidFill>
                  <a:schemeClr val="dk1"/>
                </a:solidFill>
                <a:latin typeface="Times New Roman"/>
                <a:ea typeface="Times New Roman"/>
                <a:cs typeface="Times New Roman"/>
                <a:sym typeface="Times New Roman"/>
              </a:rPr>
              <a:t> et al.,</a:t>
            </a:r>
            <a:r>
              <a:rPr lang="en" sz="1200">
                <a:solidFill>
                  <a:schemeClr val="dk1"/>
                </a:solidFill>
                <a:latin typeface="Times New Roman"/>
                <a:ea typeface="Times New Roman"/>
                <a:cs typeface="Times New Roman"/>
                <a:sym typeface="Times New Roman"/>
              </a:rPr>
              <a:t> 2022). But the analytical advantage stems from quality information and the ability to do responsible analysis.</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g3fa874a7b8b_0_95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0" name="Google Shape;110;g3fa874a7b8b_0_95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just" rtl="0">
              <a:lnSpc>
                <a:spcPct val="115000"/>
              </a:lnSpc>
              <a:spcBef>
                <a:spcPts val="1200"/>
              </a:spcBef>
              <a:spcAft>
                <a:spcPts val="1200"/>
              </a:spcAft>
              <a:buClr>
                <a:schemeClr val="dk1"/>
              </a:buClr>
              <a:buSzPts val="1100"/>
              <a:buFont typeface="Arial"/>
              <a:buNone/>
            </a:pPr>
            <a:r>
              <a:rPr lang="en" sz="1200">
                <a:solidFill>
                  <a:schemeClr val="dk1"/>
                </a:solidFill>
                <a:latin typeface="Times New Roman"/>
                <a:ea typeface="Times New Roman"/>
                <a:cs typeface="Times New Roman"/>
                <a:sym typeface="Times New Roman"/>
              </a:rPr>
              <a:t>People analytics makes an impact when connecting employee data with organisational outcomes. Tesco leverages workforce data to enhance retention, productivity and the quality of their service (Bonilla-Chaves and Palos-Sánchez, 2023). Having employees under management is directly related to the performance of the business, as they are the ones influencing the satisfaction of the customer and their motivation and capacity. But only when analytics drives tangible human resources activities.</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p:cNvGrpSpPr/>
        <p:nvPr/>
      </p:nvGrpSpPr>
      <p:grpSpPr>
        <a:xfrm>
          <a:off x="0" y="0"/>
          <a:ext cx="0" cy="0"/>
          <a:chOff x="0" y="0"/>
          <a:chExt cx="0" cy="0"/>
        </a:xfrm>
      </p:grpSpPr>
      <p:sp>
        <p:nvSpPr>
          <p:cNvPr id="116" name="Google Shape;116;g3fa874a7b8b_0_9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7" name="Google Shape;117;g3fa874a7b8b_0_9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just" rtl="0">
              <a:lnSpc>
                <a:spcPct val="115000"/>
              </a:lnSpc>
              <a:spcBef>
                <a:spcPts val="1200"/>
              </a:spcBef>
              <a:spcAft>
                <a:spcPts val="1200"/>
              </a:spcAft>
              <a:buClr>
                <a:schemeClr val="dk1"/>
              </a:buClr>
              <a:buSzPts val="1100"/>
              <a:buFont typeface="Arial"/>
              <a:buNone/>
            </a:pPr>
            <a:r>
              <a:rPr lang="en" sz="1200">
                <a:solidFill>
                  <a:schemeClr val="dk1"/>
                </a:solidFill>
                <a:latin typeface="Times New Roman"/>
                <a:ea typeface="Times New Roman"/>
                <a:cs typeface="Times New Roman"/>
                <a:sym typeface="Times New Roman"/>
              </a:rPr>
              <a:t>Retail organisations have to be reactive towards the customers' expectations and market dynamics. People analytics helps Tesco to be more agile as an organisation by giving insights on workforce capability and availability (Vadithe and Kesari, 2025). The data provides managers with valuable insights to make effective workforce adjustments. Analytics must complement and not supersede human decision-making.</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g3fa874a7b8b_0_9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4" name="Google Shape;124;g3fa874a7b8b_0_9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just" rtl="0">
              <a:lnSpc>
                <a:spcPct val="115000"/>
              </a:lnSpc>
              <a:spcBef>
                <a:spcPts val="1200"/>
              </a:spcBef>
              <a:spcAft>
                <a:spcPts val="1200"/>
              </a:spcAft>
              <a:buClr>
                <a:schemeClr val="dk1"/>
              </a:buClr>
              <a:buSzPts val="1100"/>
              <a:buFont typeface="Arial"/>
              <a:buNone/>
            </a:pPr>
            <a:r>
              <a:rPr lang="en" sz="1200">
                <a:solidFill>
                  <a:schemeClr val="dk1"/>
                </a:solidFill>
                <a:latin typeface="Times New Roman"/>
                <a:ea typeface="Times New Roman"/>
                <a:cs typeface="Times New Roman"/>
                <a:sym typeface="Times New Roman"/>
              </a:rPr>
              <a:t>Without a doubt, people analytics, it helps Tesco improve how human resources manage and increase the competitiveness of the company. Knowing what employees want can help organisations make better hiring choices and help build employee skills (Suri and Lakhanpal, 2024). People practices that impact the customer experience and the way people work are important levers of organisational advantage.</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g3fa874a7b8b_0_97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1" name="Google Shape;131;g3fa874a7b8b_0_97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just" rtl="0">
              <a:lnSpc>
                <a:spcPct val="115000"/>
              </a:lnSpc>
              <a:spcBef>
                <a:spcPts val="1200"/>
              </a:spcBef>
              <a:spcAft>
                <a:spcPts val="1200"/>
              </a:spcAft>
              <a:buClr>
                <a:schemeClr val="dk1"/>
              </a:buClr>
              <a:buSzPts val="1100"/>
              <a:buFont typeface="Arial"/>
              <a:buNone/>
            </a:pPr>
            <a:r>
              <a:rPr lang="en" sz="1200">
                <a:solidFill>
                  <a:schemeClr val="dk1"/>
                </a:solidFill>
                <a:latin typeface="Times New Roman"/>
                <a:ea typeface="Times New Roman"/>
                <a:cs typeface="Times New Roman"/>
                <a:sym typeface="Times New Roman"/>
              </a:rPr>
              <a:t>People analytics adds value to various stakeholders in Tesco. Staff enjoy better opportunities for training and work practices, managers get better assistance in making decisions. Effective management of the workforce leads to better customer service (Margherita, 2022). Enhanced organisational performance for investors. But this requires the use of data to be responsible, meaning that stakeholders must trust it.</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g3fa874a7b8b_0_9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9" name="Google Shape;139;g3fa874a7b8b_0_9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just" rtl="0">
              <a:lnSpc>
                <a:spcPct val="115000"/>
              </a:lnSpc>
              <a:spcBef>
                <a:spcPts val="1200"/>
              </a:spcBef>
              <a:spcAft>
                <a:spcPts val="1200"/>
              </a:spcAft>
              <a:buClr>
                <a:schemeClr val="dk1"/>
              </a:buClr>
              <a:buSzPts val="1100"/>
              <a:buFont typeface="Arial"/>
              <a:buNone/>
            </a:pPr>
            <a:r>
              <a:rPr lang="en" sz="1200">
                <a:solidFill>
                  <a:schemeClr val="dk1"/>
                </a:solidFill>
                <a:latin typeface="Times New Roman"/>
                <a:ea typeface="Times New Roman"/>
                <a:cs typeface="Times New Roman"/>
                <a:sym typeface="Times New Roman"/>
              </a:rPr>
              <a:t>While there is immense value in people analytics, Tesco will need to address challenges for ethical use. To ensure trust and compliance, employee information must be protected. If data is not of a high level of quality, analytical systems can be the source of disparate results (Edwards </a:t>
            </a:r>
            <a:r>
              <a:rPr lang="en" sz="1200" i="1">
                <a:solidFill>
                  <a:schemeClr val="dk1"/>
                </a:solidFill>
                <a:latin typeface="Times New Roman"/>
                <a:ea typeface="Times New Roman"/>
                <a:cs typeface="Times New Roman"/>
                <a:sym typeface="Times New Roman"/>
              </a:rPr>
              <a:t>et al.,</a:t>
            </a:r>
            <a:r>
              <a:rPr lang="en" sz="1200">
                <a:solidFill>
                  <a:schemeClr val="dk1"/>
                </a:solidFill>
                <a:latin typeface="Times New Roman"/>
                <a:ea typeface="Times New Roman"/>
                <a:cs typeface="Times New Roman"/>
                <a:sym typeface="Times New Roman"/>
              </a:rPr>
              <a:t> 2024). Thus, a set of governance mechanisms, with a high level of transparency and the inclusion of people, is required to make informed decisions.</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
        <p:cNvGrpSpPr/>
        <p:nvPr/>
      </p:nvGrpSpPr>
      <p:grpSpPr>
        <a:xfrm>
          <a:off x="0" y="0"/>
          <a:ext cx="0" cy="0"/>
          <a:chOff x="0" y="0"/>
          <a:chExt cx="0" cy="0"/>
        </a:xfrm>
      </p:grpSpPr>
      <p:sp>
        <p:nvSpPr>
          <p:cNvPr id="145" name="Google Shape;145;g3fa874a7b8b_0_98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6" name="Google Shape;146;g3fa874a7b8b_0_98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just" rtl="0">
              <a:lnSpc>
                <a:spcPct val="115000"/>
              </a:lnSpc>
              <a:spcBef>
                <a:spcPts val="1200"/>
              </a:spcBef>
              <a:spcAft>
                <a:spcPts val="1200"/>
              </a:spcAft>
              <a:buClr>
                <a:schemeClr val="dk1"/>
              </a:buClr>
              <a:buSzPts val="1100"/>
              <a:buFont typeface="Arial"/>
              <a:buNone/>
            </a:pPr>
            <a:r>
              <a:rPr lang="en" sz="1200">
                <a:solidFill>
                  <a:schemeClr val="dk1"/>
                </a:solidFill>
                <a:latin typeface="Times New Roman"/>
                <a:ea typeface="Times New Roman"/>
                <a:cs typeface="Times New Roman"/>
                <a:sym typeface="Times New Roman"/>
              </a:rPr>
              <a:t>People analytics helps Tesco to understand their staff performance and behaviour. But limiting the analysis to numbers can fail to account for individual situations and organisational complexity. By adopting a balanced approach that involves an analysis of the evidence and professional HR judgement practices, Tesco can ensure that people are managed in an effective and responsible way.</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g3fa874a7b8b_0_98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3" name="Google Shape;153;g3fa874a7b8b_0_98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just" rtl="0">
              <a:lnSpc>
                <a:spcPct val="115000"/>
              </a:lnSpc>
              <a:spcBef>
                <a:spcPts val="1200"/>
              </a:spcBef>
              <a:spcAft>
                <a:spcPts val="1200"/>
              </a:spcAft>
              <a:buClr>
                <a:schemeClr val="dk1"/>
              </a:buClr>
              <a:buSzPts val="1100"/>
              <a:buFont typeface="Arial"/>
              <a:buNone/>
            </a:pPr>
            <a:r>
              <a:rPr lang="en" sz="1200">
                <a:solidFill>
                  <a:schemeClr val="dk1"/>
                </a:solidFill>
                <a:latin typeface="Times New Roman"/>
                <a:ea typeface="Times New Roman"/>
                <a:cs typeface="Times New Roman"/>
                <a:sym typeface="Times New Roman"/>
              </a:rPr>
              <a:t>The analysis illustrates how people analytics can be used to create workforce data to help Tesco make strategic decisions. It enables management of the employee lifecycle, the organisation's performance and the value created for the stakeholders (Tursunbayeva </a:t>
            </a:r>
            <a:r>
              <a:rPr lang="en" sz="1200" i="1">
                <a:solidFill>
                  <a:schemeClr val="dk1"/>
                </a:solidFill>
                <a:latin typeface="Times New Roman"/>
                <a:ea typeface="Times New Roman"/>
                <a:cs typeface="Times New Roman"/>
                <a:sym typeface="Times New Roman"/>
              </a:rPr>
              <a:t>et al.,</a:t>
            </a:r>
            <a:r>
              <a:rPr lang="en" sz="1200">
                <a:solidFill>
                  <a:schemeClr val="dk1"/>
                </a:solidFill>
                <a:latin typeface="Times New Roman"/>
                <a:ea typeface="Times New Roman"/>
                <a:cs typeface="Times New Roman"/>
                <a:sym typeface="Times New Roman"/>
              </a:rPr>
              <a:t> 2022). For the implementation to be successful, responsible data practices have to be put in place, which must include transparency and human evaluation to make sure that analytics can be used robustly to benefit employees and the organisation.</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g3fa874a7b8b_0_99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0" name="Google Shape;160;g3fa874a7b8b_0_99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just" rtl="0">
              <a:lnSpc>
                <a:spcPct val="115000"/>
              </a:lnSpc>
              <a:spcBef>
                <a:spcPts val="0"/>
              </a:spcBef>
              <a:spcAft>
                <a:spcPts val="0"/>
              </a:spcAft>
              <a:buClr>
                <a:schemeClr val="dk1"/>
              </a:buClr>
              <a:buSzPts val="1100"/>
              <a:buFont typeface="Arial"/>
              <a:buNone/>
            </a:pPr>
            <a:r>
              <a:rPr lang="en" sz="1200">
                <a:solidFill>
                  <a:schemeClr val="dk1"/>
                </a:solidFill>
                <a:latin typeface="Times New Roman"/>
                <a:ea typeface="Times New Roman"/>
                <a:cs typeface="Times New Roman"/>
                <a:sym typeface="Times New Roman"/>
              </a:rPr>
              <a:t>Suri, N. and Lakhanpal, P., 2024. People analytics enabling HR strategic partnership: a review. South Asian Journal of Human Resources Management, 11(1), pp.130-164.</a:t>
            </a:r>
            <a:r>
              <a:rPr lang="en" sz="1200" u="sng">
                <a:solidFill>
                  <a:srgbClr val="1155CC"/>
                </a:solidFill>
                <a:latin typeface="Times New Roman"/>
                <a:ea typeface="Times New Roman"/>
                <a:cs typeface="Times New Roman"/>
                <a:sym typeface="Times New Roman"/>
                <a:hlinkClick r:id="rId3">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https://journals.sagepub.com/doi/abs/10.1177/23220937221119599</a:t>
            </a:r>
            <a:endParaRPr sz="1200">
              <a:solidFill>
                <a:schemeClr val="dk1"/>
              </a:solidFill>
              <a:latin typeface="Times New Roman"/>
              <a:ea typeface="Times New Roman"/>
              <a:cs typeface="Times New Roman"/>
              <a:sym typeface="Times New Roman"/>
            </a:endParaRPr>
          </a:p>
          <a:p>
            <a:pPr marL="0" lvl="0" indent="0" algn="just" rtl="0">
              <a:lnSpc>
                <a:spcPct val="115000"/>
              </a:lnSpc>
              <a:spcBef>
                <a:spcPts val="0"/>
              </a:spcBef>
              <a:spcAft>
                <a:spcPts val="0"/>
              </a:spcAft>
              <a:buClr>
                <a:schemeClr val="dk1"/>
              </a:buClr>
              <a:buSzPts val="1100"/>
              <a:buFont typeface="Arial"/>
              <a:buNone/>
            </a:pPr>
            <a:r>
              <a:rPr lang="en" sz="1200">
                <a:solidFill>
                  <a:schemeClr val="dk1"/>
                </a:solidFill>
                <a:latin typeface="Times New Roman"/>
                <a:ea typeface="Times New Roman"/>
                <a:cs typeface="Times New Roman"/>
                <a:sym typeface="Times New Roman"/>
              </a:rPr>
              <a:t>Goswami, T.G. and Mansi, 2025. Human resource analytics: A hybrid review. South Asian Journal of Human Resources Management, p.23220937251322236.</a:t>
            </a:r>
            <a:r>
              <a:rPr lang="en" sz="1200" u="sng">
                <a:solidFill>
                  <a:srgbClr val="1155CC"/>
                </a:solidFill>
                <a:latin typeface="Times New Roman"/>
                <a:ea typeface="Times New Roman"/>
                <a:cs typeface="Times New Roman"/>
                <a:sym typeface="Times New Roman"/>
                <a:hlinkClick r:id="rId4">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https://journals.sagepub.com/doi/abs/10.1177/23220937251322236</a:t>
            </a:r>
            <a:endParaRPr sz="1200">
              <a:solidFill>
                <a:schemeClr val="dk1"/>
              </a:solidFill>
              <a:latin typeface="Times New Roman"/>
              <a:ea typeface="Times New Roman"/>
              <a:cs typeface="Times New Roman"/>
              <a:sym typeface="Times New Roman"/>
            </a:endParaRPr>
          </a:p>
          <a:p>
            <a:pPr marL="0" lvl="0" indent="0" algn="just" rtl="0">
              <a:lnSpc>
                <a:spcPct val="115000"/>
              </a:lnSpc>
              <a:spcBef>
                <a:spcPts val="0"/>
              </a:spcBef>
              <a:spcAft>
                <a:spcPts val="0"/>
              </a:spcAft>
              <a:buClr>
                <a:schemeClr val="dk1"/>
              </a:buClr>
              <a:buSzPts val="1100"/>
              <a:buFont typeface="Arial"/>
              <a:buNone/>
            </a:pPr>
            <a:r>
              <a:rPr lang="en" sz="1200">
                <a:solidFill>
                  <a:schemeClr val="dk1"/>
                </a:solidFill>
                <a:latin typeface="Times New Roman"/>
                <a:ea typeface="Times New Roman"/>
                <a:cs typeface="Times New Roman"/>
                <a:sym typeface="Times New Roman"/>
              </a:rPr>
              <a:t>Yoon, S.W., Han, S.H. and Chae, C., 2024. People analytics and human resource development–research landscape and future needs based on bibliometrics and scoping review. Human Resource Development Review, 23(1), pp.30-57.</a:t>
            </a:r>
            <a:r>
              <a:rPr lang="en" sz="1200" u="sng">
                <a:solidFill>
                  <a:srgbClr val="1155CC"/>
                </a:solidFill>
                <a:latin typeface="Times New Roman"/>
                <a:ea typeface="Times New Roman"/>
                <a:cs typeface="Times New Roman"/>
                <a:sym typeface="Times New Roman"/>
                <a:hlinkClick r:id="rId5">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https://journals.sagepub.com/doi/abs/10.1177/15344843231209362</a:t>
            </a:r>
            <a:endParaRPr sz="1200">
              <a:solidFill>
                <a:schemeClr val="dk1"/>
              </a:solidFill>
              <a:latin typeface="Times New Roman"/>
              <a:ea typeface="Times New Roman"/>
              <a:cs typeface="Times New Roman"/>
              <a:sym typeface="Times New Roman"/>
            </a:endParaRPr>
          </a:p>
          <a:p>
            <a:pPr marL="0" lvl="0" indent="0" algn="just" rtl="0">
              <a:lnSpc>
                <a:spcPct val="115000"/>
              </a:lnSpc>
              <a:spcBef>
                <a:spcPts val="0"/>
              </a:spcBef>
              <a:spcAft>
                <a:spcPts val="0"/>
              </a:spcAft>
              <a:buClr>
                <a:schemeClr val="dk1"/>
              </a:buClr>
              <a:buSzPts val="1100"/>
              <a:buFont typeface="Arial"/>
              <a:buNone/>
            </a:pPr>
            <a:r>
              <a:rPr lang="en" sz="1200">
                <a:solidFill>
                  <a:schemeClr val="dk1"/>
                </a:solidFill>
                <a:latin typeface="Times New Roman"/>
                <a:ea typeface="Times New Roman"/>
                <a:cs typeface="Times New Roman"/>
                <a:sym typeface="Times New Roman"/>
              </a:rPr>
              <a:t>Margherita, A., 2022. Human resources analytics: A systematization of research topics and directions for future research. Human Resource Management Review, 32(2), p.100795.</a:t>
            </a:r>
            <a:r>
              <a:rPr lang="en" sz="1200" u="sng">
                <a:solidFill>
                  <a:srgbClr val="1155CC"/>
                </a:solidFill>
                <a:latin typeface="Times New Roman"/>
                <a:ea typeface="Times New Roman"/>
                <a:cs typeface="Times New Roman"/>
                <a:sym typeface="Times New Roman"/>
                <a:hlinkClick r:id="rId6">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https://www.sciencedirect.com/science/article/pii/S1053482220300681</a:t>
            </a:r>
            <a:endParaRPr sz="1200">
              <a:solidFill>
                <a:schemeClr val="dk1"/>
              </a:solidFill>
              <a:latin typeface="Times New Roman"/>
              <a:ea typeface="Times New Roman"/>
              <a:cs typeface="Times New Roman"/>
              <a:sym typeface="Times New Roman"/>
            </a:endParaRPr>
          </a:p>
          <a:p>
            <a:pPr marL="0" lvl="0" indent="0" algn="just" rtl="0">
              <a:lnSpc>
                <a:spcPct val="115000"/>
              </a:lnSpc>
              <a:spcBef>
                <a:spcPts val="0"/>
              </a:spcBef>
              <a:spcAft>
                <a:spcPts val="0"/>
              </a:spcAft>
              <a:buClr>
                <a:schemeClr val="dk1"/>
              </a:buClr>
              <a:buSzPts val="1100"/>
              <a:buFont typeface="Arial"/>
              <a:buNone/>
            </a:pPr>
            <a:r>
              <a:rPr lang="en" sz="1200">
                <a:solidFill>
                  <a:schemeClr val="dk1"/>
                </a:solidFill>
                <a:latin typeface="Times New Roman"/>
                <a:ea typeface="Times New Roman"/>
                <a:cs typeface="Times New Roman"/>
                <a:sym typeface="Times New Roman"/>
              </a:rPr>
              <a:t>Soares, V.G., Álcazar, J.J.P. and Ludena, M.E., 2022. Analytical Approaches in Human Resources-A Systematic Review. JISTEM-Journal of Information Systems and Technology Management, 19, p.e202219014.</a:t>
            </a:r>
            <a:r>
              <a:rPr lang="en" sz="1200" u="sng">
                <a:solidFill>
                  <a:srgbClr val="1155CC"/>
                </a:solidFill>
                <a:latin typeface="Times New Roman"/>
                <a:ea typeface="Times New Roman"/>
                <a:cs typeface="Times New Roman"/>
                <a:sym typeface="Times New Roman"/>
                <a:hlinkClick r:id="rId7">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https://www.scielo.br/j/jistm/a/9xN7Sd5SSdBSphzmfZ78zqC/?format=pdf&amp;lang=en</a:t>
            </a:r>
            <a:endParaRPr sz="1200">
              <a:solidFill>
                <a:schemeClr val="dk1"/>
              </a:solidFill>
              <a:latin typeface="Times New Roman"/>
              <a:ea typeface="Times New Roman"/>
              <a:cs typeface="Times New Roman"/>
              <a:sym typeface="Times New Roman"/>
            </a:endParaRPr>
          </a:p>
          <a:p>
            <a:pPr marL="0" lvl="0" indent="0" algn="just" rtl="0">
              <a:lnSpc>
                <a:spcPct val="115000"/>
              </a:lnSpc>
              <a:spcBef>
                <a:spcPts val="0"/>
              </a:spcBef>
              <a:spcAft>
                <a:spcPts val="0"/>
              </a:spcAft>
              <a:buClr>
                <a:schemeClr val="dk1"/>
              </a:buClr>
              <a:buSzPts val="1100"/>
              <a:buFont typeface="Arial"/>
              <a:buNone/>
            </a:pPr>
            <a:r>
              <a:rPr lang="en" sz="1200">
                <a:solidFill>
                  <a:schemeClr val="dk1"/>
                </a:solidFill>
                <a:latin typeface="Times New Roman"/>
                <a:ea typeface="Times New Roman"/>
                <a:cs typeface="Times New Roman"/>
                <a:sym typeface="Times New Roman"/>
              </a:rPr>
              <a:t>Bonilla-Chaves, E.F. and Palos-Sánchez, P.R., 2023. Exploring the evolution of human resource analytics: a bibliometric study. Behavioral sciences, 13(3), p.244.</a:t>
            </a:r>
            <a:r>
              <a:rPr lang="en" sz="1200" u="sng">
                <a:solidFill>
                  <a:srgbClr val="1155CC"/>
                </a:solidFill>
                <a:latin typeface="Times New Roman"/>
                <a:ea typeface="Times New Roman"/>
                <a:cs typeface="Times New Roman"/>
                <a:sym typeface="Times New Roman"/>
                <a:hlinkClick r:id="rId8">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https://www.mdpi.com/2076-328X/13/3/244</a:t>
            </a:r>
            <a:endParaRPr sz="1200">
              <a:solidFill>
                <a:schemeClr val="dk1"/>
              </a:solidFill>
              <a:latin typeface="Times New Roman"/>
              <a:ea typeface="Times New Roman"/>
              <a:cs typeface="Times New Roman"/>
              <a:sym typeface="Times New Roman"/>
            </a:endParaRPr>
          </a:p>
          <a:p>
            <a:pPr marL="0" lvl="0" indent="0" algn="just" rtl="0">
              <a:lnSpc>
                <a:spcPct val="115000"/>
              </a:lnSpc>
              <a:spcBef>
                <a:spcPts val="0"/>
              </a:spcBef>
              <a:spcAft>
                <a:spcPts val="0"/>
              </a:spcAft>
              <a:buClr>
                <a:schemeClr val="dk1"/>
              </a:buClr>
              <a:buSzPts val="1100"/>
              <a:buFont typeface="Arial"/>
              <a:buNone/>
            </a:pPr>
            <a:r>
              <a:rPr lang="en" sz="1200">
                <a:solidFill>
                  <a:schemeClr val="dk1"/>
                </a:solidFill>
                <a:latin typeface="Times New Roman"/>
                <a:ea typeface="Times New Roman"/>
                <a:cs typeface="Times New Roman"/>
                <a:sym typeface="Times New Roman"/>
              </a:rPr>
              <a:t>Edwards, M.R., Charlwood, A., Guenole, N. and Marler, J., 2024. HR analytics: An emerging field finding its place in the world alongside simmering ethical challenges. Human Resource Management Journal, 34(2), pp.326-336.</a:t>
            </a:r>
            <a:r>
              <a:rPr lang="en" sz="1200" u="sng">
                <a:solidFill>
                  <a:srgbClr val="1155CC"/>
                </a:solidFill>
                <a:latin typeface="Times New Roman"/>
                <a:ea typeface="Times New Roman"/>
                <a:cs typeface="Times New Roman"/>
                <a:sym typeface="Times New Roman"/>
                <a:hlinkClick r:id="rId9">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https://eprints.whiterose.ac.uk/id/eprint/182675/3/Intro%20to%20Special%20Issue%20Jan%202021%20Manuscript.pdf</a:t>
            </a:r>
            <a:endParaRPr sz="1200">
              <a:solidFill>
                <a:schemeClr val="dk1"/>
              </a:solidFill>
              <a:latin typeface="Times New Roman"/>
              <a:ea typeface="Times New Roman"/>
              <a:cs typeface="Times New Roman"/>
              <a:sym typeface="Times New Roman"/>
            </a:endParaRPr>
          </a:p>
          <a:p>
            <a:pPr marL="0" lvl="0" indent="0" algn="just" rtl="0">
              <a:lnSpc>
                <a:spcPct val="115000"/>
              </a:lnSpc>
              <a:spcBef>
                <a:spcPts val="0"/>
              </a:spcBef>
              <a:spcAft>
                <a:spcPts val="0"/>
              </a:spcAft>
              <a:buClr>
                <a:schemeClr val="dk1"/>
              </a:buClr>
              <a:buSzPts val="1100"/>
              <a:buFont typeface="Arial"/>
              <a:buNone/>
            </a:pPr>
            <a:r>
              <a:rPr lang="en" sz="1200">
                <a:solidFill>
                  <a:schemeClr val="dk1"/>
                </a:solidFill>
                <a:latin typeface="Times New Roman"/>
                <a:ea typeface="Times New Roman"/>
                <a:cs typeface="Times New Roman"/>
                <a:sym typeface="Times New Roman"/>
              </a:rPr>
              <a:t>Tesco plc, 2025. Annual Report and Financial Statements 2025.</a:t>
            </a:r>
            <a:r>
              <a:rPr lang="en" sz="1200" u="sng">
                <a:solidFill>
                  <a:srgbClr val="1155CC"/>
                </a:solidFill>
                <a:latin typeface="Times New Roman"/>
                <a:ea typeface="Times New Roman"/>
                <a:cs typeface="Times New Roman"/>
                <a:sym typeface="Times New Roman"/>
                <a:hlinkClick r:id="rId10">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https://www.tescoplc.com/investors/reports-results-and-presentations/annual-report-2025</a:t>
            </a:r>
            <a:endParaRPr sz="1200">
              <a:solidFill>
                <a:schemeClr val="dk1"/>
              </a:solidFill>
              <a:latin typeface="Times New Roman"/>
              <a:ea typeface="Times New Roman"/>
              <a:cs typeface="Times New Roman"/>
              <a:sym typeface="Times New Roman"/>
            </a:endParaRPr>
          </a:p>
          <a:p>
            <a:pPr marL="0" lvl="0" indent="0" algn="just" rtl="0">
              <a:lnSpc>
                <a:spcPct val="115000"/>
              </a:lnSpc>
              <a:spcBef>
                <a:spcPts val="0"/>
              </a:spcBef>
              <a:spcAft>
                <a:spcPts val="0"/>
              </a:spcAft>
              <a:buClr>
                <a:schemeClr val="dk1"/>
              </a:buClr>
              <a:buSzPts val="1100"/>
              <a:buFont typeface="Arial"/>
              <a:buNone/>
            </a:pPr>
            <a:r>
              <a:rPr lang="en" sz="1200">
                <a:solidFill>
                  <a:schemeClr val="dk1"/>
                </a:solidFill>
                <a:latin typeface="Times New Roman"/>
                <a:ea typeface="Times New Roman"/>
                <a:cs typeface="Times New Roman"/>
                <a:sym typeface="Times New Roman"/>
              </a:rPr>
              <a:t>Tursunbayeva, A., Pagliari, C., Di Lauro, S. and Antonelli, G., 2022. The ethics of people analytics: risks, opportunities and recommendations. Personnel Review, 51(3), pp.900-921.</a:t>
            </a:r>
            <a:r>
              <a:rPr lang="en" sz="1200" u="sng">
                <a:solidFill>
                  <a:srgbClr val="1155CC"/>
                </a:solidFill>
                <a:latin typeface="Times New Roman"/>
                <a:ea typeface="Times New Roman"/>
                <a:cs typeface="Times New Roman"/>
                <a:sym typeface="Times New Roman"/>
                <a:hlinkClick r:id="rId11">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https://www.emerald.com/pr/article-pdf/51/3/900/2154147/pr-12-2019-0680.pdf</a:t>
            </a:r>
            <a:endParaRPr sz="1200">
              <a:solidFill>
                <a:schemeClr val="dk1"/>
              </a:solidFill>
              <a:latin typeface="Times New Roman"/>
              <a:ea typeface="Times New Roman"/>
              <a:cs typeface="Times New Roman"/>
              <a:sym typeface="Times New Roman"/>
            </a:endParaRPr>
          </a:p>
          <a:p>
            <a:pPr marL="0" lvl="0" indent="0" algn="l" rtl="0">
              <a:lnSpc>
                <a:spcPct val="115000"/>
              </a:lnSpc>
              <a:spcBef>
                <a:spcPts val="0"/>
              </a:spcBef>
              <a:spcAft>
                <a:spcPts val="0"/>
              </a:spcAft>
              <a:buClr>
                <a:schemeClr val="dk1"/>
              </a:buClr>
              <a:buSzPts val="1100"/>
              <a:buFont typeface="Arial"/>
              <a:buNone/>
            </a:pPr>
            <a:r>
              <a:rPr lang="en" sz="1200">
                <a:solidFill>
                  <a:schemeClr val="dk1"/>
                </a:solidFill>
                <a:latin typeface="Times New Roman"/>
                <a:ea typeface="Times New Roman"/>
                <a:cs typeface="Times New Roman"/>
                <a:sym typeface="Times New Roman"/>
              </a:rPr>
              <a:t>Vadithe, R.N. and Kesari, B., 2025. Bridging the gap: how HR analytics integrates with business intelligence and integrated reporting for organizational agility. Benchmarking: An International Journal, pp.1-25.</a:t>
            </a:r>
            <a:r>
              <a:rPr lang="en" sz="1200" u="sng">
                <a:solidFill>
                  <a:srgbClr val="1155CC"/>
                </a:solidFill>
                <a:latin typeface="Times New Roman"/>
                <a:ea typeface="Times New Roman"/>
                <a:cs typeface="Times New Roman"/>
                <a:sym typeface="Times New Roman"/>
                <a:hlinkClick r:id="rId12">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https://www.researchgate.net/profile/Rakesh-Vadithe/publication/394086567_Bridging_the_gap_how_HR_analytics_integrates_with_business_intelligence_and_integrated_reporting_for_organizational_agility/links/6888b290253dcb78df88f974/Bridging-the-gap-how-HR-analytics-integrates-with-business-intelligence-and-integrated-reporting-for-organizational-agility.pdf</a:t>
            </a:r>
            <a:endParaRPr sz="1200">
              <a:solidFill>
                <a:schemeClr val="dk1"/>
              </a:solidFill>
              <a:latin typeface="Times New Roman"/>
              <a:ea typeface="Times New Roman"/>
              <a:cs typeface="Times New Roman"/>
              <a:sym typeface="Times New Roman"/>
            </a:endParaRPr>
          </a:p>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p:cNvGrpSpPr/>
        <p:nvPr/>
      </p:nvGrpSpPr>
      <p:grpSpPr>
        <a:xfrm>
          <a:off x="0" y="0"/>
          <a:ext cx="0" cy="0"/>
          <a:chOff x="0" y="0"/>
          <a:chExt cx="0" cy="0"/>
        </a:xfrm>
      </p:grpSpPr>
      <p:sp>
        <p:nvSpPr>
          <p:cNvPr id="166" name="Google Shape;166;g3fa874a7b8b_0_99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7" name="Google Shape;167;g3fa874a7b8b_0_99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200">
                <a:latin typeface="Times New Roman"/>
                <a:ea typeface="Times New Roman"/>
                <a:cs typeface="Times New Roman"/>
                <a:sym typeface="Times New Roman"/>
              </a:rPr>
              <a:t>Thank You!</a:t>
            </a:r>
            <a:endParaRPr sz="1200">
              <a:latin typeface="Times New Roman"/>
              <a:ea typeface="Times New Roman"/>
              <a:cs typeface="Times New Roman"/>
              <a:sym typeface="Times New Roman"/>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dk1"/>
        </a:solidFill>
        <a:effectLst/>
      </p:bgPr>
    </p:bg>
    <p:spTree>
      <p:nvGrpSpPr>
        <p:cNvPr id="1" name="Shape 9"/>
        <p:cNvGrpSpPr/>
        <p:nvPr/>
      </p:nvGrpSpPr>
      <p:grpSpPr>
        <a:xfrm>
          <a:off x="0" y="0"/>
          <a:ext cx="0" cy="0"/>
          <a:chOff x="0" y="0"/>
          <a:chExt cx="0" cy="0"/>
        </a:xfrm>
      </p:grpSpPr>
      <p:sp>
        <p:nvSpPr>
          <p:cNvPr id="10" name="Google Shape;10;p2"/>
          <p:cNvSpPr/>
          <p:nvPr/>
        </p:nvSpPr>
        <p:spPr>
          <a:xfrm>
            <a:off x="-125" y="0"/>
            <a:ext cx="9144250" cy="4398100"/>
          </a:xfrm>
          <a:custGeom>
            <a:avLst/>
            <a:gdLst/>
            <a:ahLst/>
            <a:cxnLst/>
            <a:rect l="l" t="t" r="r" b="b"/>
            <a:pathLst>
              <a:path w="365770" h="175924" extrusionOk="0">
                <a:moveTo>
                  <a:pt x="0" y="0"/>
                </a:moveTo>
                <a:lnTo>
                  <a:pt x="365770" y="0"/>
                </a:lnTo>
                <a:lnTo>
                  <a:pt x="365760" y="70914"/>
                </a:lnTo>
                <a:lnTo>
                  <a:pt x="0" y="175924"/>
                </a:lnTo>
                <a:close/>
              </a:path>
            </a:pathLst>
          </a:custGeom>
          <a:solidFill>
            <a:schemeClr val="lt1"/>
          </a:solidFill>
          <a:ln>
            <a:noFill/>
          </a:ln>
        </p:spPr>
      </p:sp>
      <p:sp>
        <p:nvSpPr>
          <p:cNvPr id="11" name="Google Shape;11;p2"/>
          <p:cNvSpPr txBox="1">
            <a:spLocks noGrp="1"/>
          </p:cNvSpPr>
          <p:nvPr>
            <p:ph type="ctrTitle"/>
          </p:nvPr>
        </p:nvSpPr>
        <p:spPr>
          <a:xfrm>
            <a:off x="311700" y="539725"/>
            <a:ext cx="8520600" cy="1282500"/>
          </a:xfrm>
          <a:prstGeom prst="rect">
            <a:avLst/>
          </a:prstGeom>
        </p:spPr>
        <p:txBody>
          <a:bodyPr spcFirstLastPara="1" wrap="square" lIns="91425" tIns="91425" rIns="91425" bIns="91425" anchor="t" anchorCtr="0">
            <a:norm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a:endParaRPr/>
          </a:p>
        </p:txBody>
      </p:sp>
      <p:sp>
        <p:nvSpPr>
          <p:cNvPr id="12" name="Google Shape;12;p2"/>
          <p:cNvSpPr txBox="1">
            <a:spLocks noGrp="1"/>
          </p:cNvSpPr>
          <p:nvPr>
            <p:ph type="subTitle" idx="1"/>
          </p:nvPr>
        </p:nvSpPr>
        <p:spPr>
          <a:xfrm>
            <a:off x="311700" y="1878560"/>
            <a:ext cx="4242600" cy="738300"/>
          </a:xfrm>
          <a:prstGeom prst="rect">
            <a:avLst/>
          </a:prstGeom>
        </p:spPr>
        <p:txBody>
          <a:bodyPr spcFirstLastPara="1" wrap="square" lIns="91425" tIns="91425" rIns="91425" bIns="91425" anchor="t" anchorCtr="0">
            <a:normAutofit/>
          </a:bodyPr>
          <a:lstStyle>
            <a:lvl1pPr lvl="0">
              <a:lnSpc>
                <a:spcPct val="100000"/>
              </a:lnSpc>
              <a:spcBef>
                <a:spcPts val="0"/>
              </a:spcBef>
              <a:spcAft>
                <a:spcPts val="0"/>
              </a:spcAft>
              <a:buClr>
                <a:schemeClr val="lt2"/>
              </a:buClr>
              <a:buSzPts val="1600"/>
              <a:buNone/>
              <a:defRPr sz="1600">
                <a:solidFill>
                  <a:schemeClr val="lt2"/>
                </a:solidFill>
              </a:defRPr>
            </a:lvl1pPr>
            <a:lvl2pPr lvl="1">
              <a:lnSpc>
                <a:spcPct val="100000"/>
              </a:lnSpc>
              <a:spcBef>
                <a:spcPts val="0"/>
              </a:spcBef>
              <a:spcAft>
                <a:spcPts val="0"/>
              </a:spcAft>
              <a:buClr>
                <a:schemeClr val="lt2"/>
              </a:buClr>
              <a:buSzPts val="1600"/>
              <a:buNone/>
              <a:defRPr sz="1600">
                <a:solidFill>
                  <a:schemeClr val="lt2"/>
                </a:solidFill>
              </a:defRPr>
            </a:lvl2pPr>
            <a:lvl3pPr lvl="2">
              <a:lnSpc>
                <a:spcPct val="100000"/>
              </a:lnSpc>
              <a:spcBef>
                <a:spcPts val="0"/>
              </a:spcBef>
              <a:spcAft>
                <a:spcPts val="0"/>
              </a:spcAft>
              <a:buClr>
                <a:schemeClr val="lt2"/>
              </a:buClr>
              <a:buSzPts val="1600"/>
              <a:buNone/>
              <a:defRPr sz="1600">
                <a:solidFill>
                  <a:schemeClr val="lt2"/>
                </a:solidFill>
              </a:defRPr>
            </a:lvl3pPr>
            <a:lvl4pPr lvl="3">
              <a:lnSpc>
                <a:spcPct val="100000"/>
              </a:lnSpc>
              <a:spcBef>
                <a:spcPts val="0"/>
              </a:spcBef>
              <a:spcAft>
                <a:spcPts val="0"/>
              </a:spcAft>
              <a:buClr>
                <a:schemeClr val="lt2"/>
              </a:buClr>
              <a:buSzPts val="1600"/>
              <a:buNone/>
              <a:defRPr sz="1600">
                <a:solidFill>
                  <a:schemeClr val="lt2"/>
                </a:solidFill>
              </a:defRPr>
            </a:lvl4pPr>
            <a:lvl5pPr lvl="4">
              <a:lnSpc>
                <a:spcPct val="100000"/>
              </a:lnSpc>
              <a:spcBef>
                <a:spcPts val="0"/>
              </a:spcBef>
              <a:spcAft>
                <a:spcPts val="0"/>
              </a:spcAft>
              <a:buClr>
                <a:schemeClr val="lt2"/>
              </a:buClr>
              <a:buSzPts val="1600"/>
              <a:buNone/>
              <a:defRPr sz="1600">
                <a:solidFill>
                  <a:schemeClr val="lt2"/>
                </a:solidFill>
              </a:defRPr>
            </a:lvl5pPr>
            <a:lvl6pPr lvl="5">
              <a:lnSpc>
                <a:spcPct val="100000"/>
              </a:lnSpc>
              <a:spcBef>
                <a:spcPts val="0"/>
              </a:spcBef>
              <a:spcAft>
                <a:spcPts val="0"/>
              </a:spcAft>
              <a:buClr>
                <a:schemeClr val="lt2"/>
              </a:buClr>
              <a:buSzPts val="1600"/>
              <a:buNone/>
              <a:defRPr sz="1600">
                <a:solidFill>
                  <a:schemeClr val="lt2"/>
                </a:solidFill>
              </a:defRPr>
            </a:lvl6pPr>
            <a:lvl7pPr lvl="6">
              <a:lnSpc>
                <a:spcPct val="100000"/>
              </a:lnSpc>
              <a:spcBef>
                <a:spcPts val="0"/>
              </a:spcBef>
              <a:spcAft>
                <a:spcPts val="0"/>
              </a:spcAft>
              <a:buClr>
                <a:schemeClr val="lt2"/>
              </a:buClr>
              <a:buSzPts val="1600"/>
              <a:buNone/>
              <a:defRPr sz="1600">
                <a:solidFill>
                  <a:schemeClr val="lt2"/>
                </a:solidFill>
              </a:defRPr>
            </a:lvl7pPr>
            <a:lvl8pPr lvl="7">
              <a:lnSpc>
                <a:spcPct val="100000"/>
              </a:lnSpc>
              <a:spcBef>
                <a:spcPts val="0"/>
              </a:spcBef>
              <a:spcAft>
                <a:spcPts val="0"/>
              </a:spcAft>
              <a:buClr>
                <a:schemeClr val="lt2"/>
              </a:buClr>
              <a:buSzPts val="1600"/>
              <a:buNone/>
              <a:defRPr sz="1600">
                <a:solidFill>
                  <a:schemeClr val="lt2"/>
                </a:solidFill>
              </a:defRPr>
            </a:lvl8pPr>
            <a:lvl9pPr lvl="8">
              <a:lnSpc>
                <a:spcPct val="100000"/>
              </a:lnSpc>
              <a:spcBef>
                <a:spcPts val="0"/>
              </a:spcBef>
              <a:spcAft>
                <a:spcPts val="0"/>
              </a:spcAft>
              <a:buClr>
                <a:schemeClr val="lt2"/>
              </a:buClr>
              <a:buSzPts val="1600"/>
              <a:buNone/>
              <a:defRPr sz="1600">
                <a:solidFill>
                  <a:schemeClr val="lt2"/>
                </a:solidFill>
              </a:defRPr>
            </a:lvl9pPr>
          </a:lstStyle>
          <a:p>
            <a:endParaRPr/>
          </a:p>
        </p:txBody>
      </p:sp>
      <p:sp>
        <p:nvSpPr>
          <p:cNvPr id="13" name="Google Shape;13;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accent3"/>
        </a:solidFill>
        <a:effectLst/>
      </p:bgPr>
    </p:bg>
    <p:spTree>
      <p:nvGrpSpPr>
        <p:cNvPr id="1" name="Shape 14"/>
        <p:cNvGrpSpPr/>
        <p:nvPr/>
      </p:nvGrpSpPr>
      <p:grpSpPr>
        <a:xfrm>
          <a:off x="0" y="0"/>
          <a:ext cx="0" cy="0"/>
          <a:chOff x="0" y="0"/>
          <a:chExt cx="0" cy="0"/>
        </a:xfrm>
      </p:grpSpPr>
      <p:sp>
        <p:nvSpPr>
          <p:cNvPr id="15" name="Google Shape;15;p3"/>
          <p:cNvSpPr/>
          <p:nvPr/>
        </p:nvSpPr>
        <p:spPr>
          <a:xfrm>
            <a:off x="0" y="48099"/>
            <a:ext cx="9144250" cy="4398100"/>
          </a:xfrm>
          <a:custGeom>
            <a:avLst/>
            <a:gdLst/>
            <a:ahLst/>
            <a:cxnLst/>
            <a:rect l="l" t="t" r="r" b="b"/>
            <a:pathLst>
              <a:path w="365770" h="175924" extrusionOk="0">
                <a:moveTo>
                  <a:pt x="0" y="0"/>
                </a:moveTo>
                <a:lnTo>
                  <a:pt x="365770" y="0"/>
                </a:lnTo>
                <a:lnTo>
                  <a:pt x="365760" y="70914"/>
                </a:lnTo>
                <a:lnTo>
                  <a:pt x="0" y="175924"/>
                </a:lnTo>
                <a:close/>
              </a:path>
            </a:pathLst>
          </a:custGeom>
          <a:solidFill>
            <a:schemeClr val="lt1"/>
          </a:solidFill>
          <a:ln>
            <a:noFill/>
          </a:ln>
        </p:spPr>
      </p:sp>
      <p:sp>
        <p:nvSpPr>
          <p:cNvPr id="16" name="Google Shape;16;p3"/>
          <p:cNvSpPr/>
          <p:nvPr/>
        </p:nvSpPr>
        <p:spPr>
          <a:xfrm>
            <a:off x="0" y="0"/>
            <a:ext cx="9144250" cy="4398100"/>
          </a:xfrm>
          <a:custGeom>
            <a:avLst/>
            <a:gdLst/>
            <a:ahLst/>
            <a:cxnLst/>
            <a:rect l="l" t="t" r="r" b="b"/>
            <a:pathLst>
              <a:path w="365770" h="175924" extrusionOk="0">
                <a:moveTo>
                  <a:pt x="0" y="0"/>
                </a:moveTo>
                <a:lnTo>
                  <a:pt x="365770" y="0"/>
                </a:lnTo>
                <a:lnTo>
                  <a:pt x="365760" y="70914"/>
                </a:lnTo>
                <a:lnTo>
                  <a:pt x="0" y="175924"/>
                </a:lnTo>
                <a:close/>
              </a:path>
            </a:pathLst>
          </a:custGeom>
          <a:solidFill>
            <a:schemeClr val="accent3"/>
          </a:solidFill>
          <a:ln>
            <a:noFill/>
          </a:ln>
        </p:spPr>
      </p:sp>
      <p:sp>
        <p:nvSpPr>
          <p:cNvPr id="17" name="Google Shape;17;p3"/>
          <p:cNvSpPr txBox="1">
            <a:spLocks noGrp="1"/>
          </p:cNvSpPr>
          <p:nvPr>
            <p:ph type="title"/>
          </p:nvPr>
        </p:nvSpPr>
        <p:spPr>
          <a:xfrm>
            <a:off x="311700" y="539725"/>
            <a:ext cx="8520600" cy="1282500"/>
          </a:xfrm>
          <a:prstGeom prst="rect">
            <a:avLst/>
          </a:prstGeom>
        </p:spPr>
        <p:txBody>
          <a:bodyPr spcFirstLastPara="1" wrap="square" lIns="91425" tIns="91425" rIns="91425" bIns="91425" anchor="t" anchorCtr="0">
            <a:norm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a:endParaRPr/>
          </a:p>
        </p:txBody>
      </p:sp>
      <p:sp>
        <p:nvSpPr>
          <p:cNvPr id="18" name="Google Shape;18;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9"/>
        <p:cNvGrpSpPr/>
        <p:nvPr/>
      </p:nvGrpSpPr>
      <p:grpSpPr>
        <a:xfrm>
          <a:off x="0" y="0"/>
          <a:ext cx="0" cy="0"/>
          <a:chOff x="0" y="0"/>
          <a:chExt cx="0" cy="0"/>
        </a:xfrm>
      </p:grpSpPr>
      <p:sp>
        <p:nvSpPr>
          <p:cNvPr id="20" name="Google Shape;20;p4"/>
          <p:cNvSpPr/>
          <p:nvPr/>
        </p:nvSpPr>
        <p:spPr>
          <a:xfrm>
            <a:off x="0" y="0"/>
            <a:ext cx="43140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4"/>
          <p:cNvSpPr/>
          <p:nvPr/>
        </p:nvSpPr>
        <p:spPr>
          <a:xfrm>
            <a:off x="0" y="44125"/>
            <a:ext cx="4313625" cy="4399375"/>
          </a:xfrm>
          <a:custGeom>
            <a:avLst/>
            <a:gdLst/>
            <a:ahLst/>
            <a:cxnLst/>
            <a:rect l="l" t="t" r="r" b="b"/>
            <a:pathLst>
              <a:path w="172545" h="175975" extrusionOk="0">
                <a:moveTo>
                  <a:pt x="0" y="157"/>
                </a:moveTo>
                <a:lnTo>
                  <a:pt x="172419" y="0"/>
                </a:lnTo>
                <a:lnTo>
                  <a:pt x="172545" y="126541"/>
                </a:lnTo>
                <a:lnTo>
                  <a:pt x="0" y="175975"/>
                </a:lnTo>
                <a:close/>
              </a:path>
            </a:pathLst>
          </a:custGeom>
          <a:solidFill>
            <a:schemeClr val="accent2"/>
          </a:solidFill>
          <a:ln>
            <a:noFill/>
          </a:ln>
        </p:spPr>
      </p:sp>
      <p:sp>
        <p:nvSpPr>
          <p:cNvPr id="22" name="Google Shape;22;p4"/>
          <p:cNvSpPr/>
          <p:nvPr/>
        </p:nvSpPr>
        <p:spPr>
          <a:xfrm>
            <a:off x="-125" y="0"/>
            <a:ext cx="4316900" cy="4395600"/>
          </a:xfrm>
          <a:custGeom>
            <a:avLst/>
            <a:gdLst/>
            <a:ahLst/>
            <a:cxnLst/>
            <a:rect l="l" t="t" r="r" b="b"/>
            <a:pathLst>
              <a:path w="172676" h="175824" extrusionOk="0">
                <a:moveTo>
                  <a:pt x="0" y="6"/>
                </a:moveTo>
                <a:lnTo>
                  <a:pt x="172676" y="0"/>
                </a:lnTo>
                <a:lnTo>
                  <a:pt x="172562" y="126442"/>
                </a:lnTo>
                <a:lnTo>
                  <a:pt x="0" y="175824"/>
                </a:lnTo>
                <a:close/>
              </a:path>
            </a:pathLst>
          </a:custGeom>
          <a:solidFill>
            <a:schemeClr val="dk1"/>
          </a:solidFill>
          <a:ln>
            <a:noFill/>
          </a:ln>
        </p:spPr>
      </p:sp>
      <p:sp>
        <p:nvSpPr>
          <p:cNvPr id="23" name="Google Shape;23;p4"/>
          <p:cNvSpPr txBox="1">
            <a:spLocks noGrp="1"/>
          </p:cNvSpPr>
          <p:nvPr>
            <p:ph type="title"/>
          </p:nvPr>
        </p:nvSpPr>
        <p:spPr>
          <a:xfrm>
            <a:off x="311725" y="500925"/>
            <a:ext cx="3706500" cy="2508900"/>
          </a:xfrm>
          <a:prstGeom prst="rect">
            <a:avLst/>
          </a:prstGeom>
        </p:spPr>
        <p:txBody>
          <a:bodyPr spcFirstLastPara="1" wrap="square" lIns="91425" tIns="91425" rIns="91425" bIns="91425" anchor="t" anchorCtr="0">
            <a:norm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a:endParaRPr/>
          </a:p>
        </p:txBody>
      </p:sp>
      <p:sp>
        <p:nvSpPr>
          <p:cNvPr id="24" name="Google Shape;24;p4"/>
          <p:cNvSpPr txBox="1">
            <a:spLocks noGrp="1"/>
          </p:cNvSpPr>
          <p:nvPr>
            <p:ph type="body" idx="1"/>
          </p:nvPr>
        </p:nvSpPr>
        <p:spPr>
          <a:xfrm>
            <a:off x="4644675" y="500925"/>
            <a:ext cx="4166400" cy="40986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25" name="Google Shape;25;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6"/>
        <p:cNvGrpSpPr/>
        <p:nvPr/>
      </p:nvGrpSpPr>
      <p:grpSpPr>
        <a:xfrm>
          <a:off x="0" y="0"/>
          <a:ext cx="0" cy="0"/>
          <a:chOff x="0" y="0"/>
          <a:chExt cx="0" cy="0"/>
        </a:xfrm>
      </p:grpSpPr>
      <p:sp>
        <p:nvSpPr>
          <p:cNvPr id="27" name="Google Shape;27;p5"/>
          <p:cNvSpPr/>
          <p:nvPr/>
        </p:nvSpPr>
        <p:spPr>
          <a:xfrm>
            <a:off x="0" y="0"/>
            <a:ext cx="9144000" cy="12771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8;p5"/>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rm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a:endParaRPr/>
          </a:p>
        </p:txBody>
      </p:sp>
      <p:sp>
        <p:nvSpPr>
          <p:cNvPr id="29" name="Google Shape;29;p5"/>
          <p:cNvSpPr txBox="1">
            <a:spLocks noGrp="1"/>
          </p:cNvSpPr>
          <p:nvPr>
            <p:ph type="body" idx="1"/>
          </p:nvPr>
        </p:nvSpPr>
        <p:spPr>
          <a:xfrm>
            <a:off x="311700" y="1505700"/>
            <a:ext cx="3999900" cy="30762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30" name="Google Shape;30;p5"/>
          <p:cNvSpPr txBox="1">
            <a:spLocks noGrp="1"/>
          </p:cNvSpPr>
          <p:nvPr>
            <p:ph type="body" idx="2"/>
          </p:nvPr>
        </p:nvSpPr>
        <p:spPr>
          <a:xfrm>
            <a:off x="4832400" y="1505700"/>
            <a:ext cx="3999900" cy="30762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31" name="Google Shape;31;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2"/>
        <p:cNvGrpSpPr/>
        <p:nvPr/>
      </p:nvGrpSpPr>
      <p:grpSpPr>
        <a:xfrm>
          <a:off x="0" y="0"/>
          <a:ext cx="0" cy="0"/>
          <a:chOff x="0" y="0"/>
          <a:chExt cx="0" cy="0"/>
        </a:xfrm>
      </p:grpSpPr>
      <p:sp>
        <p:nvSpPr>
          <p:cNvPr id="33" name="Google Shape;33;p6"/>
          <p:cNvSpPr/>
          <p:nvPr/>
        </p:nvSpPr>
        <p:spPr>
          <a:xfrm>
            <a:off x="0" y="0"/>
            <a:ext cx="9144000" cy="12771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6"/>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rm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a:endParaRPr/>
          </a:p>
        </p:txBody>
      </p:sp>
      <p:sp>
        <p:nvSpPr>
          <p:cNvPr id="35" name="Google Shape;35;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6"/>
        <p:cNvGrpSpPr/>
        <p:nvPr/>
      </p:nvGrpSpPr>
      <p:grpSpPr>
        <a:xfrm>
          <a:off x="0" y="0"/>
          <a:ext cx="0" cy="0"/>
          <a:chOff x="0" y="0"/>
          <a:chExt cx="0" cy="0"/>
        </a:xfrm>
      </p:grpSpPr>
      <p:sp>
        <p:nvSpPr>
          <p:cNvPr id="37" name="Google Shape;37;p7"/>
          <p:cNvSpPr/>
          <p:nvPr/>
        </p:nvSpPr>
        <p:spPr>
          <a:xfrm>
            <a:off x="0" y="0"/>
            <a:ext cx="37644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38;p7"/>
          <p:cNvSpPr txBox="1">
            <a:spLocks noGrp="1"/>
          </p:cNvSpPr>
          <p:nvPr>
            <p:ph type="title"/>
          </p:nvPr>
        </p:nvSpPr>
        <p:spPr>
          <a:xfrm>
            <a:off x="311725" y="500925"/>
            <a:ext cx="3127500" cy="1829100"/>
          </a:xfrm>
          <a:prstGeom prst="rect">
            <a:avLst/>
          </a:prstGeom>
        </p:spPr>
        <p:txBody>
          <a:bodyPr spcFirstLastPara="1" wrap="square" lIns="91425" tIns="91425" rIns="91425" bIns="91425" anchor="t" anchorCtr="0">
            <a:norm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a:endParaRPr/>
          </a:p>
        </p:txBody>
      </p:sp>
      <p:sp>
        <p:nvSpPr>
          <p:cNvPr id="39" name="Google Shape;39;p7"/>
          <p:cNvSpPr txBox="1">
            <a:spLocks noGrp="1"/>
          </p:cNvSpPr>
          <p:nvPr>
            <p:ph type="body" idx="1"/>
          </p:nvPr>
        </p:nvSpPr>
        <p:spPr>
          <a:xfrm>
            <a:off x="311700" y="2390650"/>
            <a:ext cx="3127500" cy="22980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Clr>
                <a:schemeClr val="accent2"/>
              </a:buClr>
              <a:buSzPts val="1300"/>
              <a:buChar char="●"/>
              <a:defRPr>
                <a:solidFill>
                  <a:schemeClr val="accent2"/>
                </a:solidFill>
              </a:defRPr>
            </a:lvl1pPr>
            <a:lvl2pPr marL="914400" lvl="1" indent="-298450">
              <a:spcBef>
                <a:spcPts val="0"/>
              </a:spcBef>
              <a:spcAft>
                <a:spcPts val="0"/>
              </a:spcAft>
              <a:buClr>
                <a:schemeClr val="accent2"/>
              </a:buClr>
              <a:buSzPts val="1100"/>
              <a:buChar char="○"/>
              <a:defRPr>
                <a:solidFill>
                  <a:schemeClr val="accent2"/>
                </a:solidFill>
              </a:defRPr>
            </a:lvl2pPr>
            <a:lvl3pPr marL="1371600" lvl="2" indent="-298450">
              <a:spcBef>
                <a:spcPts val="0"/>
              </a:spcBef>
              <a:spcAft>
                <a:spcPts val="0"/>
              </a:spcAft>
              <a:buClr>
                <a:schemeClr val="accent2"/>
              </a:buClr>
              <a:buSzPts val="1100"/>
              <a:buChar char="■"/>
              <a:defRPr>
                <a:solidFill>
                  <a:schemeClr val="accent2"/>
                </a:solidFill>
              </a:defRPr>
            </a:lvl3pPr>
            <a:lvl4pPr marL="1828800" lvl="3" indent="-298450">
              <a:spcBef>
                <a:spcPts val="0"/>
              </a:spcBef>
              <a:spcAft>
                <a:spcPts val="0"/>
              </a:spcAft>
              <a:buClr>
                <a:schemeClr val="accent2"/>
              </a:buClr>
              <a:buSzPts val="1100"/>
              <a:buChar char="●"/>
              <a:defRPr>
                <a:solidFill>
                  <a:schemeClr val="accent2"/>
                </a:solidFill>
              </a:defRPr>
            </a:lvl4pPr>
            <a:lvl5pPr marL="2286000" lvl="4" indent="-298450">
              <a:spcBef>
                <a:spcPts val="0"/>
              </a:spcBef>
              <a:spcAft>
                <a:spcPts val="0"/>
              </a:spcAft>
              <a:buClr>
                <a:schemeClr val="accent2"/>
              </a:buClr>
              <a:buSzPts val="1100"/>
              <a:buChar char="○"/>
              <a:defRPr>
                <a:solidFill>
                  <a:schemeClr val="accent2"/>
                </a:solidFill>
              </a:defRPr>
            </a:lvl5pPr>
            <a:lvl6pPr marL="2743200" lvl="5" indent="-298450">
              <a:spcBef>
                <a:spcPts val="0"/>
              </a:spcBef>
              <a:spcAft>
                <a:spcPts val="0"/>
              </a:spcAft>
              <a:buClr>
                <a:schemeClr val="accent2"/>
              </a:buClr>
              <a:buSzPts val="1100"/>
              <a:buChar char="■"/>
              <a:defRPr>
                <a:solidFill>
                  <a:schemeClr val="accent2"/>
                </a:solidFill>
              </a:defRPr>
            </a:lvl6pPr>
            <a:lvl7pPr marL="3200400" lvl="6" indent="-298450">
              <a:spcBef>
                <a:spcPts val="0"/>
              </a:spcBef>
              <a:spcAft>
                <a:spcPts val="0"/>
              </a:spcAft>
              <a:buClr>
                <a:schemeClr val="accent2"/>
              </a:buClr>
              <a:buSzPts val="1100"/>
              <a:buChar char="●"/>
              <a:defRPr>
                <a:solidFill>
                  <a:schemeClr val="accent2"/>
                </a:solidFill>
              </a:defRPr>
            </a:lvl7pPr>
            <a:lvl8pPr marL="3657600" lvl="7" indent="-298450">
              <a:spcBef>
                <a:spcPts val="0"/>
              </a:spcBef>
              <a:spcAft>
                <a:spcPts val="0"/>
              </a:spcAft>
              <a:buClr>
                <a:schemeClr val="accent2"/>
              </a:buClr>
              <a:buSzPts val="1100"/>
              <a:buChar char="○"/>
              <a:defRPr>
                <a:solidFill>
                  <a:schemeClr val="accent2"/>
                </a:solidFill>
              </a:defRPr>
            </a:lvl8pPr>
            <a:lvl9pPr marL="4114800" lvl="8" indent="-298450">
              <a:spcBef>
                <a:spcPts val="0"/>
              </a:spcBef>
              <a:spcAft>
                <a:spcPts val="0"/>
              </a:spcAft>
              <a:buClr>
                <a:schemeClr val="accent2"/>
              </a:buClr>
              <a:buSzPts val="1100"/>
              <a:buChar char="■"/>
              <a:defRPr>
                <a:solidFill>
                  <a:schemeClr val="accent2"/>
                </a:solidFill>
              </a:defRPr>
            </a:lvl9pPr>
          </a:lstStyle>
          <a:p>
            <a:endParaRPr/>
          </a:p>
        </p:txBody>
      </p:sp>
      <p:sp>
        <p:nvSpPr>
          <p:cNvPr id="40" name="Google Shape;40;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accent3"/>
        </a:solidFill>
        <a:effectLst/>
      </p:bgPr>
    </p:bg>
    <p:spTree>
      <p:nvGrpSpPr>
        <p:cNvPr id="1" name="Shape 41"/>
        <p:cNvGrpSpPr/>
        <p:nvPr/>
      </p:nvGrpSpPr>
      <p:grpSpPr>
        <a:xfrm>
          <a:off x="0" y="0"/>
          <a:ext cx="0" cy="0"/>
          <a:chOff x="0" y="0"/>
          <a:chExt cx="0" cy="0"/>
        </a:xfrm>
      </p:grpSpPr>
      <p:sp>
        <p:nvSpPr>
          <p:cNvPr id="42" name="Google Shape;42;p8"/>
          <p:cNvSpPr txBox="1">
            <a:spLocks noGrp="1"/>
          </p:cNvSpPr>
          <p:nvPr>
            <p:ph type="title"/>
          </p:nvPr>
        </p:nvSpPr>
        <p:spPr>
          <a:xfrm>
            <a:off x="311675" y="798600"/>
            <a:ext cx="6247800" cy="3546300"/>
          </a:xfrm>
          <a:prstGeom prst="rect">
            <a:avLst/>
          </a:prstGeom>
        </p:spPr>
        <p:txBody>
          <a:bodyPr spcFirstLastPara="1" wrap="square" lIns="91425" tIns="91425" rIns="91425" bIns="91425" anchor="ctr" anchorCtr="0">
            <a:norm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a:endParaRPr/>
          </a:p>
        </p:txBody>
      </p:sp>
      <p:sp>
        <p:nvSpPr>
          <p:cNvPr id="43" name="Google Shape;43;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4"/>
        <p:cNvGrpSpPr/>
        <p:nvPr/>
      </p:nvGrpSpPr>
      <p:grpSpPr>
        <a:xfrm>
          <a:off x="0" y="0"/>
          <a:ext cx="0" cy="0"/>
          <a:chOff x="0" y="0"/>
          <a:chExt cx="0" cy="0"/>
        </a:xfrm>
      </p:grpSpPr>
      <p:sp>
        <p:nvSpPr>
          <p:cNvPr id="45" name="Google Shape;45;p9"/>
          <p:cNvSpPr/>
          <p:nvPr/>
        </p:nvSpPr>
        <p:spPr>
          <a:xfrm>
            <a:off x="0" y="0"/>
            <a:ext cx="45720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46;p9"/>
          <p:cNvSpPr txBox="1">
            <a:spLocks noGrp="1"/>
          </p:cNvSpPr>
          <p:nvPr>
            <p:ph type="title"/>
          </p:nvPr>
        </p:nvSpPr>
        <p:spPr>
          <a:xfrm>
            <a:off x="311300" y="500925"/>
            <a:ext cx="3704400" cy="2049600"/>
          </a:xfrm>
          <a:prstGeom prst="rect">
            <a:avLst/>
          </a:prstGeom>
        </p:spPr>
        <p:txBody>
          <a:bodyPr spcFirstLastPara="1" wrap="square" lIns="91425" tIns="91425" rIns="91425" bIns="91425" anchor="t" anchorCtr="0">
            <a:norm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a:endParaRPr/>
          </a:p>
        </p:txBody>
      </p:sp>
      <p:sp>
        <p:nvSpPr>
          <p:cNvPr id="47" name="Google Shape;47;p9"/>
          <p:cNvSpPr txBox="1">
            <a:spLocks noGrp="1"/>
          </p:cNvSpPr>
          <p:nvPr>
            <p:ph type="subTitle" idx="1"/>
          </p:nvPr>
        </p:nvSpPr>
        <p:spPr>
          <a:xfrm>
            <a:off x="304800" y="2626725"/>
            <a:ext cx="3704400" cy="926700"/>
          </a:xfrm>
          <a:prstGeom prst="rect">
            <a:avLst/>
          </a:prstGeom>
        </p:spPr>
        <p:txBody>
          <a:bodyPr spcFirstLastPara="1" wrap="square" lIns="91425" tIns="91425" rIns="91425" bIns="91425" anchor="t" anchorCtr="0">
            <a:normAutofit/>
          </a:bodyPr>
          <a:lstStyle>
            <a:lvl1pPr lvl="0">
              <a:lnSpc>
                <a:spcPct val="100000"/>
              </a:lnSpc>
              <a:spcBef>
                <a:spcPts val="0"/>
              </a:spcBef>
              <a:spcAft>
                <a:spcPts val="0"/>
              </a:spcAft>
              <a:buClr>
                <a:schemeClr val="accent2"/>
              </a:buClr>
              <a:buSzPts val="1600"/>
              <a:buNone/>
              <a:defRPr sz="1600">
                <a:solidFill>
                  <a:schemeClr val="accent2"/>
                </a:solidFill>
              </a:defRPr>
            </a:lvl1pPr>
            <a:lvl2pPr lvl="1">
              <a:lnSpc>
                <a:spcPct val="100000"/>
              </a:lnSpc>
              <a:spcBef>
                <a:spcPts val="0"/>
              </a:spcBef>
              <a:spcAft>
                <a:spcPts val="0"/>
              </a:spcAft>
              <a:buClr>
                <a:schemeClr val="accent2"/>
              </a:buClr>
              <a:buSzPts val="1600"/>
              <a:buNone/>
              <a:defRPr sz="1600">
                <a:solidFill>
                  <a:schemeClr val="accent2"/>
                </a:solidFill>
              </a:defRPr>
            </a:lvl2pPr>
            <a:lvl3pPr lvl="2">
              <a:lnSpc>
                <a:spcPct val="100000"/>
              </a:lnSpc>
              <a:spcBef>
                <a:spcPts val="0"/>
              </a:spcBef>
              <a:spcAft>
                <a:spcPts val="0"/>
              </a:spcAft>
              <a:buClr>
                <a:schemeClr val="accent2"/>
              </a:buClr>
              <a:buSzPts val="1600"/>
              <a:buNone/>
              <a:defRPr sz="1600">
                <a:solidFill>
                  <a:schemeClr val="accent2"/>
                </a:solidFill>
              </a:defRPr>
            </a:lvl3pPr>
            <a:lvl4pPr lvl="3">
              <a:lnSpc>
                <a:spcPct val="100000"/>
              </a:lnSpc>
              <a:spcBef>
                <a:spcPts val="0"/>
              </a:spcBef>
              <a:spcAft>
                <a:spcPts val="0"/>
              </a:spcAft>
              <a:buClr>
                <a:schemeClr val="accent2"/>
              </a:buClr>
              <a:buSzPts val="1600"/>
              <a:buNone/>
              <a:defRPr sz="1600">
                <a:solidFill>
                  <a:schemeClr val="accent2"/>
                </a:solidFill>
              </a:defRPr>
            </a:lvl4pPr>
            <a:lvl5pPr lvl="4">
              <a:lnSpc>
                <a:spcPct val="100000"/>
              </a:lnSpc>
              <a:spcBef>
                <a:spcPts val="0"/>
              </a:spcBef>
              <a:spcAft>
                <a:spcPts val="0"/>
              </a:spcAft>
              <a:buClr>
                <a:schemeClr val="accent2"/>
              </a:buClr>
              <a:buSzPts val="1600"/>
              <a:buNone/>
              <a:defRPr sz="1600">
                <a:solidFill>
                  <a:schemeClr val="accent2"/>
                </a:solidFill>
              </a:defRPr>
            </a:lvl5pPr>
            <a:lvl6pPr lvl="5">
              <a:lnSpc>
                <a:spcPct val="100000"/>
              </a:lnSpc>
              <a:spcBef>
                <a:spcPts val="0"/>
              </a:spcBef>
              <a:spcAft>
                <a:spcPts val="0"/>
              </a:spcAft>
              <a:buClr>
                <a:schemeClr val="accent2"/>
              </a:buClr>
              <a:buSzPts val="1600"/>
              <a:buNone/>
              <a:defRPr sz="1600">
                <a:solidFill>
                  <a:schemeClr val="accent2"/>
                </a:solidFill>
              </a:defRPr>
            </a:lvl6pPr>
            <a:lvl7pPr lvl="6">
              <a:lnSpc>
                <a:spcPct val="100000"/>
              </a:lnSpc>
              <a:spcBef>
                <a:spcPts val="0"/>
              </a:spcBef>
              <a:spcAft>
                <a:spcPts val="0"/>
              </a:spcAft>
              <a:buClr>
                <a:schemeClr val="accent2"/>
              </a:buClr>
              <a:buSzPts val="1600"/>
              <a:buNone/>
              <a:defRPr sz="1600">
                <a:solidFill>
                  <a:schemeClr val="accent2"/>
                </a:solidFill>
              </a:defRPr>
            </a:lvl7pPr>
            <a:lvl8pPr lvl="7">
              <a:lnSpc>
                <a:spcPct val="100000"/>
              </a:lnSpc>
              <a:spcBef>
                <a:spcPts val="0"/>
              </a:spcBef>
              <a:spcAft>
                <a:spcPts val="0"/>
              </a:spcAft>
              <a:buClr>
                <a:schemeClr val="accent2"/>
              </a:buClr>
              <a:buSzPts val="1600"/>
              <a:buNone/>
              <a:defRPr sz="1600">
                <a:solidFill>
                  <a:schemeClr val="accent2"/>
                </a:solidFill>
              </a:defRPr>
            </a:lvl8pPr>
            <a:lvl9pPr lvl="8">
              <a:lnSpc>
                <a:spcPct val="100000"/>
              </a:lnSpc>
              <a:spcBef>
                <a:spcPts val="0"/>
              </a:spcBef>
              <a:spcAft>
                <a:spcPts val="0"/>
              </a:spcAft>
              <a:buClr>
                <a:schemeClr val="accent2"/>
              </a:buClr>
              <a:buSzPts val="1600"/>
              <a:buNone/>
              <a:defRPr sz="1600">
                <a:solidFill>
                  <a:schemeClr val="accent2"/>
                </a:solidFill>
              </a:defRPr>
            </a:lvl9pPr>
          </a:lstStyle>
          <a:p>
            <a:endParaRPr/>
          </a:p>
        </p:txBody>
      </p:sp>
      <p:sp>
        <p:nvSpPr>
          <p:cNvPr id="48" name="Google Shape;48;p9"/>
          <p:cNvSpPr txBox="1">
            <a:spLocks noGrp="1"/>
          </p:cNvSpPr>
          <p:nvPr>
            <p:ph type="body" idx="2"/>
          </p:nvPr>
        </p:nvSpPr>
        <p:spPr>
          <a:xfrm>
            <a:off x="4879025" y="500925"/>
            <a:ext cx="3954000" cy="41115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49" name="Google Shape;49;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50"/>
        <p:cNvGrpSpPr/>
        <p:nvPr/>
      </p:nvGrpSpPr>
      <p:grpSpPr>
        <a:xfrm>
          <a:off x="0" y="0"/>
          <a:ext cx="0" cy="0"/>
          <a:chOff x="0" y="0"/>
          <a:chExt cx="0" cy="0"/>
        </a:xfrm>
      </p:grpSpPr>
      <p:sp>
        <p:nvSpPr>
          <p:cNvPr id="51" name="Google Shape;51;p10"/>
          <p:cNvSpPr/>
          <p:nvPr/>
        </p:nvSpPr>
        <p:spPr>
          <a:xfrm>
            <a:off x="0" y="4369000"/>
            <a:ext cx="9144000" cy="7743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52;p10"/>
          <p:cNvSpPr txBox="1">
            <a:spLocks noGrp="1"/>
          </p:cNvSpPr>
          <p:nvPr>
            <p:ph type="body" idx="1"/>
          </p:nvPr>
        </p:nvSpPr>
        <p:spPr>
          <a:xfrm>
            <a:off x="311700" y="4521400"/>
            <a:ext cx="7979400" cy="4605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Clr>
                <a:schemeClr val="lt1"/>
              </a:buClr>
              <a:buSzPts val="1300"/>
              <a:buFont typeface="Merriweather"/>
              <a:buNone/>
              <a:defRPr>
                <a:solidFill>
                  <a:schemeClr val="lt1"/>
                </a:solidFill>
                <a:latin typeface="Merriweather"/>
                <a:ea typeface="Merriweather"/>
                <a:cs typeface="Merriweather"/>
                <a:sym typeface="Merriweather"/>
              </a:defRPr>
            </a:lvl1pPr>
          </a:lstStyle>
          <a:p>
            <a:endParaRPr/>
          </a:p>
        </p:txBody>
      </p:sp>
      <p:sp>
        <p:nvSpPr>
          <p:cNvPr id="53" name="Google Shape;5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dk1"/>
        </a:solidFill>
        <a:effectLst/>
      </p:bgPr>
    </p:bg>
    <p:spTree>
      <p:nvGrpSpPr>
        <p:cNvPr id="1" name="Shape 54"/>
        <p:cNvGrpSpPr/>
        <p:nvPr/>
      </p:nvGrpSpPr>
      <p:grpSpPr>
        <a:xfrm>
          <a:off x="0" y="0"/>
          <a:ext cx="0" cy="0"/>
          <a:chOff x="0" y="0"/>
          <a:chExt cx="0" cy="0"/>
        </a:xfrm>
      </p:grpSpPr>
      <p:sp>
        <p:nvSpPr>
          <p:cNvPr id="55" name="Google Shape;55;p11"/>
          <p:cNvSpPr txBox="1">
            <a:spLocks noGrp="1"/>
          </p:cNvSpPr>
          <p:nvPr>
            <p:ph type="title" hasCustomPrompt="1"/>
          </p:nvPr>
        </p:nvSpPr>
        <p:spPr>
          <a:xfrm>
            <a:off x="311750" y="831175"/>
            <a:ext cx="5334900" cy="1244700"/>
          </a:xfrm>
          <a:prstGeom prst="rect">
            <a:avLst/>
          </a:prstGeom>
        </p:spPr>
        <p:txBody>
          <a:bodyPr spcFirstLastPara="1" wrap="square" lIns="91425" tIns="91425" rIns="91425" bIns="91425" anchor="b" anchorCtr="0">
            <a:normAutofit/>
          </a:bodyPr>
          <a:lstStyle>
            <a:lvl1pPr lvl="0">
              <a:spcBef>
                <a:spcPts val="0"/>
              </a:spcBef>
              <a:spcAft>
                <a:spcPts val="0"/>
              </a:spcAft>
              <a:buClr>
                <a:schemeClr val="lt1"/>
              </a:buClr>
              <a:buSzPts val="10000"/>
              <a:buNone/>
              <a:defRPr sz="10000">
                <a:solidFill>
                  <a:schemeClr val="lt1"/>
                </a:solidFill>
              </a:defRPr>
            </a:lvl1pPr>
            <a:lvl2pPr lvl="1">
              <a:spcBef>
                <a:spcPts val="0"/>
              </a:spcBef>
              <a:spcAft>
                <a:spcPts val="0"/>
              </a:spcAft>
              <a:buClr>
                <a:schemeClr val="lt1"/>
              </a:buClr>
              <a:buSzPts val="10000"/>
              <a:buNone/>
              <a:defRPr sz="10000">
                <a:solidFill>
                  <a:schemeClr val="lt1"/>
                </a:solidFill>
              </a:defRPr>
            </a:lvl2pPr>
            <a:lvl3pPr lvl="2">
              <a:spcBef>
                <a:spcPts val="0"/>
              </a:spcBef>
              <a:spcAft>
                <a:spcPts val="0"/>
              </a:spcAft>
              <a:buClr>
                <a:schemeClr val="lt1"/>
              </a:buClr>
              <a:buSzPts val="10000"/>
              <a:buNone/>
              <a:defRPr sz="10000">
                <a:solidFill>
                  <a:schemeClr val="lt1"/>
                </a:solidFill>
              </a:defRPr>
            </a:lvl3pPr>
            <a:lvl4pPr lvl="3">
              <a:spcBef>
                <a:spcPts val="0"/>
              </a:spcBef>
              <a:spcAft>
                <a:spcPts val="0"/>
              </a:spcAft>
              <a:buClr>
                <a:schemeClr val="lt1"/>
              </a:buClr>
              <a:buSzPts val="10000"/>
              <a:buNone/>
              <a:defRPr sz="10000">
                <a:solidFill>
                  <a:schemeClr val="lt1"/>
                </a:solidFill>
              </a:defRPr>
            </a:lvl4pPr>
            <a:lvl5pPr lvl="4">
              <a:spcBef>
                <a:spcPts val="0"/>
              </a:spcBef>
              <a:spcAft>
                <a:spcPts val="0"/>
              </a:spcAft>
              <a:buClr>
                <a:schemeClr val="lt1"/>
              </a:buClr>
              <a:buSzPts val="10000"/>
              <a:buNone/>
              <a:defRPr sz="10000">
                <a:solidFill>
                  <a:schemeClr val="lt1"/>
                </a:solidFill>
              </a:defRPr>
            </a:lvl5pPr>
            <a:lvl6pPr lvl="5">
              <a:spcBef>
                <a:spcPts val="0"/>
              </a:spcBef>
              <a:spcAft>
                <a:spcPts val="0"/>
              </a:spcAft>
              <a:buClr>
                <a:schemeClr val="lt1"/>
              </a:buClr>
              <a:buSzPts val="10000"/>
              <a:buNone/>
              <a:defRPr sz="10000">
                <a:solidFill>
                  <a:schemeClr val="lt1"/>
                </a:solidFill>
              </a:defRPr>
            </a:lvl6pPr>
            <a:lvl7pPr lvl="6">
              <a:spcBef>
                <a:spcPts val="0"/>
              </a:spcBef>
              <a:spcAft>
                <a:spcPts val="0"/>
              </a:spcAft>
              <a:buClr>
                <a:schemeClr val="lt1"/>
              </a:buClr>
              <a:buSzPts val="10000"/>
              <a:buNone/>
              <a:defRPr sz="10000">
                <a:solidFill>
                  <a:schemeClr val="lt1"/>
                </a:solidFill>
              </a:defRPr>
            </a:lvl7pPr>
            <a:lvl8pPr lvl="7">
              <a:spcBef>
                <a:spcPts val="0"/>
              </a:spcBef>
              <a:spcAft>
                <a:spcPts val="0"/>
              </a:spcAft>
              <a:buClr>
                <a:schemeClr val="lt1"/>
              </a:buClr>
              <a:buSzPts val="10000"/>
              <a:buNone/>
              <a:defRPr sz="10000">
                <a:solidFill>
                  <a:schemeClr val="lt1"/>
                </a:solidFill>
              </a:defRPr>
            </a:lvl8pPr>
            <a:lvl9pPr lvl="8">
              <a:spcBef>
                <a:spcPts val="0"/>
              </a:spcBef>
              <a:spcAft>
                <a:spcPts val="0"/>
              </a:spcAft>
              <a:buClr>
                <a:schemeClr val="lt1"/>
              </a:buClr>
              <a:buSzPts val="10000"/>
              <a:buNone/>
              <a:defRPr sz="10000">
                <a:solidFill>
                  <a:schemeClr val="lt1"/>
                </a:solidFill>
              </a:defRPr>
            </a:lvl9pPr>
          </a:lstStyle>
          <a:p>
            <a:r>
              <a:t>xx%</a:t>
            </a:r>
          </a:p>
        </p:txBody>
      </p:sp>
      <p:sp>
        <p:nvSpPr>
          <p:cNvPr id="56" name="Google Shape;56;p11"/>
          <p:cNvSpPr txBox="1">
            <a:spLocks noGrp="1"/>
          </p:cNvSpPr>
          <p:nvPr>
            <p:ph type="body" idx="1"/>
          </p:nvPr>
        </p:nvSpPr>
        <p:spPr>
          <a:xfrm>
            <a:off x="311700" y="2121425"/>
            <a:ext cx="5334900" cy="9426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Clr>
                <a:schemeClr val="accent2"/>
              </a:buClr>
              <a:buSzPts val="1300"/>
              <a:buChar char="●"/>
              <a:defRPr>
                <a:solidFill>
                  <a:schemeClr val="accent2"/>
                </a:solidFill>
              </a:defRPr>
            </a:lvl1pPr>
            <a:lvl2pPr marL="914400" lvl="1" indent="-298450">
              <a:spcBef>
                <a:spcPts val="0"/>
              </a:spcBef>
              <a:spcAft>
                <a:spcPts val="0"/>
              </a:spcAft>
              <a:buClr>
                <a:schemeClr val="accent2"/>
              </a:buClr>
              <a:buSzPts val="1100"/>
              <a:buChar char="○"/>
              <a:defRPr>
                <a:solidFill>
                  <a:schemeClr val="accent2"/>
                </a:solidFill>
              </a:defRPr>
            </a:lvl2pPr>
            <a:lvl3pPr marL="1371600" lvl="2" indent="-298450">
              <a:spcBef>
                <a:spcPts val="0"/>
              </a:spcBef>
              <a:spcAft>
                <a:spcPts val="0"/>
              </a:spcAft>
              <a:buClr>
                <a:schemeClr val="accent2"/>
              </a:buClr>
              <a:buSzPts val="1100"/>
              <a:buChar char="■"/>
              <a:defRPr>
                <a:solidFill>
                  <a:schemeClr val="accent2"/>
                </a:solidFill>
              </a:defRPr>
            </a:lvl3pPr>
            <a:lvl4pPr marL="1828800" lvl="3" indent="-298450">
              <a:spcBef>
                <a:spcPts val="0"/>
              </a:spcBef>
              <a:spcAft>
                <a:spcPts val="0"/>
              </a:spcAft>
              <a:buClr>
                <a:schemeClr val="accent2"/>
              </a:buClr>
              <a:buSzPts val="1100"/>
              <a:buChar char="●"/>
              <a:defRPr>
                <a:solidFill>
                  <a:schemeClr val="accent2"/>
                </a:solidFill>
              </a:defRPr>
            </a:lvl4pPr>
            <a:lvl5pPr marL="2286000" lvl="4" indent="-298450">
              <a:spcBef>
                <a:spcPts val="0"/>
              </a:spcBef>
              <a:spcAft>
                <a:spcPts val="0"/>
              </a:spcAft>
              <a:buClr>
                <a:schemeClr val="accent2"/>
              </a:buClr>
              <a:buSzPts val="1100"/>
              <a:buChar char="○"/>
              <a:defRPr>
                <a:solidFill>
                  <a:schemeClr val="accent2"/>
                </a:solidFill>
              </a:defRPr>
            </a:lvl5pPr>
            <a:lvl6pPr marL="2743200" lvl="5" indent="-298450">
              <a:spcBef>
                <a:spcPts val="0"/>
              </a:spcBef>
              <a:spcAft>
                <a:spcPts val="0"/>
              </a:spcAft>
              <a:buClr>
                <a:schemeClr val="accent2"/>
              </a:buClr>
              <a:buSzPts val="1100"/>
              <a:buChar char="■"/>
              <a:defRPr>
                <a:solidFill>
                  <a:schemeClr val="accent2"/>
                </a:solidFill>
              </a:defRPr>
            </a:lvl6pPr>
            <a:lvl7pPr marL="3200400" lvl="6" indent="-298450">
              <a:spcBef>
                <a:spcPts val="0"/>
              </a:spcBef>
              <a:spcAft>
                <a:spcPts val="0"/>
              </a:spcAft>
              <a:buClr>
                <a:schemeClr val="accent2"/>
              </a:buClr>
              <a:buSzPts val="1100"/>
              <a:buChar char="●"/>
              <a:defRPr>
                <a:solidFill>
                  <a:schemeClr val="accent2"/>
                </a:solidFill>
              </a:defRPr>
            </a:lvl7pPr>
            <a:lvl8pPr marL="3657600" lvl="7" indent="-298450">
              <a:spcBef>
                <a:spcPts val="0"/>
              </a:spcBef>
              <a:spcAft>
                <a:spcPts val="0"/>
              </a:spcAft>
              <a:buClr>
                <a:schemeClr val="accent2"/>
              </a:buClr>
              <a:buSzPts val="1100"/>
              <a:buChar char="○"/>
              <a:defRPr>
                <a:solidFill>
                  <a:schemeClr val="accent2"/>
                </a:solidFill>
              </a:defRPr>
            </a:lvl8pPr>
            <a:lvl9pPr marL="4114800" lvl="8" indent="-298450">
              <a:spcBef>
                <a:spcPts val="0"/>
              </a:spcBef>
              <a:spcAft>
                <a:spcPts val="0"/>
              </a:spcAft>
              <a:buClr>
                <a:schemeClr val="accent2"/>
              </a:buClr>
              <a:buSzPts val="1100"/>
              <a:buChar char="■"/>
              <a:defRPr>
                <a:solidFill>
                  <a:schemeClr val="accent2"/>
                </a:solidFill>
              </a:defRPr>
            </a:lvl9pPr>
          </a:lstStyle>
          <a:p>
            <a:endParaRPr/>
          </a:p>
        </p:txBody>
      </p:sp>
      <p:sp>
        <p:nvSpPr>
          <p:cNvPr id="57" name="Google Shape;5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8"/>
        <p:cNvGrpSpPr/>
        <p:nvPr/>
      </p:nvGrpSpPr>
      <p:grpSpPr>
        <a:xfrm>
          <a:off x="0" y="0"/>
          <a:ext cx="0" cy="0"/>
          <a:chOff x="0" y="0"/>
          <a:chExt cx="0" cy="0"/>
        </a:xfrm>
      </p:grpSpPr>
      <p:sp>
        <p:nvSpPr>
          <p:cNvPr id="59" name="Google Shape;5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paradigm">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1pPr>
            <a:lvl2pPr lvl="1">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2pPr>
            <a:lvl3pPr lvl="2">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3pPr>
            <a:lvl4pPr lvl="3">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4pPr>
            <a:lvl5pPr lvl="4">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5pPr>
            <a:lvl6pPr lvl="5">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6pPr>
            <a:lvl7pPr lvl="6">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7pPr>
            <a:lvl8pPr lvl="7">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8pPr>
            <a:lvl9pPr lvl="8">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11150">
              <a:lnSpc>
                <a:spcPct val="115000"/>
              </a:lnSpc>
              <a:spcBef>
                <a:spcPts val="0"/>
              </a:spcBef>
              <a:spcAft>
                <a:spcPts val="0"/>
              </a:spcAft>
              <a:buClr>
                <a:schemeClr val="dk2"/>
              </a:buClr>
              <a:buSzPts val="1300"/>
              <a:buFont typeface="Roboto"/>
              <a:buChar char="●"/>
              <a:defRPr sz="1300">
                <a:solidFill>
                  <a:schemeClr val="dk2"/>
                </a:solidFill>
                <a:latin typeface="Roboto"/>
                <a:ea typeface="Roboto"/>
                <a:cs typeface="Roboto"/>
                <a:sym typeface="Roboto"/>
              </a:defRPr>
            </a:lvl1pPr>
            <a:lvl2pPr marL="914400" lvl="1" indent="-29845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2pPr>
            <a:lvl3pPr marL="1371600" lvl="2" indent="-29845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3pPr>
            <a:lvl4pPr marL="1828800" lvl="3" indent="-29845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4pPr>
            <a:lvl5pPr marL="2286000" lvl="4" indent="-29845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5pPr>
            <a:lvl6pPr marL="2743200" lvl="5" indent="-29845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6pPr>
            <a:lvl7pPr marL="3200400" lvl="6" indent="-29845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7pPr>
            <a:lvl8pPr marL="3657600" lvl="7" indent="-29845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8pPr>
            <a:lvl9pPr marL="4114800" lvl="8" indent="-29845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latin typeface="Roboto"/>
                <a:ea typeface="Roboto"/>
                <a:cs typeface="Roboto"/>
                <a:sym typeface="Roboto"/>
              </a:defRPr>
            </a:lvl1pPr>
            <a:lvl2pPr lvl="1" algn="r">
              <a:buNone/>
              <a:defRPr sz="1000">
                <a:solidFill>
                  <a:schemeClr val="dk2"/>
                </a:solidFill>
                <a:latin typeface="Roboto"/>
                <a:ea typeface="Roboto"/>
                <a:cs typeface="Roboto"/>
                <a:sym typeface="Roboto"/>
              </a:defRPr>
            </a:lvl2pPr>
            <a:lvl3pPr lvl="2" algn="r">
              <a:buNone/>
              <a:defRPr sz="1000">
                <a:solidFill>
                  <a:schemeClr val="dk2"/>
                </a:solidFill>
                <a:latin typeface="Roboto"/>
                <a:ea typeface="Roboto"/>
                <a:cs typeface="Roboto"/>
                <a:sym typeface="Roboto"/>
              </a:defRPr>
            </a:lvl3pPr>
            <a:lvl4pPr lvl="3" algn="r">
              <a:buNone/>
              <a:defRPr sz="1000">
                <a:solidFill>
                  <a:schemeClr val="dk2"/>
                </a:solidFill>
                <a:latin typeface="Roboto"/>
                <a:ea typeface="Roboto"/>
                <a:cs typeface="Roboto"/>
                <a:sym typeface="Roboto"/>
              </a:defRPr>
            </a:lvl4pPr>
            <a:lvl5pPr lvl="4" algn="r">
              <a:buNone/>
              <a:defRPr sz="1000">
                <a:solidFill>
                  <a:schemeClr val="dk2"/>
                </a:solidFill>
                <a:latin typeface="Roboto"/>
                <a:ea typeface="Roboto"/>
                <a:cs typeface="Roboto"/>
                <a:sym typeface="Roboto"/>
              </a:defRPr>
            </a:lvl5pPr>
            <a:lvl6pPr lvl="5" algn="r">
              <a:buNone/>
              <a:defRPr sz="1000">
                <a:solidFill>
                  <a:schemeClr val="dk2"/>
                </a:solidFill>
                <a:latin typeface="Roboto"/>
                <a:ea typeface="Roboto"/>
                <a:cs typeface="Roboto"/>
                <a:sym typeface="Roboto"/>
              </a:defRPr>
            </a:lvl6pPr>
            <a:lvl7pPr lvl="6" algn="r">
              <a:buNone/>
              <a:defRPr sz="1000">
                <a:solidFill>
                  <a:schemeClr val="dk2"/>
                </a:solidFill>
                <a:latin typeface="Roboto"/>
                <a:ea typeface="Roboto"/>
                <a:cs typeface="Roboto"/>
                <a:sym typeface="Roboto"/>
              </a:defRPr>
            </a:lvl7pPr>
            <a:lvl8pPr lvl="7" algn="r">
              <a:buNone/>
              <a:defRPr sz="1000">
                <a:solidFill>
                  <a:schemeClr val="dk2"/>
                </a:solidFill>
                <a:latin typeface="Roboto"/>
                <a:ea typeface="Roboto"/>
                <a:cs typeface="Roboto"/>
                <a:sym typeface="Roboto"/>
              </a:defRPr>
            </a:lvl8pPr>
            <a:lvl9pPr lvl="8" algn="r">
              <a:buNone/>
              <a:defRPr sz="1000">
                <a:solidFill>
                  <a:schemeClr val="dk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3"/>
        <p:cNvGrpSpPr/>
        <p:nvPr/>
      </p:nvGrpSpPr>
      <p:grpSpPr>
        <a:xfrm>
          <a:off x="0" y="0"/>
          <a:ext cx="0" cy="0"/>
          <a:chOff x="0" y="0"/>
          <a:chExt cx="0" cy="0"/>
        </a:xfrm>
      </p:grpSpPr>
      <p:sp>
        <p:nvSpPr>
          <p:cNvPr id="64" name="Google Shape;64;p13"/>
          <p:cNvSpPr txBox="1">
            <a:spLocks noGrp="1"/>
          </p:cNvSpPr>
          <p:nvPr>
            <p:ph type="ctrTitle"/>
          </p:nvPr>
        </p:nvSpPr>
        <p:spPr>
          <a:xfrm>
            <a:off x="311700" y="539725"/>
            <a:ext cx="8520600" cy="1196100"/>
          </a:xfrm>
          <a:prstGeom prst="rect">
            <a:avLst/>
          </a:prstGeom>
          <a:solidFill>
            <a:srgbClr val="D9EAD3"/>
          </a:solidFill>
        </p:spPr>
        <p:txBody>
          <a:bodyPr spcFirstLastPara="1" wrap="square" lIns="91425" tIns="91425" rIns="91425" bIns="91425" anchor="t" anchorCtr="0">
            <a:normAutofit/>
          </a:bodyPr>
          <a:lstStyle/>
          <a:p>
            <a:pPr marL="0" lvl="0" indent="0" algn="ctr" rtl="0">
              <a:spcBef>
                <a:spcPts val="0"/>
              </a:spcBef>
              <a:spcAft>
                <a:spcPts val="0"/>
              </a:spcAft>
              <a:buSzPts val="990"/>
              <a:buNone/>
            </a:pPr>
            <a:r>
              <a:rPr lang="en" sz="3040" b="1">
                <a:latin typeface="Times New Roman"/>
                <a:ea typeface="Times New Roman"/>
                <a:cs typeface="Times New Roman"/>
                <a:sym typeface="Times New Roman"/>
              </a:rPr>
              <a:t>People Analytics and Value Creation: A Case Study of Tesco plc</a:t>
            </a:r>
            <a:endParaRPr sz="3040" b="1">
              <a:latin typeface="Times New Roman"/>
              <a:ea typeface="Times New Roman"/>
              <a:cs typeface="Times New Roman"/>
              <a:sym typeface="Times New Roman"/>
            </a:endParaRPr>
          </a:p>
        </p:txBody>
      </p:sp>
      <p:sp>
        <p:nvSpPr>
          <p:cNvPr id="65" name="Google Shape;65;p13"/>
          <p:cNvSpPr txBox="1">
            <a:spLocks noGrp="1"/>
          </p:cNvSpPr>
          <p:nvPr>
            <p:ph type="subTitle" idx="1"/>
          </p:nvPr>
        </p:nvSpPr>
        <p:spPr>
          <a:xfrm>
            <a:off x="311700" y="1878550"/>
            <a:ext cx="4242600" cy="596700"/>
          </a:xfrm>
          <a:prstGeom prst="rect">
            <a:avLst/>
          </a:prstGeom>
          <a:solidFill>
            <a:srgbClr val="9FC5E8"/>
          </a:solidFill>
        </p:spPr>
        <p:txBody>
          <a:bodyPr spcFirstLastPara="1" wrap="square" lIns="91425" tIns="91425" rIns="91425" bIns="91425" anchor="t" anchorCtr="0">
            <a:noAutofit/>
          </a:bodyPr>
          <a:lstStyle/>
          <a:p>
            <a:pPr marL="0" lvl="0" indent="0" algn="ctr" rtl="0">
              <a:spcBef>
                <a:spcPts val="0"/>
              </a:spcBef>
              <a:spcAft>
                <a:spcPts val="0"/>
              </a:spcAft>
              <a:buNone/>
            </a:pPr>
            <a:r>
              <a:rPr lang="en" sz="1200">
                <a:solidFill>
                  <a:srgbClr val="000000"/>
                </a:solidFill>
                <a:latin typeface="Times New Roman"/>
                <a:ea typeface="Times New Roman"/>
                <a:cs typeface="Times New Roman"/>
                <a:sym typeface="Times New Roman"/>
              </a:rPr>
              <a:t>Analysing How Workforce Data Supports Strategic HR Decision-Making, Organisational Agility and Stakeholder Value</a:t>
            </a:r>
            <a:endParaRPr sz="1200">
              <a:solidFill>
                <a:srgbClr val="000000"/>
              </a:solidFill>
              <a:latin typeface="Times New Roman"/>
              <a:ea typeface="Times New Roman"/>
              <a:cs typeface="Times New Roman"/>
              <a:sym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9"/>
        <p:cNvGrpSpPr/>
        <p:nvPr/>
      </p:nvGrpSpPr>
      <p:grpSpPr>
        <a:xfrm>
          <a:off x="0" y="0"/>
          <a:ext cx="0" cy="0"/>
          <a:chOff x="0" y="0"/>
          <a:chExt cx="0" cy="0"/>
        </a:xfrm>
      </p:grpSpPr>
      <p:sp>
        <p:nvSpPr>
          <p:cNvPr id="70" name="Google Shape;70;p14"/>
          <p:cNvSpPr txBox="1">
            <a:spLocks noGrp="1"/>
          </p:cNvSpPr>
          <p:nvPr>
            <p:ph type="title"/>
          </p:nvPr>
        </p:nvSpPr>
        <p:spPr>
          <a:xfrm>
            <a:off x="0" y="0"/>
            <a:ext cx="4321200" cy="9195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 b="1">
                <a:latin typeface="Times New Roman"/>
                <a:ea typeface="Times New Roman"/>
                <a:cs typeface="Times New Roman"/>
                <a:sym typeface="Times New Roman"/>
              </a:rPr>
              <a:t>Introduction: Tesco and People Analytics</a:t>
            </a:r>
            <a:endParaRPr b="1">
              <a:latin typeface="Times New Roman"/>
              <a:ea typeface="Times New Roman"/>
              <a:cs typeface="Times New Roman"/>
              <a:sym typeface="Times New Roman"/>
            </a:endParaRPr>
          </a:p>
        </p:txBody>
      </p:sp>
      <p:sp>
        <p:nvSpPr>
          <p:cNvPr id="71" name="Google Shape;71;p14"/>
          <p:cNvSpPr txBox="1">
            <a:spLocks noGrp="1"/>
          </p:cNvSpPr>
          <p:nvPr>
            <p:ph type="body" idx="1"/>
          </p:nvPr>
        </p:nvSpPr>
        <p:spPr>
          <a:xfrm>
            <a:off x="4321200" y="-75"/>
            <a:ext cx="4822800" cy="5143500"/>
          </a:xfrm>
          <a:prstGeom prst="rect">
            <a:avLst/>
          </a:prstGeom>
          <a:solidFill>
            <a:srgbClr val="E6B8AF"/>
          </a:solidFill>
        </p:spPr>
        <p:txBody>
          <a:bodyPr spcFirstLastPara="1" wrap="square" lIns="91425" tIns="91425" rIns="91425" bIns="91425" anchor="t" anchorCtr="0">
            <a:normAutofit/>
          </a:bodyPr>
          <a:lstStyle/>
          <a:p>
            <a:pPr marL="457200" lvl="0" indent="-330200" algn="just" rtl="0">
              <a:lnSpc>
                <a:spcPct val="200000"/>
              </a:lnSpc>
              <a:spcBef>
                <a:spcPts val="0"/>
              </a:spcBef>
              <a:spcAft>
                <a:spcPts val="0"/>
              </a:spcAft>
              <a:buClr>
                <a:srgbClr val="000000"/>
              </a:buClr>
              <a:buSzPts val="1600"/>
              <a:buFont typeface="Times New Roman"/>
              <a:buChar char="●"/>
            </a:pPr>
            <a:r>
              <a:rPr lang="en" sz="1600">
                <a:solidFill>
                  <a:srgbClr val="000000"/>
                </a:solidFill>
                <a:latin typeface="Times New Roman"/>
                <a:ea typeface="Times New Roman"/>
                <a:cs typeface="Times New Roman"/>
                <a:sym typeface="Times New Roman"/>
              </a:rPr>
              <a:t>One of the largest retail organisations in the UK is Tesco plc (Tesco plc, 2025).</a:t>
            </a:r>
            <a:endParaRPr sz="1600">
              <a:solidFill>
                <a:srgbClr val="000000"/>
              </a:solidFill>
              <a:latin typeface="Times New Roman"/>
              <a:ea typeface="Times New Roman"/>
              <a:cs typeface="Times New Roman"/>
              <a:sym typeface="Times New Roman"/>
            </a:endParaRPr>
          </a:p>
          <a:p>
            <a:pPr marL="457200" lvl="0" indent="-330200" algn="just" rtl="0">
              <a:lnSpc>
                <a:spcPct val="200000"/>
              </a:lnSpc>
              <a:spcBef>
                <a:spcPts val="0"/>
              </a:spcBef>
              <a:spcAft>
                <a:spcPts val="0"/>
              </a:spcAft>
              <a:buClr>
                <a:srgbClr val="000000"/>
              </a:buClr>
              <a:buSzPts val="1600"/>
              <a:buFont typeface="Times New Roman"/>
              <a:buChar char="●"/>
            </a:pPr>
            <a:r>
              <a:rPr lang="en" sz="1600">
                <a:solidFill>
                  <a:srgbClr val="000000"/>
                </a:solidFill>
                <a:latin typeface="Times New Roman"/>
                <a:ea typeface="Times New Roman"/>
                <a:cs typeface="Times New Roman"/>
                <a:sym typeface="Times New Roman"/>
              </a:rPr>
              <a:t>They have a varied staff structure at various stores and within logistics and corporate operations.</a:t>
            </a:r>
            <a:endParaRPr sz="1600">
              <a:solidFill>
                <a:srgbClr val="000000"/>
              </a:solidFill>
              <a:latin typeface="Times New Roman"/>
              <a:ea typeface="Times New Roman"/>
              <a:cs typeface="Times New Roman"/>
              <a:sym typeface="Times New Roman"/>
            </a:endParaRPr>
          </a:p>
          <a:p>
            <a:pPr marL="457200" lvl="0" indent="-330200" algn="just" rtl="0">
              <a:lnSpc>
                <a:spcPct val="200000"/>
              </a:lnSpc>
              <a:spcBef>
                <a:spcPts val="0"/>
              </a:spcBef>
              <a:spcAft>
                <a:spcPts val="0"/>
              </a:spcAft>
              <a:buClr>
                <a:srgbClr val="000000"/>
              </a:buClr>
              <a:buSzPts val="1600"/>
              <a:buFont typeface="Times New Roman"/>
              <a:buChar char="●"/>
            </a:pPr>
            <a:r>
              <a:rPr lang="en" sz="1600">
                <a:solidFill>
                  <a:srgbClr val="000000"/>
                </a:solidFill>
                <a:latin typeface="Times New Roman"/>
                <a:ea typeface="Times New Roman"/>
                <a:cs typeface="Times New Roman"/>
                <a:sym typeface="Times New Roman"/>
              </a:rPr>
              <a:t>The skill of the employees directly affects customer experiences and the performance of operations.</a:t>
            </a:r>
            <a:endParaRPr sz="1600">
              <a:solidFill>
                <a:srgbClr val="000000"/>
              </a:solidFill>
              <a:latin typeface="Times New Roman"/>
              <a:ea typeface="Times New Roman"/>
              <a:cs typeface="Times New Roman"/>
              <a:sym typeface="Times New Roman"/>
            </a:endParaRPr>
          </a:p>
          <a:p>
            <a:pPr marL="457200" lvl="0" indent="-330200" algn="just" rtl="0">
              <a:lnSpc>
                <a:spcPct val="200000"/>
              </a:lnSpc>
              <a:spcBef>
                <a:spcPts val="0"/>
              </a:spcBef>
              <a:spcAft>
                <a:spcPts val="0"/>
              </a:spcAft>
              <a:buClr>
                <a:srgbClr val="000000"/>
              </a:buClr>
              <a:buSzPts val="1600"/>
              <a:buFont typeface="Times New Roman"/>
              <a:buChar char="●"/>
            </a:pPr>
            <a:r>
              <a:rPr lang="en" sz="1600">
                <a:solidFill>
                  <a:srgbClr val="000000"/>
                </a:solidFill>
                <a:latin typeface="Times New Roman"/>
                <a:ea typeface="Times New Roman"/>
                <a:cs typeface="Times New Roman"/>
                <a:sym typeface="Times New Roman"/>
              </a:rPr>
              <a:t>People analytics is about turning workforce data into action.</a:t>
            </a:r>
            <a:endParaRPr sz="1600">
              <a:solidFill>
                <a:srgbClr val="000000"/>
              </a:solidFill>
              <a:latin typeface="Times New Roman"/>
              <a:ea typeface="Times New Roman"/>
              <a:cs typeface="Times New Roman"/>
              <a:sym typeface="Times New Roman"/>
            </a:endParaRPr>
          </a:p>
          <a:p>
            <a:pPr marL="457200" lvl="0" indent="-330200" algn="just" rtl="0">
              <a:lnSpc>
                <a:spcPct val="200000"/>
              </a:lnSpc>
              <a:spcBef>
                <a:spcPts val="0"/>
              </a:spcBef>
              <a:spcAft>
                <a:spcPts val="0"/>
              </a:spcAft>
              <a:buClr>
                <a:srgbClr val="000000"/>
              </a:buClr>
              <a:buSzPts val="1600"/>
              <a:buFont typeface="Times New Roman"/>
              <a:buChar char="●"/>
            </a:pPr>
            <a:r>
              <a:rPr lang="en" sz="1600">
                <a:solidFill>
                  <a:srgbClr val="000000"/>
                </a:solidFill>
                <a:latin typeface="Times New Roman"/>
                <a:ea typeface="Times New Roman"/>
                <a:cs typeface="Times New Roman"/>
                <a:sym typeface="Times New Roman"/>
              </a:rPr>
              <a:t>HR decision-making is supported by data.</a:t>
            </a:r>
            <a:endParaRPr sz="1600">
              <a:solidFill>
                <a:srgbClr val="000000"/>
              </a:solidFill>
              <a:latin typeface="Times New Roman"/>
              <a:ea typeface="Times New Roman"/>
              <a:cs typeface="Times New Roman"/>
              <a:sym typeface="Times New Roman"/>
            </a:endParaRPr>
          </a:p>
        </p:txBody>
      </p:sp>
      <p:pic>
        <p:nvPicPr>
          <p:cNvPr id="72" name="Google Shape;72;p14"/>
          <p:cNvPicPr preferRelativeResize="0"/>
          <p:nvPr/>
        </p:nvPicPr>
        <p:blipFill>
          <a:blip r:embed="rId3">
            <a:alphaModFix/>
          </a:blip>
          <a:stretch>
            <a:fillRect/>
          </a:stretch>
        </p:blipFill>
        <p:spPr>
          <a:xfrm>
            <a:off x="0" y="940300"/>
            <a:ext cx="4321200" cy="420312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6"/>
        <p:cNvGrpSpPr/>
        <p:nvPr/>
      </p:nvGrpSpPr>
      <p:grpSpPr>
        <a:xfrm>
          <a:off x="0" y="0"/>
          <a:ext cx="0" cy="0"/>
          <a:chOff x="0" y="0"/>
          <a:chExt cx="0" cy="0"/>
        </a:xfrm>
      </p:grpSpPr>
      <p:sp>
        <p:nvSpPr>
          <p:cNvPr id="77" name="Google Shape;77;p15"/>
          <p:cNvSpPr txBox="1">
            <a:spLocks noGrp="1"/>
          </p:cNvSpPr>
          <p:nvPr>
            <p:ph type="title"/>
          </p:nvPr>
        </p:nvSpPr>
        <p:spPr>
          <a:xfrm>
            <a:off x="0" y="0"/>
            <a:ext cx="4321200" cy="9195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 b="1">
                <a:latin typeface="Times New Roman"/>
                <a:ea typeface="Times New Roman"/>
                <a:cs typeface="Times New Roman"/>
                <a:sym typeface="Times New Roman"/>
              </a:rPr>
              <a:t>People Analytics Across the Employee Lifecycle</a:t>
            </a:r>
            <a:endParaRPr b="1">
              <a:latin typeface="Times New Roman"/>
              <a:ea typeface="Times New Roman"/>
              <a:cs typeface="Times New Roman"/>
              <a:sym typeface="Times New Roman"/>
            </a:endParaRPr>
          </a:p>
        </p:txBody>
      </p:sp>
      <p:sp>
        <p:nvSpPr>
          <p:cNvPr id="78" name="Google Shape;78;p15"/>
          <p:cNvSpPr txBox="1">
            <a:spLocks noGrp="1"/>
          </p:cNvSpPr>
          <p:nvPr>
            <p:ph type="body" idx="1"/>
          </p:nvPr>
        </p:nvSpPr>
        <p:spPr>
          <a:xfrm>
            <a:off x="4321200" y="-75"/>
            <a:ext cx="4822800" cy="5143500"/>
          </a:xfrm>
          <a:prstGeom prst="rect">
            <a:avLst/>
          </a:prstGeom>
          <a:solidFill>
            <a:srgbClr val="EAD1DC"/>
          </a:solidFill>
        </p:spPr>
        <p:txBody>
          <a:bodyPr spcFirstLastPara="1" wrap="square" lIns="91425" tIns="91425" rIns="91425" bIns="91425" anchor="t" anchorCtr="0">
            <a:normAutofit/>
          </a:bodyPr>
          <a:lstStyle/>
          <a:p>
            <a:pPr marL="457200" lvl="0" indent="-330200" algn="just" rtl="0">
              <a:lnSpc>
                <a:spcPct val="200000"/>
              </a:lnSpc>
              <a:spcBef>
                <a:spcPts val="0"/>
              </a:spcBef>
              <a:spcAft>
                <a:spcPts val="0"/>
              </a:spcAft>
              <a:buClr>
                <a:srgbClr val="000000"/>
              </a:buClr>
              <a:buSzPts val="1600"/>
              <a:buFont typeface="Times New Roman"/>
              <a:buChar char="●"/>
            </a:pPr>
            <a:r>
              <a:rPr lang="en" sz="1600">
                <a:solidFill>
                  <a:srgbClr val="000000"/>
                </a:solidFill>
                <a:latin typeface="Times New Roman"/>
                <a:ea typeface="Times New Roman"/>
                <a:cs typeface="Times New Roman"/>
                <a:sym typeface="Times New Roman"/>
              </a:rPr>
              <a:t>There are a number of different employee lifecycle stages that analytics can support.</a:t>
            </a:r>
            <a:endParaRPr sz="1600">
              <a:solidFill>
                <a:srgbClr val="000000"/>
              </a:solidFill>
              <a:latin typeface="Times New Roman"/>
              <a:ea typeface="Times New Roman"/>
              <a:cs typeface="Times New Roman"/>
              <a:sym typeface="Times New Roman"/>
            </a:endParaRPr>
          </a:p>
          <a:p>
            <a:pPr marL="457200" lvl="0" indent="-330200" algn="just" rtl="0">
              <a:lnSpc>
                <a:spcPct val="200000"/>
              </a:lnSpc>
              <a:spcBef>
                <a:spcPts val="0"/>
              </a:spcBef>
              <a:spcAft>
                <a:spcPts val="0"/>
              </a:spcAft>
              <a:buClr>
                <a:srgbClr val="000000"/>
              </a:buClr>
              <a:buSzPts val="1600"/>
              <a:buFont typeface="Times New Roman"/>
              <a:buChar char="●"/>
            </a:pPr>
            <a:r>
              <a:rPr lang="en" sz="1600">
                <a:solidFill>
                  <a:srgbClr val="000000"/>
                </a:solidFill>
                <a:latin typeface="Times New Roman"/>
                <a:ea typeface="Times New Roman"/>
                <a:cs typeface="Times New Roman"/>
                <a:sym typeface="Times New Roman"/>
              </a:rPr>
              <a:t>Recruitment data enhances talent acquisition decisions.</a:t>
            </a:r>
            <a:endParaRPr sz="1600">
              <a:solidFill>
                <a:srgbClr val="000000"/>
              </a:solidFill>
              <a:latin typeface="Times New Roman"/>
              <a:ea typeface="Times New Roman"/>
              <a:cs typeface="Times New Roman"/>
              <a:sym typeface="Times New Roman"/>
            </a:endParaRPr>
          </a:p>
          <a:p>
            <a:pPr marL="457200" lvl="0" indent="-330200" algn="just" rtl="0">
              <a:lnSpc>
                <a:spcPct val="200000"/>
              </a:lnSpc>
              <a:spcBef>
                <a:spcPts val="0"/>
              </a:spcBef>
              <a:spcAft>
                <a:spcPts val="0"/>
              </a:spcAft>
              <a:buClr>
                <a:srgbClr val="000000"/>
              </a:buClr>
              <a:buSzPts val="1600"/>
              <a:buFont typeface="Times New Roman"/>
              <a:buChar char="●"/>
            </a:pPr>
            <a:r>
              <a:rPr lang="en" sz="1600">
                <a:solidFill>
                  <a:srgbClr val="000000"/>
                </a:solidFill>
                <a:latin typeface="Times New Roman"/>
                <a:ea typeface="Times New Roman"/>
                <a:cs typeface="Times New Roman"/>
                <a:sym typeface="Times New Roman"/>
              </a:rPr>
              <a:t>Engagement insights make it easier to determine how satisfied employees are.</a:t>
            </a:r>
            <a:endParaRPr sz="1600">
              <a:solidFill>
                <a:srgbClr val="000000"/>
              </a:solidFill>
              <a:latin typeface="Times New Roman"/>
              <a:ea typeface="Times New Roman"/>
              <a:cs typeface="Times New Roman"/>
              <a:sym typeface="Times New Roman"/>
            </a:endParaRPr>
          </a:p>
          <a:p>
            <a:pPr marL="457200" lvl="0" indent="-330200" algn="just" rtl="0">
              <a:lnSpc>
                <a:spcPct val="200000"/>
              </a:lnSpc>
              <a:spcBef>
                <a:spcPts val="0"/>
              </a:spcBef>
              <a:spcAft>
                <a:spcPts val="0"/>
              </a:spcAft>
              <a:buClr>
                <a:srgbClr val="000000"/>
              </a:buClr>
              <a:buSzPts val="1600"/>
              <a:buFont typeface="Times New Roman"/>
              <a:buChar char="●"/>
            </a:pPr>
            <a:r>
              <a:rPr lang="en" sz="1600">
                <a:solidFill>
                  <a:srgbClr val="000000"/>
                </a:solidFill>
                <a:latin typeface="Times New Roman"/>
                <a:ea typeface="Times New Roman"/>
                <a:cs typeface="Times New Roman"/>
                <a:sym typeface="Times New Roman"/>
              </a:rPr>
              <a:t>Learning Data helps strengthen employees.</a:t>
            </a:r>
            <a:endParaRPr sz="1600">
              <a:solidFill>
                <a:srgbClr val="000000"/>
              </a:solidFill>
              <a:latin typeface="Times New Roman"/>
              <a:ea typeface="Times New Roman"/>
              <a:cs typeface="Times New Roman"/>
              <a:sym typeface="Times New Roman"/>
            </a:endParaRPr>
          </a:p>
          <a:p>
            <a:pPr marL="457200" lvl="0" indent="-330200" algn="just" rtl="0">
              <a:lnSpc>
                <a:spcPct val="200000"/>
              </a:lnSpc>
              <a:spcBef>
                <a:spcPts val="0"/>
              </a:spcBef>
              <a:spcAft>
                <a:spcPts val="0"/>
              </a:spcAft>
              <a:buClr>
                <a:srgbClr val="000000"/>
              </a:buClr>
              <a:buSzPts val="1600"/>
              <a:buFont typeface="Times New Roman"/>
              <a:buChar char="●"/>
            </a:pPr>
            <a:r>
              <a:rPr lang="en" sz="1600">
                <a:solidFill>
                  <a:srgbClr val="000000"/>
                </a:solidFill>
                <a:latin typeface="Times New Roman"/>
                <a:ea typeface="Times New Roman"/>
                <a:cs typeface="Times New Roman"/>
                <a:sym typeface="Times New Roman"/>
              </a:rPr>
              <a:t>Retention analytics is a strategy for determining risks in your workforce (Suri and Lakhanpal, 2024).</a:t>
            </a:r>
            <a:endParaRPr sz="1600">
              <a:solidFill>
                <a:srgbClr val="000000"/>
              </a:solidFill>
              <a:latin typeface="Times New Roman"/>
              <a:ea typeface="Times New Roman"/>
              <a:cs typeface="Times New Roman"/>
              <a:sym typeface="Times New Roman"/>
            </a:endParaRPr>
          </a:p>
        </p:txBody>
      </p:sp>
      <p:pic>
        <p:nvPicPr>
          <p:cNvPr id="79" name="Google Shape;79;p15"/>
          <p:cNvPicPr preferRelativeResize="0"/>
          <p:nvPr/>
        </p:nvPicPr>
        <p:blipFill>
          <a:blip r:embed="rId3">
            <a:alphaModFix/>
          </a:blip>
          <a:stretch>
            <a:fillRect/>
          </a:stretch>
        </p:blipFill>
        <p:spPr>
          <a:xfrm>
            <a:off x="0" y="935275"/>
            <a:ext cx="4321200" cy="4208226"/>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6"/>
          <p:cNvSpPr txBox="1">
            <a:spLocks noGrp="1"/>
          </p:cNvSpPr>
          <p:nvPr>
            <p:ph type="title"/>
          </p:nvPr>
        </p:nvSpPr>
        <p:spPr>
          <a:xfrm>
            <a:off x="0" y="0"/>
            <a:ext cx="4321200" cy="9195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 b="1">
                <a:latin typeface="Times New Roman"/>
                <a:ea typeface="Times New Roman"/>
                <a:cs typeface="Times New Roman"/>
                <a:sym typeface="Times New Roman"/>
              </a:rPr>
              <a:t>Recruitment and Workforce Planning Analytics</a:t>
            </a:r>
            <a:endParaRPr b="1">
              <a:latin typeface="Times New Roman"/>
              <a:ea typeface="Times New Roman"/>
              <a:cs typeface="Times New Roman"/>
              <a:sym typeface="Times New Roman"/>
            </a:endParaRPr>
          </a:p>
        </p:txBody>
      </p:sp>
      <p:sp>
        <p:nvSpPr>
          <p:cNvPr id="85" name="Google Shape;85;p16"/>
          <p:cNvSpPr txBox="1">
            <a:spLocks noGrp="1"/>
          </p:cNvSpPr>
          <p:nvPr>
            <p:ph type="body" idx="1"/>
          </p:nvPr>
        </p:nvSpPr>
        <p:spPr>
          <a:xfrm>
            <a:off x="4321200" y="-75"/>
            <a:ext cx="4822800" cy="5143500"/>
          </a:xfrm>
          <a:prstGeom prst="rect">
            <a:avLst/>
          </a:prstGeom>
          <a:solidFill>
            <a:srgbClr val="D9D2E9"/>
          </a:solidFill>
        </p:spPr>
        <p:txBody>
          <a:bodyPr spcFirstLastPara="1" wrap="square" lIns="91425" tIns="91425" rIns="91425" bIns="91425" anchor="t" anchorCtr="0">
            <a:normAutofit/>
          </a:bodyPr>
          <a:lstStyle/>
          <a:p>
            <a:pPr marL="457200" lvl="0" indent="-330200" algn="just" rtl="0">
              <a:lnSpc>
                <a:spcPct val="200000"/>
              </a:lnSpc>
              <a:spcBef>
                <a:spcPts val="0"/>
              </a:spcBef>
              <a:spcAft>
                <a:spcPts val="0"/>
              </a:spcAft>
              <a:buClr>
                <a:srgbClr val="000000"/>
              </a:buClr>
              <a:buSzPts val="1600"/>
              <a:buFont typeface="Times New Roman"/>
              <a:buChar char="●"/>
            </a:pPr>
            <a:r>
              <a:rPr lang="en" sz="1600">
                <a:solidFill>
                  <a:srgbClr val="000000"/>
                </a:solidFill>
                <a:latin typeface="Times New Roman"/>
                <a:ea typeface="Times New Roman"/>
                <a:cs typeface="Times New Roman"/>
                <a:sym typeface="Times New Roman"/>
              </a:rPr>
              <a:t>Information about the workforce is used to determine staffing needs.</a:t>
            </a:r>
            <a:endParaRPr sz="1600">
              <a:solidFill>
                <a:srgbClr val="000000"/>
              </a:solidFill>
              <a:latin typeface="Times New Roman"/>
              <a:ea typeface="Times New Roman"/>
              <a:cs typeface="Times New Roman"/>
              <a:sym typeface="Times New Roman"/>
            </a:endParaRPr>
          </a:p>
          <a:p>
            <a:pPr marL="457200" lvl="0" indent="-330200" algn="just" rtl="0">
              <a:lnSpc>
                <a:spcPct val="200000"/>
              </a:lnSpc>
              <a:spcBef>
                <a:spcPts val="0"/>
              </a:spcBef>
              <a:spcAft>
                <a:spcPts val="0"/>
              </a:spcAft>
              <a:buClr>
                <a:srgbClr val="000000"/>
              </a:buClr>
              <a:buSzPts val="1600"/>
              <a:buFont typeface="Times New Roman"/>
              <a:buChar char="●"/>
            </a:pPr>
            <a:r>
              <a:rPr lang="en" sz="1600">
                <a:solidFill>
                  <a:srgbClr val="000000"/>
                </a:solidFill>
                <a:latin typeface="Times New Roman"/>
                <a:ea typeface="Times New Roman"/>
                <a:cs typeface="Times New Roman"/>
                <a:sym typeface="Times New Roman"/>
              </a:rPr>
              <a:t>With recruitment analytics, you are able to assess the success of hiring.</a:t>
            </a:r>
            <a:endParaRPr sz="1600">
              <a:solidFill>
                <a:srgbClr val="000000"/>
              </a:solidFill>
              <a:latin typeface="Times New Roman"/>
              <a:ea typeface="Times New Roman"/>
              <a:cs typeface="Times New Roman"/>
              <a:sym typeface="Times New Roman"/>
            </a:endParaRPr>
          </a:p>
          <a:p>
            <a:pPr marL="457200" lvl="0" indent="-330200" algn="just" rtl="0">
              <a:lnSpc>
                <a:spcPct val="200000"/>
              </a:lnSpc>
              <a:spcBef>
                <a:spcPts val="0"/>
              </a:spcBef>
              <a:spcAft>
                <a:spcPts val="0"/>
              </a:spcAft>
              <a:buClr>
                <a:srgbClr val="000000"/>
              </a:buClr>
              <a:buSzPts val="1600"/>
              <a:buFont typeface="Times New Roman"/>
              <a:buChar char="●"/>
            </a:pPr>
            <a:r>
              <a:rPr lang="en" sz="1600">
                <a:solidFill>
                  <a:srgbClr val="000000"/>
                </a:solidFill>
                <a:latin typeface="Times New Roman"/>
                <a:ea typeface="Times New Roman"/>
                <a:cs typeface="Times New Roman"/>
                <a:sym typeface="Times New Roman"/>
              </a:rPr>
              <a:t>Seasonal workforce plans Data to support.</a:t>
            </a:r>
            <a:endParaRPr sz="1600">
              <a:solidFill>
                <a:srgbClr val="000000"/>
              </a:solidFill>
              <a:latin typeface="Times New Roman"/>
              <a:ea typeface="Times New Roman"/>
              <a:cs typeface="Times New Roman"/>
              <a:sym typeface="Times New Roman"/>
            </a:endParaRPr>
          </a:p>
          <a:p>
            <a:pPr marL="457200" lvl="0" indent="-330200" algn="just" rtl="0">
              <a:lnSpc>
                <a:spcPct val="200000"/>
              </a:lnSpc>
              <a:spcBef>
                <a:spcPts val="0"/>
              </a:spcBef>
              <a:spcAft>
                <a:spcPts val="0"/>
              </a:spcAft>
              <a:buClr>
                <a:srgbClr val="000000"/>
              </a:buClr>
              <a:buSzPts val="1600"/>
              <a:buFont typeface="Times New Roman"/>
              <a:buChar char="●"/>
            </a:pPr>
            <a:r>
              <a:rPr lang="en" sz="1600">
                <a:solidFill>
                  <a:srgbClr val="000000"/>
                </a:solidFill>
                <a:latin typeface="Times New Roman"/>
                <a:ea typeface="Times New Roman"/>
                <a:cs typeface="Times New Roman"/>
                <a:sym typeface="Times New Roman"/>
              </a:rPr>
              <a:t>Using skill analysis to determine future workforce needs (Goswami and Mansi, 2025).</a:t>
            </a:r>
            <a:endParaRPr sz="1600">
              <a:solidFill>
                <a:srgbClr val="000000"/>
              </a:solidFill>
              <a:latin typeface="Times New Roman"/>
              <a:ea typeface="Times New Roman"/>
              <a:cs typeface="Times New Roman"/>
              <a:sym typeface="Times New Roman"/>
            </a:endParaRPr>
          </a:p>
          <a:p>
            <a:pPr marL="457200" lvl="0" indent="-330200" algn="just" rtl="0">
              <a:lnSpc>
                <a:spcPct val="200000"/>
              </a:lnSpc>
              <a:spcBef>
                <a:spcPts val="0"/>
              </a:spcBef>
              <a:spcAft>
                <a:spcPts val="0"/>
              </a:spcAft>
              <a:buClr>
                <a:srgbClr val="000000"/>
              </a:buClr>
              <a:buSzPts val="1600"/>
              <a:buFont typeface="Times New Roman"/>
              <a:buChar char="●"/>
            </a:pPr>
            <a:r>
              <a:rPr lang="en" sz="1600">
                <a:solidFill>
                  <a:srgbClr val="000000"/>
                </a:solidFill>
                <a:latin typeface="Times New Roman"/>
                <a:ea typeface="Times New Roman"/>
                <a:cs typeface="Times New Roman"/>
                <a:sym typeface="Times New Roman"/>
              </a:rPr>
              <a:t>Insights help better allocate staff among operations.</a:t>
            </a:r>
            <a:endParaRPr sz="1600">
              <a:solidFill>
                <a:srgbClr val="000000"/>
              </a:solidFill>
              <a:latin typeface="Times New Roman"/>
              <a:ea typeface="Times New Roman"/>
              <a:cs typeface="Times New Roman"/>
              <a:sym typeface="Times New Roman"/>
            </a:endParaRPr>
          </a:p>
        </p:txBody>
      </p:sp>
      <p:pic>
        <p:nvPicPr>
          <p:cNvPr id="86" name="Google Shape;86;p16"/>
          <p:cNvPicPr preferRelativeResize="0"/>
          <p:nvPr/>
        </p:nvPicPr>
        <p:blipFill>
          <a:blip r:embed="rId3">
            <a:alphaModFix/>
          </a:blip>
          <a:stretch>
            <a:fillRect/>
          </a:stretch>
        </p:blipFill>
        <p:spPr>
          <a:xfrm>
            <a:off x="0" y="935275"/>
            <a:ext cx="4321200" cy="420815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1" name="Google Shape;91;p17"/>
          <p:cNvSpPr txBox="1">
            <a:spLocks noGrp="1"/>
          </p:cNvSpPr>
          <p:nvPr>
            <p:ph type="title"/>
          </p:nvPr>
        </p:nvSpPr>
        <p:spPr>
          <a:xfrm>
            <a:off x="0" y="0"/>
            <a:ext cx="4321200" cy="9195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 b="1">
                <a:latin typeface="Times New Roman"/>
                <a:ea typeface="Times New Roman"/>
                <a:cs typeface="Times New Roman"/>
                <a:sym typeface="Times New Roman"/>
              </a:rPr>
              <a:t>Employee Engagement and Performance Analytics</a:t>
            </a:r>
            <a:endParaRPr b="1">
              <a:latin typeface="Times New Roman"/>
              <a:ea typeface="Times New Roman"/>
              <a:cs typeface="Times New Roman"/>
              <a:sym typeface="Times New Roman"/>
            </a:endParaRPr>
          </a:p>
        </p:txBody>
      </p:sp>
      <p:sp>
        <p:nvSpPr>
          <p:cNvPr id="92" name="Google Shape;92;p17"/>
          <p:cNvSpPr txBox="1">
            <a:spLocks noGrp="1"/>
          </p:cNvSpPr>
          <p:nvPr>
            <p:ph type="body" idx="1"/>
          </p:nvPr>
        </p:nvSpPr>
        <p:spPr>
          <a:xfrm>
            <a:off x="4321200" y="-75"/>
            <a:ext cx="4822800" cy="5143500"/>
          </a:xfrm>
          <a:prstGeom prst="rect">
            <a:avLst/>
          </a:prstGeom>
          <a:solidFill>
            <a:srgbClr val="A4C2F4"/>
          </a:solidFill>
        </p:spPr>
        <p:txBody>
          <a:bodyPr spcFirstLastPara="1" wrap="square" lIns="91425" tIns="91425" rIns="91425" bIns="91425" anchor="t" anchorCtr="0">
            <a:normAutofit/>
          </a:bodyPr>
          <a:lstStyle/>
          <a:p>
            <a:pPr marL="457200" lvl="0" indent="-330200" algn="just" rtl="0">
              <a:lnSpc>
                <a:spcPct val="200000"/>
              </a:lnSpc>
              <a:spcBef>
                <a:spcPts val="0"/>
              </a:spcBef>
              <a:spcAft>
                <a:spcPts val="0"/>
              </a:spcAft>
              <a:buClr>
                <a:srgbClr val="000000"/>
              </a:buClr>
              <a:buSzPts val="1600"/>
              <a:buFont typeface="Times New Roman"/>
              <a:buChar char="●"/>
            </a:pPr>
            <a:r>
              <a:rPr lang="en" sz="1600">
                <a:solidFill>
                  <a:srgbClr val="000000"/>
                </a:solidFill>
                <a:latin typeface="Times New Roman"/>
                <a:ea typeface="Times New Roman"/>
                <a:cs typeface="Times New Roman"/>
                <a:sym typeface="Times New Roman"/>
              </a:rPr>
              <a:t>Employee surveys are one way to gain data regarding the engagement of employees.</a:t>
            </a:r>
            <a:endParaRPr sz="1600">
              <a:solidFill>
                <a:srgbClr val="000000"/>
              </a:solidFill>
              <a:latin typeface="Times New Roman"/>
              <a:ea typeface="Times New Roman"/>
              <a:cs typeface="Times New Roman"/>
              <a:sym typeface="Times New Roman"/>
            </a:endParaRPr>
          </a:p>
          <a:p>
            <a:pPr marL="457200" lvl="0" indent="-330200" algn="just" rtl="0">
              <a:lnSpc>
                <a:spcPct val="200000"/>
              </a:lnSpc>
              <a:spcBef>
                <a:spcPts val="0"/>
              </a:spcBef>
              <a:spcAft>
                <a:spcPts val="0"/>
              </a:spcAft>
              <a:buClr>
                <a:srgbClr val="000000"/>
              </a:buClr>
              <a:buSzPts val="1600"/>
              <a:buFont typeface="Times New Roman"/>
              <a:buChar char="●"/>
            </a:pPr>
            <a:r>
              <a:rPr lang="en" sz="1600">
                <a:solidFill>
                  <a:srgbClr val="000000"/>
                </a:solidFill>
                <a:latin typeface="Times New Roman"/>
                <a:ea typeface="Times New Roman"/>
                <a:cs typeface="Times New Roman"/>
                <a:sym typeface="Times New Roman"/>
              </a:rPr>
              <a:t>Development opportunities are identified using performance data.</a:t>
            </a:r>
            <a:endParaRPr sz="1600">
              <a:solidFill>
                <a:srgbClr val="000000"/>
              </a:solidFill>
              <a:latin typeface="Times New Roman"/>
              <a:ea typeface="Times New Roman"/>
              <a:cs typeface="Times New Roman"/>
              <a:sym typeface="Times New Roman"/>
            </a:endParaRPr>
          </a:p>
          <a:p>
            <a:pPr marL="457200" lvl="0" indent="-330200" algn="just" rtl="0">
              <a:lnSpc>
                <a:spcPct val="200000"/>
              </a:lnSpc>
              <a:spcBef>
                <a:spcPts val="0"/>
              </a:spcBef>
              <a:spcAft>
                <a:spcPts val="0"/>
              </a:spcAft>
              <a:buClr>
                <a:srgbClr val="000000"/>
              </a:buClr>
              <a:buSzPts val="1600"/>
              <a:buFont typeface="Times New Roman"/>
              <a:buChar char="●"/>
            </a:pPr>
            <a:r>
              <a:rPr lang="en" sz="1600">
                <a:solidFill>
                  <a:srgbClr val="000000"/>
                </a:solidFill>
                <a:latin typeface="Times New Roman"/>
                <a:ea typeface="Times New Roman"/>
                <a:cs typeface="Times New Roman"/>
                <a:sym typeface="Times New Roman"/>
              </a:rPr>
              <a:t>Learning analytics is the assessment of the effectiveness of training (Yoon </a:t>
            </a:r>
            <a:r>
              <a:rPr lang="en" sz="1600" i="1">
                <a:solidFill>
                  <a:srgbClr val="000000"/>
                </a:solidFill>
                <a:latin typeface="Times New Roman"/>
                <a:ea typeface="Times New Roman"/>
                <a:cs typeface="Times New Roman"/>
                <a:sym typeface="Times New Roman"/>
              </a:rPr>
              <a:t>et al.,</a:t>
            </a:r>
            <a:r>
              <a:rPr lang="en" sz="1600">
                <a:solidFill>
                  <a:srgbClr val="000000"/>
                </a:solidFill>
                <a:latin typeface="Times New Roman"/>
                <a:ea typeface="Times New Roman"/>
                <a:cs typeface="Times New Roman"/>
                <a:sym typeface="Times New Roman"/>
              </a:rPr>
              <a:t> 2024).</a:t>
            </a:r>
            <a:endParaRPr sz="1600">
              <a:solidFill>
                <a:srgbClr val="000000"/>
              </a:solidFill>
              <a:latin typeface="Times New Roman"/>
              <a:ea typeface="Times New Roman"/>
              <a:cs typeface="Times New Roman"/>
              <a:sym typeface="Times New Roman"/>
            </a:endParaRPr>
          </a:p>
          <a:p>
            <a:pPr marL="457200" lvl="0" indent="-330200" algn="just" rtl="0">
              <a:lnSpc>
                <a:spcPct val="200000"/>
              </a:lnSpc>
              <a:spcBef>
                <a:spcPts val="0"/>
              </a:spcBef>
              <a:spcAft>
                <a:spcPts val="0"/>
              </a:spcAft>
              <a:buClr>
                <a:srgbClr val="000000"/>
              </a:buClr>
              <a:buSzPts val="1600"/>
              <a:buFont typeface="Times New Roman"/>
              <a:buChar char="●"/>
            </a:pPr>
            <a:r>
              <a:rPr lang="en" sz="1600">
                <a:solidFill>
                  <a:srgbClr val="000000"/>
                </a:solidFill>
                <a:latin typeface="Times New Roman"/>
                <a:ea typeface="Times New Roman"/>
                <a:cs typeface="Times New Roman"/>
                <a:sym typeface="Times New Roman"/>
              </a:rPr>
              <a:t>Employee retention is supported with workforce insights.</a:t>
            </a:r>
            <a:endParaRPr sz="1600">
              <a:solidFill>
                <a:srgbClr val="000000"/>
              </a:solidFill>
              <a:latin typeface="Times New Roman"/>
              <a:ea typeface="Times New Roman"/>
              <a:cs typeface="Times New Roman"/>
              <a:sym typeface="Times New Roman"/>
            </a:endParaRPr>
          </a:p>
          <a:p>
            <a:pPr marL="457200" lvl="0" indent="-330200" algn="just" rtl="0">
              <a:lnSpc>
                <a:spcPct val="200000"/>
              </a:lnSpc>
              <a:spcBef>
                <a:spcPts val="0"/>
              </a:spcBef>
              <a:spcAft>
                <a:spcPts val="0"/>
              </a:spcAft>
              <a:buClr>
                <a:srgbClr val="000000"/>
              </a:buClr>
              <a:buSzPts val="1600"/>
              <a:buFont typeface="Times New Roman"/>
              <a:buChar char="●"/>
            </a:pPr>
            <a:r>
              <a:rPr lang="en" sz="1600">
                <a:solidFill>
                  <a:srgbClr val="000000"/>
                </a:solidFill>
                <a:latin typeface="Times New Roman"/>
                <a:ea typeface="Times New Roman"/>
                <a:cs typeface="Times New Roman"/>
                <a:sym typeface="Times New Roman"/>
              </a:rPr>
              <a:t>The data is used to enhance the employee experience by managers.</a:t>
            </a:r>
            <a:endParaRPr sz="1600">
              <a:solidFill>
                <a:srgbClr val="000000"/>
              </a:solidFill>
              <a:latin typeface="Times New Roman"/>
              <a:ea typeface="Times New Roman"/>
              <a:cs typeface="Times New Roman"/>
              <a:sym typeface="Times New Roman"/>
            </a:endParaRPr>
          </a:p>
        </p:txBody>
      </p:sp>
      <p:pic>
        <p:nvPicPr>
          <p:cNvPr id="93" name="Google Shape;93;p17"/>
          <p:cNvPicPr preferRelativeResize="0"/>
          <p:nvPr/>
        </p:nvPicPr>
        <p:blipFill>
          <a:blip r:embed="rId3">
            <a:alphaModFix/>
          </a:blip>
          <a:stretch>
            <a:fillRect/>
          </a:stretch>
        </p:blipFill>
        <p:spPr>
          <a:xfrm>
            <a:off x="0" y="929850"/>
            <a:ext cx="4321200" cy="4213574"/>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sp>
        <p:nvSpPr>
          <p:cNvPr id="98" name="Google Shape;98;p18"/>
          <p:cNvSpPr txBox="1">
            <a:spLocks noGrp="1"/>
          </p:cNvSpPr>
          <p:nvPr>
            <p:ph type="title"/>
          </p:nvPr>
        </p:nvSpPr>
        <p:spPr>
          <a:xfrm>
            <a:off x="0" y="0"/>
            <a:ext cx="4321200" cy="9195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 b="1">
                <a:latin typeface="Times New Roman"/>
                <a:ea typeface="Times New Roman"/>
                <a:cs typeface="Times New Roman"/>
                <a:sym typeface="Times New Roman"/>
              </a:rPr>
              <a:t>Transforming Data into Information and Knowledge</a:t>
            </a:r>
            <a:endParaRPr b="1">
              <a:latin typeface="Times New Roman"/>
              <a:ea typeface="Times New Roman"/>
              <a:cs typeface="Times New Roman"/>
              <a:sym typeface="Times New Roman"/>
            </a:endParaRPr>
          </a:p>
        </p:txBody>
      </p:sp>
      <p:sp>
        <p:nvSpPr>
          <p:cNvPr id="99" name="Google Shape;99;p18"/>
          <p:cNvSpPr txBox="1">
            <a:spLocks noGrp="1"/>
          </p:cNvSpPr>
          <p:nvPr>
            <p:ph type="body" idx="1"/>
          </p:nvPr>
        </p:nvSpPr>
        <p:spPr>
          <a:xfrm>
            <a:off x="4321200" y="-75"/>
            <a:ext cx="4822800" cy="5143500"/>
          </a:xfrm>
          <a:prstGeom prst="rect">
            <a:avLst/>
          </a:prstGeom>
          <a:solidFill>
            <a:srgbClr val="B4A7D6"/>
          </a:solidFill>
        </p:spPr>
        <p:txBody>
          <a:bodyPr spcFirstLastPara="1" wrap="square" lIns="91425" tIns="91425" rIns="91425" bIns="91425" anchor="t" anchorCtr="0">
            <a:normAutofit fontScale="25000" lnSpcReduction="20000"/>
          </a:bodyPr>
          <a:lstStyle/>
          <a:p>
            <a:pPr marL="0" lvl="0" indent="0" algn="just" rtl="0">
              <a:spcBef>
                <a:spcPts val="0"/>
              </a:spcBef>
              <a:spcAft>
                <a:spcPts val="0"/>
              </a:spcAft>
              <a:buNone/>
            </a:pPr>
            <a:r>
              <a:rPr lang="en" sz="6400" b="1">
                <a:solidFill>
                  <a:srgbClr val="000000"/>
                </a:solidFill>
                <a:latin typeface="Times New Roman"/>
                <a:ea typeface="Times New Roman"/>
                <a:cs typeface="Times New Roman"/>
                <a:sym typeface="Times New Roman"/>
              </a:rPr>
              <a:t>Employee Data</a:t>
            </a:r>
            <a:endParaRPr sz="6400" b="1">
              <a:solidFill>
                <a:srgbClr val="000000"/>
              </a:solidFill>
              <a:latin typeface="Times New Roman"/>
              <a:ea typeface="Times New Roman"/>
              <a:cs typeface="Times New Roman"/>
              <a:sym typeface="Times New Roman"/>
            </a:endParaRPr>
          </a:p>
          <a:p>
            <a:pPr marL="457200" lvl="0" indent="-330200" algn="just" rtl="0">
              <a:spcBef>
                <a:spcPts val="1200"/>
              </a:spcBef>
              <a:spcAft>
                <a:spcPts val="0"/>
              </a:spcAft>
              <a:buClr>
                <a:srgbClr val="000000"/>
              </a:buClr>
              <a:buSzPct val="100000"/>
              <a:buFont typeface="Times New Roman"/>
              <a:buChar char="●"/>
            </a:pPr>
            <a:r>
              <a:rPr lang="en" sz="6400">
                <a:solidFill>
                  <a:srgbClr val="000000"/>
                </a:solidFill>
                <a:latin typeface="Times New Roman"/>
                <a:ea typeface="Times New Roman"/>
                <a:cs typeface="Times New Roman"/>
                <a:sym typeface="Times New Roman"/>
              </a:rPr>
              <a:t>Engagement scores</a:t>
            </a:r>
            <a:endParaRPr sz="6400">
              <a:solidFill>
                <a:srgbClr val="000000"/>
              </a:solidFill>
              <a:latin typeface="Times New Roman"/>
              <a:ea typeface="Times New Roman"/>
              <a:cs typeface="Times New Roman"/>
              <a:sym typeface="Times New Roman"/>
            </a:endParaRPr>
          </a:p>
          <a:p>
            <a:pPr marL="457200" lvl="0" indent="-330200" algn="just" rtl="0">
              <a:spcBef>
                <a:spcPts val="0"/>
              </a:spcBef>
              <a:spcAft>
                <a:spcPts val="0"/>
              </a:spcAft>
              <a:buClr>
                <a:srgbClr val="000000"/>
              </a:buClr>
              <a:buSzPct val="100000"/>
              <a:buFont typeface="Times New Roman"/>
              <a:buChar char="●"/>
            </a:pPr>
            <a:r>
              <a:rPr lang="en" sz="6400">
                <a:solidFill>
                  <a:srgbClr val="000000"/>
                </a:solidFill>
                <a:latin typeface="Times New Roman"/>
                <a:ea typeface="Times New Roman"/>
                <a:cs typeface="Times New Roman"/>
                <a:sym typeface="Times New Roman"/>
              </a:rPr>
              <a:t>Turnover information</a:t>
            </a:r>
            <a:endParaRPr sz="6400">
              <a:solidFill>
                <a:srgbClr val="000000"/>
              </a:solidFill>
              <a:latin typeface="Times New Roman"/>
              <a:ea typeface="Times New Roman"/>
              <a:cs typeface="Times New Roman"/>
              <a:sym typeface="Times New Roman"/>
            </a:endParaRPr>
          </a:p>
          <a:p>
            <a:pPr marL="457200" lvl="0" indent="-330200" algn="just" rtl="0">
              <a:spcBef>
                <a:spcPts val="0"/>
              </a:spcBef>
              <a:spcAft>
                <a:spcPts val="0"/>
              </a:spcAft>
              <a:buClr>
                <a:srgbClr val="000000"/>
              </a:buClr>
              <a:buSzPct val="100000"/>
              <a:buFont typeface="Times New Roman"/>
              <a:buChar char="●"/>
            </a:pPr>
            <a:r>
              <a:rPr lang="en" sz="6400">
                <a:solidFill>
                  <a:srgbClr val="000000"/>
                </a:solidFill>
                <a:latin typeface="Times New Roman"/>
                <a:ea typeface="Times New Roman"/>
                <a:cs typeface="Times New Roman"/>
                <a:sym typeface="Times New Roman"/>
              </a:rPr>
              <a:t>Attendance records</a:t>
            </a:r>
            <a:endParaRPr sz="6400">
              <a:solidFill>
                <a:srgbClr val="000000"/>
              </a:solidFill>
              <a:latin typeface="Times New Roman"/>
              <a:ea typeface="Times New Roman"/>
              <a:cs typeface="Times New Roman"/>
              <a:sym typeface="Times New Roman"/>
            </a:endParaRPr>
          </a:p>
          <a:p>
            <a:pPr marL="457200" lvl="0" indent="-330200" algn="just" rtl="0">
              <a:spcBef>
                <a:spcPts val="0"/>
              </a:spcBef>
              <a:spcAft>
                <a:spcPts val="0"/>
              </a:spcAft>
              <a:buClr>
                <a:srgbClr val="000000"/>
              </a:buClr>
              <a:buSzPct val="100000"/>
              <a:buFont typeface="Times New Roman"/>
              <a:buChar char="●"/>
            </a:pPr>
            <a:r>
              <a:rPr lang="en" sz="6400">
                <a:solidFill>
                  <a:srgbClr val="000000"/>
                </a:solidFill>
                <a:latin typeface="Times New Roman"/>
                <a:ea typeface="Times New Roman"/>
                <a:cs typeface="Times New Roman"/>
                <a:sym typeface="Times New Roman"/>
              </a:rPr>
              <a:t>Training participation</a:t>
            </a:r>
            <a:endParaRPr sz="6400">
              <a:solidFill>
                <a:srgbClr val="000000"/>
              </a:solidFill>
              <a:latin typeface="Times New Roman"/>
              <a:ea typeface="Times New Roman"/>
              <a:cs typeface="Times New Roman"/>
              <a:sym typeface="Times New Roman"/>
            </a:endParaRPr>
          </a:p>
          <a:p>
            <a:pPr marL="0" lvl="0" indent="0" algn="just" rtl="0">
              <a:spcBef>
                <a:spcPts val="1200"/>
              </a:spcBef>
              <a:spcAft>
                <a:spcPts val="0"/>
              </a:spcAft>
              <a:buNone/>
            </a:pPr>
            <a:r>
              <a:rPr lang="en" sz="6400">
                <a:solidFill>
                  <a:srgbClr val="000000"/>
                </a:solidFill>
                <a:latin typeface="Times New Roman"/>
                <a:ea typeface="Times New Roman"/>
                <a:cs typeface="Times New Roman"/>
                <a:sym typeface="Times New Roman"/>
              </a:rPr>
              <a:t>↓</a:t>
            </a:r>
            <a:endParaRPr sz="6400">
              <a:solidFill>
                <a:srgbClr val="000000"/>
              </a:solidFill>
              <a:latin typeface="Times New Roman"/>
              <a:ea typeface="Times New Roman"/>
              <a:cs typeface="Times New Roman"/>
              <a:sym typeface="Times New Roman"/>
            </a:endParaRPr>
          </a:p>
          <a:p>
            <a:pPr marL="0" lvl="0" indent="0" algn="just" rtl="0">
              <a:spcBef>
                <a:spcPts val="1200"/>
              </a:spcBef>
              <a:spcAft>
                <a:spcPts val="0"/>
              </a:spcAft>
              <a:buNone/>
            </a:pPr>
            <a:r>
              <a:rPr lang="en" sz="6400" b="1">
                <a:solidFill>
                  <a:srgbClr val="000000"/>
                </a:solidFill>
                <a:latin typeface="Times New Roman"/>
                <a:ea typeface="Times New Roman"/>
                <a:cs typeface="Times New Roman"/>
                <a:sym typeface="Times New Roman"/>
              </a:rPr>
              <a:t>Information</a:t>
            </a:r>
            <a:endParaRPr sz="6400" b="1">
              <a:solidFill>
                <a:srgbClr val="000000"/>
              </a:solidFill>
              <a:latin typeface="Times New Roman"/>
              <a:ea typeface="Times New Roman"/>
              <a:cs typeface="Times New Roman"/>
              <a:sym typeface="Times New Roman"/>
            </a:endParaRPr>
          </a:p>
          <a:p>
            <a:pPr marL="457200" lvl="0" indent="-330200" algn="just" rtl="0">
              <a:spcBef>
                <a:spcPts val="1200"/>
              </a:spcBef>
              <a:spcAft>
                <a:spcPts val="0"/>
              </a:spcAft>
              <a:buClr>
                <a:srgbClr val="000000"/>
              </a:buClr>
              <a:buSzPct val="100000"/>
              <a:buFont typeface="Times New Roman"/>
              <a:buChar char="●"/>
            </a:pPr>
            <a:r>
              <a:rPr lang="en" sz="6400">
                <a:solidFill>
                  <a:srgbClr val="000000"/>
                </a:solidFill>
                <a:latin typeface="Times New Roman"/>
                <a:ea typeface="Times New Roman"/>
                <a:cs typeface="Times New Roman"/>
                <a:sym typeface="Times New Roman"/>
              </a:rPr>
              <a:t>The nature or trends of employment</a:t>
            </a:r>
            <a:endParaRPr sz="6400">
              <a:solidFill>
                <a:srgbClr val="000000"/>
              </a:solidFill>
              <a:latin typeface="Times New Roman"/>
              <a:ea typeface="Times New Roman"/>
              <a:cs typeface="Times New Roman"/>
              <a:sym typeface="Times New Roman"/>
            </a:endParaRPr>
          </a:p>
          <a:p>
            <a:pPr marL="0" lvl="0" indent="0" algn="just" rtl="0">
              <a:spcBef>
                <a:spcPts val="1200"/>
              </a:spcBef>
              <a:spcAft>
                <a:spcPts val="0"/>
              </a:spcAft>
              <a:buNone/>
            </a:pPr>
            <a:r>
              <a:rPr lang="en" sz="6400">
                <a:solidFill>
                  <a:srgbClr val="000000"/>
                </a:solidFill>
                <a:latin typeface="Times New Roman"/>
                <a:ea typeface="Times New Roman"/>
                <a:cs typeface="Times New Roman"/>
                <a:sym typeface="Times New Roman"/>
              </a:rPr>
              <a:t>↓</a:t>
            </a:r>
            <a:endParaRPr sz="6400">
              <a:solidFill>
                <a:srgbClr val="000000"/>
              </a:solidFill>
              <a:latin typeface="Times New Roman"/>
              <a:ea typeface="Times New Roman"/>
              <a:cs typeface="Times New Roman"/>
              <a:sym typeface="Times New Roman"/>
            </a:endParaRPr>
          </a:p>
          <a:p>
            <a:pPr marL="0" lvl="0" indent="0" algn="just" rtl="0">
              <a:spcBef>
                <a:spcPts val="1200"/>
              </a:spcBef>
              <a:spcAft>
                <a:spcPts val="0"/>
              </a:spcAft>
              <a:buNone/>
            </a:pPr>
            <a:r>
              <a:rPr lang="en" sz="6400" b="1">
                <a:solidFill>
                  <a:srgbClr val="000000"/>
                </a:solidFill>
                <a:latin typeface="Times New Roman"/>
                <a:ea typeface="Times New Roman"/>
                <a:cs typeface="Times New Roman"/>
                <a:sym typeface="Times New Roman"/>
              </a:rPr>
              <a:t>Knowledge</a:t>
            </a:r>
            <a:endParaRPr sz="6400" b="1">
              <a:solidFill>
                <a:srgbClr val="000000"/>
              </a:solidFill>
              <a:latin typeface="Times New Roman"/>
              <a:ea typeface="Times New Roman"/>
              <a:cs typeface="Times New Roman"/>
              <a:sym typeface="Times New Roman"/>
            </a:endParaRPr>
          </a:p>
          <a:p>
            <a:pPr marL="457200" lvl="0" indent="-330200" algn="just" rtl="0">
              <a:spcBef>
                <a:spcPts val="1200"/>
              </a:spcBef>
              <a:spcAft>
                <a:spcPts val="0"/>
              </a:spcAft>
              <a:buClr>
                <a:srgbClr val="000000"/>
              </a:buClr>
              <a:buSzPct val="100000"/>
              <a:buFont typeface="Times New Roman"/>
              <a:buChar char="●"/>
            </a:pPr>
            <a:r>
              <a:rPr lang="en" sz="6400">
                <a:solidFill>
                  <a:srgbClr val="000000"/>
                </a:solidFill>
                <a:latin typeface="Times New Roman"/>
                <a:ea typeface="Times New Roman"/>
                <a:cs typeface="Times New Roman"/>
                <a:sym typeface="Times New Roman"/>
              </a:rPr>
              <a:t>Understanding employee issues</a:t>
            </a:r>
            <a:endParaRPr sz="6400">
              <a:solidFill>
                <a:srgbClr val="000000"/>
              </a:solidFill>
              <a:latin typeface="Times New Roman"/>
              <a:ea typeface="Times New Roman"/>
              <a:cs typeface="Times New Roman"/>
              <a:sym typeface="Times New Roman"/>
            </a:endParaRPr>
          </a:p>
          <a:p>
            <a:pPr marL="0" lvl="0" indent="0" algn="just" rtl="0">
              <a:spcBef>
                <a:spcPts val="1200"/>
              </a:spcBef>
              <a:spcAft>
                <a:spcPts val="0"/>
              </a:spcAft>
              <a:buNone/>
            </a:pPr>
            <a:r>
              <a:rPr lang="en" sz="6400">
                <a:solidFill>
                  <a:srgbClr val="000000"/>
                </a:solidFill>
                <a:latin typeface="Times New Roman"/>
                <a:ea typeface="Times New Roman"/>
                <a:cs typeface="Times New Roman"/>
                <a:sym typeface="Times New Roman"/>
              </a:rPr>
              <a:t>↓</a:t>
            </a:r>
            <a:endParaRPr sz="6400">
              <a:solidFill>
                <a:srgbClr val="000000"/>
              </a:solidFill>
              <a:latin typeface="Times New Roman"/>
              <a:ea typeface="Times New Roman"/>
              <a:cs typeface="Times New Roman"/>
              <a:sym typeface="Times New Roman"/>
            </a:endParaRPr>
          </a:p>
          <a:p>
            <a:pPr marL="0" lvl="0" indent="0" algn="just" rtl="0">
              <a:spcBef>
                <a:spcPts val="1200"/>
              </a:spcBef>
              <a:spcAft>
                <a:spcPts val="0"/>
              </a:spcAft>
              <a:buNone/>
            </a:pPr>
            <a:r>
              <a:rPr lang="en" sz="6400" b="1">
                <a:solidFill>
                  <a:srgbClr val="000000"/>
                </a:solidFill>
                <a:latin typeface="Times New Roman"/>
                <a:ea typeface="Times New Roman"/>
                <a:cs typeface="Times New Roman"/>
                <a:sym typeface="Times New Roman"/>
              </a:rPr>
              <a:t>Decision</a:t>
            </a:r>
            <a:endParaRPr sz="6400" b="1">
              <a:solidFill>
                <a:srgbClr val="000000"/>
              </a:solidFill>
              <a:latin typeface="Times New Roman"/>
              <a:ea typeface="Times New Roman"/>
              <a:cs typeface="Times New Roman"/>
              <a:sym typeface="Times New Roman"/>
            </a:endParaRPr>
          </a:p>
          <a:p>
            <a:pPr marL="457200" lvl="0" indent="-330200" algn="just" rtl="0">
              <a:spcBef>
                <a:spcPts val="1200"/>
              </a:spcBef>
              <a:spcAft>
                <a:spcPts val="0"/>
              </a:spcAft>
              <a:buClr>
                <a:srgbClr val="000000"/>
              </a:buClr>
              <a:buSzPct val="100000"/>
              <a:buFont typeface="Times New Roman"/>
              <a:buChar char="●"/>
            </a:pPr>
            <a:r>
              <a:rPr lang="en" sz="6400">
                <a:solidFill>
                  <a:srgbClr val="000000"/>
                </a:solidFill>
                <a:latin typeface="Times New Roman"/>
                <a:ea typeface="Times New Roman"/>
                <a:cs typeface="Times New Roman"/>
                <a:sym typeface="Times New Roman"/>
              </a:rPr>
              <a:t>Improved HR strategies</a:t>
            </a:r>
            <a:endParaRPr sz="6400">
              <a:solidFill>
                <a:srgbClr val="000000"/>
              </a:solidFill>
              <a:latin typeface="Times New Roman"/>
              <a:ea typeface="Times New Roman"/>
              <a:cs typeface="Times New Roman"/>
              <a:sym typeface="Times New Roman"/>
            </a:endParaRPr>
          </a:p>
          <a:p>
            <a:pPr marL="0" lvl="0" indent="0" algn="just" rtl="0">
              <a:spcBef>
                <a:spcPts val="1200"/>
              </a:spcBef>
              <a:spcAft>
                <a:spcPts val="1200"/>
              </a:spcAft>
              <a:buNone/>
            </a:pPr>
            <a:endParaRPr>
              <a:solidFill>
                <a:srgbClr val="000000"/>
              </a:solidFill>
              <a:latin typeface="Times New Roman"/>
              <a:ea typeface="Times New Roman"/>
              <a:cs typeface="Times New Roman"/>
              <a:sym typeface="Times New Roman"/>
            </a:endParaRPr>
          </a:p>
        </p:txBody>
      </p:sp>
      <p:pic>
        <p:nvPicPr>
          <p:cNvPr id="100" name="Google Shape;100;p18"/>
          <p:cNvPicPr preferRelativeResize="0"/>
          <p:nvPr/>
        </p:nvPicPr>
        <p:blipFill>
          <a:blip r:embed="rId3">
            <a:alphaModFix/>
          </a:blip>
          <a:stretch>
            <a:fillRect/>
          </a:stretch>
        </p:blipFill>
        <p:spPr>
          <a:xfrm>
            <a:off x="0" y="922375"/>
            <a:ext cx="4321200" cy="4221124"/>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5" name="Google Shape;105;p19"/>
          <p:cNvSpPr txBox="1">
            <a:spLocks noGrp="1"/>
          </p:cNvSpPr>
          <p:nvPr>
            <p:ph type="title"/>
          </p:nvPr>
        </p:nvSpPr>
        <p:spPr>
          <a:xfrm>
            <a:off x="0" y="0"/>
            <a:ext cx="4321200" cy="9195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 b="1">
                <a:latin typeface="Times New Roman"/>
                <a:ea typeface="Times New Roman"/>
                <a:cs typeface="Times New Roman"/>
                <a:sym typeface="Times New Roman"/>
              </a:rPr>
              <a:t>HR Information Systems and Decision Support</a:t>
            </a:r>
            <a:endParaRPr b="1">
              <a:latin typeface="Times New Roman"/>
              <a:ea typeface="Times New Roman"/>
              <a:cs typeface="Times New Roman"/>
              <a:sym typeface="Times New Roman"/>
            </a:endParaRPr>
          </a:p>
        </p:txBody>
      </p:sp>
      <p:sp>
        <p:nvSpPr>
          <p:cNvPr id="106" name="Google Shape;106;p19"/>
          <p:cNvSpPr txBox="1">
            <a:spLocks noGrp="1"/>
          </p:cNvSpPr>
          <p:nvPr>
            <p:ph type="body" idx="1"/>
          </p:nvPr>
        </p:nvSpPr>
        <p:spPr>
          <a:xfrm>
            <a:off x="4321200" y="-75"/>
            <a:ext cx="4822800" cy="5143500"/>
          </a:xfrm>
          <a:prstGeom prst="rect">
            <a:avLst/>
          </a:prstGeom>
          <a:solidFill>
            <a:srgbClr val="A2C4C9"/>
          </a:solidFill>
        </p:spPr>
        <p:txBody>
          <a:bodyPr spcFirstLastPara="1" wrap="square" lIns="91425" tIns="91425" rIns="91425" bIns="91425" anchor="t" anchorCtr="0">
            <a:normAutofit/>
          </a:bodyPr>
          <a:lstStyle/>
          <a:p>
            <a:pPr marL="457200" lvl="0" indent="-330200" algn="just" rtl="0">
              <a:lnSpc>
                <a:spcPct val="200000"/>
              </a:lnSpc>
              <a:spcBef>
                <a:spcPts val="0"/>
              </a:spcBef>
              <a:spcAft>
                <a:spcPts val="0"/>
              </a:spcAft>
              <a:buClr>
                <a:srgbClr val="000000"/>
              </a:buClr>
              <a:buSzPts val="1600"/>
              <a:buFont typeface="Times New Roman"/>
              <a:buChar char="●"/>
            </a:pPr>
            <a:r>
              <a:rPr lang="en" sz="1600">
                <a:solidFill>
                  <a:srgbClr val="000000"/>
                </a:solidFill>
                <a:latin typeface="Times New Roman"/>
                <a:ea typeface="Times New Roman"/>
                <a:cs typeface="Times New Roman"/>
                <a:sym typeface="Times New Roman"/>
              </a:rPr>
              <a:t>HR systems gather and build out employee data.</a:t>
            </a:r>
            <a:endParaRPr sz="1600">
              <a:solidFill>
                <a:srgbClr val="000000"/>
              </a:solidFill>
              <a:latin typeface="Times New Roman"/>
              <a:ea typeface="Times New Roman"/>
              <a:cs typeface="Times New Roman"/>
              <a:sym typeface="Times New Roman"/>
            </a:endParaRPr>
          </a:p>
          <a:p>
            <a:pPr marL="457200" lvl="0" indent="-330200" algn="just" rtl="0">
              <a:lnSpc>
                <a:spcPct val="200000"/>
              </a:lnSpc>
              <a:spcBef>
                <a:spcPts val="0"/>
              </a:spcBef>
              <a:spcAft>
                <a:spcPts val="0"/>
              </a:spcAft>
              <a:buClr>
                <a:srgbClr val="000000"/>
              </a:buClr>
              <a:buSzPts val="1600"/>
              <a:buFont typeface="Times New Roman"/>
              <a:buChar char="●"/>
            </a:pPr>
            <a:r>
              <a:rPr lang="en" sz="1600">
                <a:solidFill>
                  <a:srgbClr val="000000"/>
                </a:solidFill>
                <a:latin typeface="Times New Roman"/>
                <a:ea typeface="Times New Roman"/>
                <a:cs typeface="Times New Roman"/>
                <a:sym typeface="Times New Roman"/>
              </a:rPr>
              <a:t>Digital platforms help to enhance reporting accuracy (Soares </a:t>
            </a:r>
            <a:r>
              <a:rPr lang="en" sz="1600" i="1">
                <a:solidFill>
                  <a:srgbClr val="000000"/>
                </a:solidFill>
                <a:latin typeface="Times New Roman"/>
                <a:ea typeface="Times New Roman"/>
                <a:cs typeface="Times New Roman"/>
                <a:sym typeface="Times New Roman"/>
              </a:rPr>
              <a:t>et al.,</a:t>
            </a:r>
            <a:r>
              <a:rPr lang="en" sz="1600">
                <a:solidFill>
                  <a:srgbClr val="000000"/>
                </a:solidFill>
                <a:latin typeface="Times New Roman"/>
                <a:ea typeface="Times New Roman"/>
                <a:cs typeface="Times New Roman"/>
                <a:sym typeface="Times New Roman"/>
              </a:rPr>
              <a:t> 2022).</a:t>
            </a:r>
            <a:endParaRPr sz="1600">
              <a:solidFill>
                <a:srgbClr val="000000"/>
              </a:solidFill>
              <a:latin typeface="Times New Roman"/>
              <a:ea typeface="Times New Roman"/>
              <a:cs typeface="Times New Roman"/>
              <a:sym typeface="Times New Roman"/>
            </a:endParaRPr>
          </a:p>
          <a:p>
            <a:pPr marL="457200" lvl="0" indent="-330200" algn="just" rtl="0">
              <a:lnSpc>
                <a:spcPct val="200000"/>
              </a:lnSpc>
              <a:spcBef>
                <a:spcPts val="0"/>
              </a:spcBef>
              <a:spcAft>
                <a:spcPts val="0"/>
              </a:spcAft>
              <a:buClr>
                <a:srgbClr val="000000"/>
              </a:buClr>
              <a:buSzPts val="1600"/>
              <a:buFont typeface="Times New Roman"/>
              <a:buChar char="●"/>
            </a:pPr>
            <a:r>
              <a:rPr lang="en" sz="1600">
                <a:solidFill>
                  <a:srgbClr val="000000"/>
                </a:solidFill>
                <a:latin typeface="Times New Roman"/>
                <a:ea typeface="Times New Roman"/>
                <a:cs typeface="Times New Roman"/>
                <a:sym typeface="Times New Roman"/>
              </a:rPr>
              <a:t>Use dashboards to gain visibility into your workforce.</a:t>
            </a:r>
            <a:endParaRPr sz="1600">
              <a:solidFill>
                <a:srgbClr val="000000"/>
              </a:solidFill>
              <a:latin typeface="Times New Roman"/>
              <a:ea typeface="Times New Roman"/>
              <a:cs typeface="Times New Roman"/>
              <a:sym typeface="Times New Roman"/>
            </a:endParaRPr>
          </a:p>
          <a:p>
            <a:pPr marL="457200" lvl="0" indent="-330200" algn="just" rtl="0">
              <a:lnSpc>
                <a:spcPct val="200000"/>
              </a:lnSpc>
              <a:spcBef>
                <a:spcPts val="0"/>
              </a:spcBef>
              <a:spcAft>
                <a:spcPts val="0"/>
              </a:spcAft>
              <a:buClr>
                <a:srgbClr val="000000"/>
              </a:buClr>
              <a:buSzPts val="1600"/>
              <a:buFont typeface="Times New Roman"/>
              <a:buChar char="●"/>
            </a:pPr>
            <a:r>
              <a:rPr lang="en" sz="1600">
                <a:solidFill>
                  <a:srgbClr val="000000"/>
                </a:solidFill>
                <a:latin typeface="Times New Roman"/>
                <a:ea typeface="Times New Roman"/>
                <a:cs typeface="Times New Roman"/>
                <a:sym typeface="Times New Roman"/>
              </a:rPr>
              <a:t>Based on data, HR is able to make educated decisions.</a:t>
            </a:r>
            <a:endParaRPr sz="1600">
              <a:solidFill>
                <a:srgbClr val="000000"/>
              </a:solidFill>
              <a:latin typeface="Times New Roman"/>
              <a:ea typeface="Times New Roman"/>
              <a:cs typeface="Times New Roman"/>
              <a:sym typeface="Times New Roman"/>
            </a:endParaRPr>
          </a:p>
          <a:p>
            <a:pPr marL="457200" lvl="0" indent="-330200" algn="just" rtl="0">
              <a:lnSpc>
                <a:spcPct val="200000"/>
              </a:lnSpc>
              <a:spcBef>
                <a:spcPts val="0"/>
              </a:spcBef>
              <a:spcAft>
                <a:spcPts val="0"/>
              </a:spcAft>
              <a:buClr>
                <a:srgbClr val="000000"/>
              </a:buClr>
              <a:buSzPts val="1600"/>
              <a:buFont typeface="Times New Roman"/>
              <a:buChar char="●"/>
            </a:pPr>
            <a:r>
              <a:rPr lang="en" sz="1600">
                <a:solidFill>
                  <a:srgbClr val="000000"/>
                </a:solidFill>
                <a:latin typeface="Times New Roman"/>
                <a:ea typeface="Times New Roman"/>
                <a:cs typeface="Times New Roman"/>
                <a:sym typeface="Times New Roman"/>
              </a:rPr>
              <a:t>Information systems are aligned with HR activities and business goals.</a:t>
            </a:r>
            <a:endParaRPr sz="1600">
              <a:solidFill>
                <a:srgbClr val="000000"/>
              </a:solidFill>
              <a:latin typeface="Times New Roman"/>
              <a:ea typeface="Times New Roman"/>
              <a:cs typeface="Times New Roman"/>
              <a:sym typeface="Times New Roman"/>
            </a:endParaRPr>
          </a:p>
        </p:txBody>
      </p:sp>
      <p:pic>
        <p:nvPicPr>
          <p:cNvPr id="107" name="Google Shape;107;p19"/>
          <p:cNvPicPr preferRelativeResize="0"/>
          <p:nvPr/>
        </p:nvPicPr>
        <p:blipFill>
          <a:blip r:embed="rId3">
            <a:alphaModFix/>
          </a:blip>
          <a:stretch>
            <a:fillRect/>
          </a:stretch>
        </p:blipFill>
        <p:spPr>
          <a:xfrm>
            <a:off x="0" y="929850"/>
            <a:ext cx="4321199" cy="42136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20"/>
          <p:cNvSpPr txBox="1">
            <a:spLocks noGrp="1"/>
          </p:cNvSpPr>
          <p:nvPr>
            <p:ph type="title"/>
          </p:nvPr>
        </p:nvSpPr>
        <p:spPr>
          <a:xfrm>
            <a:off x="0" y="0"/>
            <a:ext cx="4321200" cy="9195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 b="1">
                <a:latin typeface="Times New Roman"/>
                <a:ea typeface="Times New Roman"/>
                <a:cs typeface="Times New Roman"/>
                <a:sym typeface="Times New Roman"/>
              </a:rPr>
              <a:t>People Analytics and Value Creation</a:t>
            </a:r>
            <a:endParaRPr b="1">
              <a:latin typeface="Times New Roman"/>
              <a:ea typeface="Times New Roman"/>
              <a:cs typeface="Times New Roman"/>
              <a:sym typeface="Times New Roman"/>
            </a:endParaRPr>
          </a:p>
        </p:txBody>
      </p:sp>
      <p:sp>
        <p:nvSpPr>
          <p:cNvPr id="113" name="Google Shape;113;p20"/>
          <p:cNvSpPr txBox="1">
            <a:spLocks noGrp="1"/>
          </p:cNvSpPr>
          <p:nvPr>
            <p:ph type="body" idx="1"/>
          </p:nvPr>
        </p:nvSpPr>
        <p:spPr>
          <a:xfrm>
            <a:off x="4321200" y="-75"/>
            <a:ext cx="4822800" cy="5143500"/>
          </a:xfrm>
          <a:prstGeom prst="rect">
            <a:avLst/>
          </a:prstGeom>
          <a:solidFill>
            <a:srgbClr val="6D9EEB"/>
          </a:solidFill>
        </p:spPr>
        <p:txBody>
          <a:bodyPr spcFirstLastPara="1" wrap="square" lIns="91425" tIns="91425" rIns="91425" bIns="91425" anchor="t" anchorCtr="0">
            <a:normAutofit/>
          </a:bodyPr>
          <a:lstStyle/>
          <a:p>
            <a:pPr marL="457200" lvl="0" indent="-330200" algn="just" rtl="0">
              <a:lnSpc>
                <a:spcPct val="200000"/>
              </a:lnSpc>
              <a:spcBef>
                <a:spcPts val="0"/>
              </a:spcBef>
              <a:spcAft>
                <a:spcPts val="0"/>
              </a:spcAft>
              <a:buClr>
                <a:srgbClr val="000000"/>
              </a:buClr>
              <a:buSzPts val="1600"/>
              <a:buFont typeface="Times New Roman"/>
              <a:buChar char="●"/>
            </a:pPr>
            <a:r>
              <a:rPr lang="en" sz="1600">
                <a:solidFill>
                  <a:srgbClr val="000000"/>
                </a:solidFill>
                <a:latin typeface="Times New Roman"/>
                <a:ea typeface="Times New Roman"/>
                <a:cs typeface="Times New Roman"/>
                <a:sym typeface="Times New Roman"/>
              </a:rPr>
              <a:t>Recognises the challenges and opportunities of the workforce.</a:t>
            </a:r>
            <a:endParaRPr sz="1600">
              <a:solidFill>
                <a:srgbClr val="000000"/>
              </a:solidFill>
              <a:latin typeface="Times New Roman"/>
              <a:ea typeface="Times New Roman"/>
              <a:cs typeface="Times New Roman"/>
              <a:sym typeface="Times New Roman"/>
            </a:endParaRPr>
          </a:p>
          <a:p>
            <a:pPr marL="457200" lvl="0" indent="-330200" algn="just" rtl="0">
              <a:lnSpc>
                <a:spcPct val="200000"/>
              </a:lnSpc>
              <a:spcBef>
                <a:spcPts val="0"/>
              </a:spcBef>
              <a:spcAft>
                <a:spcPts val="0"/>
              </a:spcAft>
              <a:buClr>
                <a:srgbClr val="000000"/>
              </a:buClr>
              <a:buSzPts val="1600"/>
              <a:buFont typeface="Times New Roman"/>
              <a:buChar char="●"/>
            </a:pPr>
            <a:r>
              <a:rPr lang="en" sz="1600">
                <a:solidFill>
                  <a:srgbClr val="000000"/>
                </a:solidFill>
                <a:latin typeface="Times New Roman"/>
                <a:ea typeface="Times New Roman"/>
                <a:cs typeface="Times New Roman"/>
                <a:sym typeface="Times New Roman"/>
              </a:rPr>
              <a:t>Helps with retaining employees.</a:t>
            </a:r>
            <a:endParaRPr sz="1600">
              <a:solidFill>
                <a:srgbClr val="000000"/>
              </a:solidFill>
              <a:latin typeface="Times New Roman"/>
              <a:ea typeface="Times New Roman"/>
              <a:cs typeface="Times New Roman"/>
              <a:sym typeface="Times New Roman"/>
            </a:endParaRPr>
          </a:p>
          <a:p>
            <a:pPr marL="457200" lvl="0" indent="-330200" algn="just" rtl="0">
              <a:lnSpc>
                <a:spcPct val="200000"/>
              </a:lnSpc>
              <a:spcBef>
                <a:spcPts val="0"/>
              </a:spcBef>
              <a:spcAft>
                <a:spcPts val="0"/>
              </a:spcAft>
              <a:buClr>
                <a:srgbClr val="000000"/>
              </a:buClr>
              <a:buSzPts val="1600"/>
              <a:buFont typeface="Times New Roman"/>
              <a:buChar char="●"/>
            </a:pPr>
            <a:r>
              <a:rPr lang="en" sz="1600">
                <a:solidFill>
                  <a:srgbClr val="000000"/>
                </a:solidFill>
                <a:latin typeface="Times New Roman"/>
                <a:ea typeface="Times New Roman"/>
                <a:cs typeface="Times New Roman"/>
                <a:sym typeface="Times New Roman"/>
              </a:rPr>
              <a:t>Enhances workforce productivity.</a:t>
            </a:r>
            <a:endParaRPr sz="1600">
              <a:solidFill>
                <a:srgbClr val="000000"/>
              </a:solidFill>
              <a:latin typeface="Times New Roman"/>
              <a:ea typeface="Times New Roman"/>
              <a:cs typeface="Times New Roman"/>
              <a:sym typeface="Times New Roman"/>
            </a:endParaRPr>
          </a:p>
          <a:p>
            <a:pPr marL="457200" lvl="0" indent="-330200" algn="just" rtl="0">
              <a:lnSpc>
                <a:spcPct val="200000"/>
              </a:lnSpc>
              <a:spcBef>
                <a:spcPts val="0"/>
              </a:spcBef>
              <a:spcAft>
                <a:spcPts val="0"/>
              </a:spcAft>
              <a:buClr>
                <a:srgbClr val="000000"/>
              </a:buClr>
              <a:buSzPts val="1600"/>
              <a:buFont typeface="Times New Roman"/>
              <a:buChar char="●"/>
            </a:pPr>
            <a:r>
              <a:rPr lang="en" sz="1600">
                <a:solidFill>
                  <a:srgbClr val="000000"/>
                </a:solidFill>
                <a:latin typeface="Times New Roman"/>
                <a:ea typeface="Times New Roman"/>
                <a:cs typeface="Times New Roman"/>
                <a:sym typeface="Times New Roman"/>
              </a:rPr>
              <a:t>Links work behaviours to organisational goals.</a:t>
            </a:r>
            <a:endParaRPr sz="1600">
              <a:solidFill>
                <a:srgbClr val="000000"/>
              </a:solidFill>
              <a:latin typeface="Times New Roman"/>
              <a:ea typeface="Times New Roman"/>
              <a:cs typeface="Times New Roman"/>
              <a:sym typeface="Times New Roman"/>
            </a:endParaRPr>
          </a:p>
          <a:p>
            <a:pPr marL="457200" lvl="0" indent="-330200" algn="just" rtl="0">
              <a:lnSpc>
                <a:spcPct val="200000"/>
              </a:lnSpc>
              <a:spcBef>
                <a:spcPts val="0"/>
              </a:spcBef>
              <a:spcAft>
                <a:spcPts val="0"/>
              </a:spcAft>
              <a:buClr>
                <a:srgbClr val="000000"/>
              </a:buClr>
              <a:buSzPts val="1600"/>
              <a:buFont typeface="Times New Roman"/>
              <a:buChar char="●"/>
            </a:pPr>
            <a:r>
              <a:rPr lang="en" sz="1600">
                <a:solidFill>
                  <a:srgbClr val="000000"/>
                </a:solidFill>
                <a:latin typeface="Times New Roman"/>
                <a:ea typeface="Times New Roman"/>
                <a:cs typeface="Times New Roman"/>
                <a:sym typeface="Times New Roman"/>
              </a:rPr>
              <a:t>A solution for effective workforce management to enhance customer service (Bonilla-Chaves and Palos-Sánchez, 2023).</a:t>
            </a:r>
            <a:endParaRPr sz="1600">
              <a:solidFill>
                <a:srgbClr val="000000"/>
              </a:solidFill>
              <a:latin typeface="Times New Roman"/>
              <a:ea typeface="Times New Roman"/>
              <a:cs typeface="Times New Roman"/>
              <a:sym typeface="Times New Roman"/>
            </a:endParaRPr>
          </a:p>
        </p:txBody>
      </p:sp>
      <p:pic>
        <p:nvPicPr>
          <p:cNvPr id="114" name="Google Shape;114;p20"/>
          <p:cNvPicPr preferRelativeResize="0"/>
          <p:nvPr/>
        </p:nvPicPr>
        <p:blipFill>
          <a:blip r:embed="rId3">
            <a:alphaModFix/>
          </a:blip>
          <a:stretch>
            <a:fillRect/>
          </a:stretch>
        </p:blipFill>
        <p:spPr>
          <a:xfrm>
            <a:off x="0" y="934692"/>
            <a:ext cx="4321200" cy="420872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8"/>
        <p:cNvGrpSpPr/>
        <p:nvPr/>
      </p:nvGrpSpPr>
      <p:grpSpPr>
        <a:xfrm>
          <a:off x="0" y="0"/>
          <a:ext cx="0" cy="0"/>
          <a:chOff x="0" y="0"/>
          <a:chExt cx="0" cy="0"/>
        </a:xfrm>
      </p:grpSpPr>
      <p:sp>
        <p:nvSpPr>
          <p:cNvPr id="119" name="Google Shape;119;p21"/>
          <p:cNvSpPr txBox="1">
            <a:spLocks noGrp="1"/>
          </p:cNvSpPr>
          <p:nvPr>
            <p:ph type="title"/>
          </p:nvPr>
        </p:nvSpPr>
        <p:spPr>
          <a:xfrm>
            <a:off x="0" y="0"/>
            <a:ext cx="4321200" cy="9195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 b="1">
                <a:latin typeface="Times New Roman"/>
                <a:ea typeface="Times New Roman"/>
                <a:cs typeface="Times New Roman"/>
                <a:sym typeface="Times New Roman"/>
              </a:rPr>
              <a:t>Organisational Agility Through People Analytics</a:t>
            </a:r>
            <a:endParaRPr b="1">
              <a:latin typeface="Times New Roman"/>
              <a:ea typeface="Times New Roman"/>
              <a:cs typeface="Times New Roman"/>
              <a:sym typeface="Times New Roman"/>
            </a:endParaRPr>
          </a:p>
        </p:txBody>
      </p:sp>
      <p:sp>
        <p:nvSpPr>
          <p:cNvPr id="120" name="Google Shape;120;p21"/>
          <p:cNvSpPr txBox="1">
            <a:spLocks noGrp="1"/>
          </p:cNvSpPr>
          <p:nvPr>
            <p:ph type="body" idx="1"/>
          </p:nvPr>
        </p:nvSpPr>
        <p:spPr>
          <a:xfrm>
            <a:off x="4321200" y="-75"/>
            <a:ext cx="4822800" cy="5143500"/>
          </a:xfrm>
          <a:prstGeom prst="rect">
            <a:avLst/>
          </a:prstGeom>
          <a:solidFill>
            <a:srgbClr val="B6D7A8"/>
          </a:solidFill>
        </p:spPr>
        <p:txBody>
          <a:bodyPr spcFirstLastPara="1" wrap="square" lIns="91425" tIns="91425" rIns="91425" bIns="91425" anchor="t" anchorCtr="0">
            <a:normAutofit/>
          </a:bodyPr>
          <a:lstStyle/>
          <a:p>
            <a:pPr marL="457200" lvl="0" indent="-330200" algn="just" rtl="0">
              <a:lnSpc>
                <a:spcPct val="200000"/>
              </a:lnSpc>
              <a:spcBef>
                <a:spcPts val="0"/>
              </a:spcBef>
              <a:spcAft>
                <a:spcPts val="0"/>
              </a:spcAft>
              <a:buClr>
                <a:srgbClr val="000000"/>
              </a:buClr>
              <a:buSzPts val="1600"/>
              <a:buFont typeface="Times New Roman"/>
              <a:buChar char="●"/>
            </a:pPr>
            <a:r>
              <a:rPr lang="en" sz="1600">
                <a:solidFill>
                  <a:srgbClr val="000000"/>
                </a:solidFill>
                <a:latin typeface="Times New Roman"/>
                <a:ea typeface="Times New Roman"/>
                <a:cs typeface="Times New Roman"/>
                <a:sym typeface="Times New Roman"/>
              </a:rPr>
              <a:t>Facilitates quicker provision of workforce decisions.</a:t>
            </a:r>
            <a:endParaRPr sz="1600">
              <a:solidFill>
                <a:srgbClr val="000000"/>
              </a:solidFill>
              <a:latin typeface="Times New Roman"/>
              <a:ea typeface="Times New Roman"/>
              <a:cs typeface="Times New Roman"/>
              <a:sym typeface="Times New Roman"/>
            </a:endParaRPr>
          </a:p>
          <a:p>
            <a:pPr marL="457200" lvl="0" indent="-330200" algn="just" rtl="0">
              <a:lnSpc>
                <a:spcPct val="200000"/>
              </a:lnSpc>
              <a:spcBef>
                <a:spcPts val="0"/>
              </a:spcBef>
              <a:spcAft>
                <a:spcPts val="0"/>
              </a:spcAft>
              <a:buClr>
                <a:srgbClr val="000000"/>
              </a:buClr>
              <a:buSzPts val="1600"/>
              <a:buFont typeface="Times New Roman"/>
              <a:buChar char="●"/>
            </a:pPr>
            <a:r>
              <a:rPr lang="en" sz="1600">
                <a:solidFill>
                  <a:srgbClr val="000000"/>
                </a:solidFill>
                <a:latin typeface="Times New Roman"/>
                <a:ea typeface="Times New Roman"/>
                <a:cs typeface="Times New Roman"/>
                <a:sym typeface="Times New Roman"/>
              </a:rPr>
              <a:t>Recognises employees' changing needs.</a:t>
            </a:r>
            <a:endParaRPr sz="1600">
              <a:solidFill>
                <a:srgbClr val="000000"/>
              </a:solidFill>
              <a:latin typeface="Times New Roman"/>
              <a:ea typeface="Times New Roman"/>
              <a:cs typeface="Times New Roman"/>
              <a:sym typeface="Times New Roman"/>
            </a:endParaRPr>
          </a:p>
          <a:p>
            <a:pPr marL="457200" lvl="0" indent="-330200" algn="just" rtl="0">
              <a:lnSpc>
                <a:spcPct val="200000"/>
              </a:lnSpc>
              <a:spcBef>
                <a:spcPts val="0"/>
              </a:spcBef>
              <a:spcAft>
                <a:spcPts val="0"/>
              </a:spcAft>
              <a:buClr>
                <a:srgbClr val="000000"/>
              </a:buClr>
              <a:buSzPts val="1600"/>
              <a:buFont typeface="Times New Roman"/>
              <a:buChar char="●"/>
            </a:pPr>
            <a:r>
              <a:rPr lang="en" sz="1600">
                <a:solidFill>
                  <a:srgbClr val="000000"/>
                </a:solidFill>
                <a:latin typeface="Times New Roman"/>
                <a:ea typeface="Times New Roman"/>
                <a:cs typeface="Times New Roman"/>
                <a:sym typeface="Times New Roman"/>
              </a:rPr>
              <a:t>Improves workforce flexibility.</a:t>
            </a:r>
            <a:endParaRPr sz="1600">
              <a:solidFill>
                <a:srgbClr val="000000"/>
              </a:solidFill>
              <a:latin typeface="Times New Roman"/>
              <a:ea typeface="Times New Roman"/>
              <a:cs typeface="Times New Roman"/>
              <a:sym typeface="Times New Roman"/>
            </a:endParaRPr>
          </a:p>
          <a:p>
            <a:pPr marL="457200" lvl="0" indent="-330200" algn="just" rtl="0">
              <a:lnSpc>
                <a:spcPct val="200000"/>
              </a:lnSpc>
              <a:spcBef>
                <a:spcPts val="0"/>
              </a:spcBef>
              <a:spcAft>
                <a:spcPts val="0"/>
              </a:spcAft>
              <a:buClr>
                <a:srgbClr val="000000"/>
              </a:buClr>
              <a:buSzPts val="1600"/>
              <a:buFont typeface="Times New Roman"/>
              <a:buChar char="●"/>
            </a:pPr>
            <a:r>
              <a:rPr lang="en" sz="1600">
                <a:solidFill>
                  <a:srgbClr val="000000"/>
                </a:solidFill>
                <a:latin typeface="Times New Roman"/>
                <a:ea typeface="Times New Roman"/>
                <a:cs typeface="Times New Roman"/>
                <a:sym typeface="Times New Roman"/>
              </a:rPr>
              <a:t>Supports change in the marketplace.</a:t>
            </a:r>
            <a:endParaRPr sz="1600">
              <a:solidFill>
                <a:srgbClr val="000000"/>
              </a:solidFill>
              <a:latin typeface="Times New Roman"/>
              <a:ea typeface="Times New Roman"/>
              <a:cs typeface="Times New Roman"/>
              <a:sym typeface="Times New Roman"/>
            </a:endParaRPr>
          </a:p>
          <a:p>
            <a:pPr marL="457200" lvl="0" indent="-330200" algn="just" rtl="0">
              <a:lnSpc>
                <a:spcPct val="200000"/>
              </a:lnSpc>
              <a:spcBef>
                <a:spcPts val="0"/>
              </a:spcBef>
              <a:spcAft>
                <a:spcPts val="0"/>
              </a:spcAft>
              <a:buClr>
                <a:srgbClr val="000000"/>
              </a:buClr>
              <a:buSzPts val="1600"/>
              <a:buFont typeface="Times New Roman"/>
              <a:buChar char="●"/>
            </a:pPr>
            <a:r>
              <a:rPr lang="en" sz="1600">
                <a:solidFill>
                  <a:srgbClr val="000000"/>
                </a:solidFill>
                <a:latin typeface="Times New Roman"/>
                <a:ea typeface="Times New Roman"/>
                <a:cs typeface="Times New Roman"/>
                <a:sym typeface="Times New Roman"/>
              </a:rPr>
              <a:t>Facilitates efficient resource utilisation (Vadithe and Kesari, 2025).</a:t>
            </a:r>
            <a:endParaRPr sz="1600">
              <a:solidFill>
                <a:srgbClr val="000000"/>
              </a:solidFill>
              <a:latin typeface="Times New Roman"/>
              <a:ea typeface="Times New Roman"/>
              <a:cs typeface="Times New Roman"/>
              <a:sym typeface="Times New Roman"/>
            </a:endParaRPr>
          </a:p>
        </p:txBody>
      </p:sp>
      <p:pic>
        <p:nvPicPr>
          <p:cNvPr id="121" name="Google Shape;121;p21"/>
          <p:cNvPicPr preferRelativeResize="0"/>
          <p:nvPr/>
        </p:nvPicPr>
        <p:blipFill>
          <a:blip r:embed="rId3">
            <a:alphaModFix/>
          </a:blip>
          <a:stretch>
            <a:fillRect/>
          </a:stretch>
        </p:blipFill>
        <p:spPr>
          <a:xfrm>
            <a:off x="0" y="935275"/>
            <a:ext cx="4321200" cy="420815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25"/>
        <p:cNvGrpSpPr/>
        <p:nvPr/>
      </p:nvGrpSpPr>
      <p:grpSpPr>
        <a:xfrm>
          <a:off x="0" y="0"/>
          <a:ext cx="0" cy="0"/>
          <a:chOff x="0" y="0"/>
          <a:chExt cx="0" cy="0"/>
        </a:xfrm>
      </p:grpSpPr>
      <p:sp>
        <p:nvSpPr>
          <p:cNvPr id="126" name="Google Shape;126;p22"/>
          <p:cNvSpPr txBox="1">
            <a:spLocks noGrp="1"/>
          </p:cNvSpPr>
          <p:nvPr>
            <p:ph type="title"/>
          </p:nvPr>
        </p:nvSpPr>
        <p:spPr>
          <a:xfrm>
            <a:off x="0" y="0"/>
            <a:ext cx="4321200" cy="9195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 b="1">
                <a:latin typeface="Times New Roman"/>
                <a:ea typeface="Times New Roman"/>
                <a:cs typeface="Times New Roman"/>
                <a:sym typeface="Times New Roman"/>
              </a:rPr>
              <a:t>Competitive Advantage Through People Analytics</a:t>
            </a:r>
            <a:endParaRPr b="1">
              <a:latin typeface="Times New Roman"/>
              <a:ea typeface="Times New Roman"/>
              <a:cs typeface="Times New Roman"/>
              <a:sym typeface="Times New Roman"/>
            </a:endParaRPr>
          </a:p>
        </p:txBody>
      </p:sp>
      <p:sp>
        <p:nvSpPr>
          <p:cNvPr id="127" name="Google Shape;127;p22"/>
          <p:cNvSpPr txBox="1">
            <a:spLocks noGrp="1"/>
          </p:cNvSpPr>
          <p:nvPr>
            <p:ph type="body" idx="1"/>
          </p:nvPr>
        </p:nvSpPr>
        <p:spPr>
          <a:xfrm>
            <a:off x="4321200" y="-75"/>
            <a:ext cx="4822800" cy="5143500"/>
          </a:xfrm>
          <a:prstGeom prst="rect">
            <a:avLst/>
          </a:prstGeom>
          <a:solidFill>
            <a:srgbClr val="EA9999"/>
          </a:solidFill>
        </p:spPr>
        <p:txBody>
          <a:bodyPr spcFirstLastPara="1" wrap="square" lIns="91425" tIns="91425" rIns="91425" bIns="91425" anchor="t" anchorCtr="0">
            <a:normAutofit/>
          </a:bodyPr>
          <a:lstStyle/>
          <a:p>
            <a:pPr marL="457200" lvl="0" indent="-330200" algn="just" rtl="0">
              <a:lnSpc>
                <a:spcPct val="200000"/>
              </a:lnSpc>
              <a:spcBef>
                <a:spcPts val="0"/>
              </a:spcBef>
              <a:spcAft>
                <a:spcPts val="0"/>
              </a:spcAft>
              <a:buClr>
                <a:srgbClr val="000000"/>
              </a:buClr>
              <a:buSzPts val="1600"/>
              <a:buFont typeface="Times New Roman"/>
              <a:buChar char="●"/>
            </a:pPr>
            <a:r>
              <a:rPr lang="en" sz="1600">
                <a:solidFill>
                  <a:srgbClr val="000000"/>
                </a:solidFill>
                <a:latin typeface="Times New Roman"/>
                <a:ea typeface="Times New Roman"/>
                <a:cs typeface="Times New Roman"/>
                <a:sym typeface="Times New Roman"/>
              </a:rPr>
              <a:t>Improves talent management practices.</a:t>
            </a:r>
            <a:endParaRPr sz="1600">
              <a:solidFill>
                <a:srgbClr val="000000"/>
              </a:solidFill>
              <a:latin typeface="Times New Roman"/>
              <a:ea typeface="Times New Roman"/>
              <a:cs typeface="Times New Roman"/>
              <a:sym typeface="Times New Roman"/>
            </a:endParaRPr>
          </a:p>
          <a:p>
            <a:pPr marL="457200" lvl="0" indent="-330200" algn="just" rtl="0">
              <a:lnSpc>
                <a:spcPct val="200000"/>
              </a:lnSpc>
              <a:spcBef>
                <a:spcPts val="0"/>
              </a:spcBef>
              <a:spcAft>
                <a:spcPts val="0"/>
              </a:spcAft>
              <a:buClr>
                <a:srgbClr val="000000"/>
              </a:buClr>
              <a:buSzPts val="1600"/>
              <a:buFont typeface="Times New Roman"/>
              <a:buChar char="●"/>
            </a:pPr>
            <a:r>
              <a:rPr lang="en" sz="1600">
                <a:solidFill>
                  <a:srgbClr val="000000"/>
                </a:solidFill>
                <a:latin typeface="Times New Roman"/>
                <a:ea typeface="Times New Roman"/>
                <a:cs typeface="Times New Roman"/>
                <a:sym typeface="Times New Roman"/>
              </a:rPr>
              <a:t>Increases staff retention and engagement.</a:t>
            </a:r>
            <a:endParaRPr sz="1600">
              <a:solidFill>
                <a:srgbClr val="000000"/>
              </a:solidFill>
              <a:latin typeface="Times New Roman"/>
              <a:ea typeface="Times New Roman"/>
              <a:cs typeface="Times New Roman"/>
              <a:sym typeface="Times New Roman"/>
            </a:endParaRPr>
          </a:p>
          <a:p>
            <a:pPr marL="457200" lvl="0" indent="-330200" algn="just" rtl="0">
              <a:lnSpc>
                <a:spcPct val="200000"/>
              </a:lnSpc>
              <a:spcBef>
                <a:spcPts val="0"/>
              </a:spcBef>
              <a:spcAft>
                <a:spcPts val="0"/>
              </a:spcAft>
              <a:buClr>
                <a:srgbClr val="000000"/>
              </a:buClr>
              <a:buSzPts val="1600"/>
              <a:buFont typeface="Times New Roman"/>
              <a:buChar char="●"/>
            </a:pPr>
            <a:r>
              <a:rPr lang="en" sz="1600">
                <a:solidFill>
                  <a:srgbClr val="000000"/>
                </a:solidFill>
                <a:latin typeface="Times New Roman"/>
                <a:ea typeface="Times New Roman"/>
                <a:cs typeface="Times New Roman"/>
                <a:sym typeface="Times New Roman"/>
              </a:rPr>
              <a:t>Implements innovation through workforce capability.</a:t>
            </a:r>
            <a:endParaRPr sz="1600">
              <a:solidFill>
                <a:srgbClr val="000000"/>
              </a:solidFill>
              <a:latin typeface="Times New Roman"/>
              <a:ea typeface="Times New Roman"/>
              <a:cs typeface="Times New Roman"/>
              <a:sym typeface="Times New Roman"/>
            </a:endParaRPr>
          </a:p>
          <a:p>
            <a:pPr marL="457200" lvl="0" indent="-330200" algn="just" rtl="0">
              <a:lnSpc>
                <a:spcPct val="200000"/>
              </a:lnSpc>
              <a:spcBef>
                <a:spcPts val="0"/>
              </a:spcBef>
              <a:spcAft>
                <a:spcPts val="0"/>
              </a:spcAft>
              <a:buClr>
                <a:srgbClr val="000000"/>
              </a:buClr>
              <a:buSzPts val="1600"/>
              <a:buFont typeface="Times New Roman"/>
              <a:buChar char="●"/>
            </a:pPr>
            <a:r>
              <a:rPr lang="en" sz="1600">
                <a:solidFill>
                  <a:srgbClr val="000000"/>
                </a:solidFill>
                <a:latin typeface="Times New Roman"/>
                <a:ea typeface="Times New Roman"/>
                <a:cs typeface="Times New Roman"/>
                <a:sym typeface="Times New Roman"/>
              </a:rPr>
              <a:t>Enhances operational effectiveness.</a:t>
            </a:r>
            <a:endParaRPr sz="1600">
              <a:solidFill>
                <a:srgbClr val="000000"/>
              </a:solidFill>
              <a:latin typeface="Times New Roman"/>
              <a:ea typeface="Times New Roman"/>
              <a:cs typeface="Times New Roman"/>
              <a:sym typeface="Times New Roman"/>
            </a:endParaRPr>
          </a:p>
          <a:p>
            <a:pPr marL="457200" lvl="0" indent="-330200" algn="just" rtl="0">
              <a:lnSpc>
                <a:spcPct val="200000"/>
              </a:lnSpc>
              <a:spcBef>
                <a:spcPts val="0"/>
              </a:spcBef>
              <a:spcAft>
                <a:spcPts val="0"/>
              </a:spcAft>
              <a:buClr>
                <a:srgbClr val="000000"/>
              </a:buClr>
              <a:buSzPts val="1600"/>
              <a:buFont typeface="Times New Roman"/>
              <a:buChar char="●"/>
            </a:pPr>
            <a:r>
              <a:rPr lang="en" sz="1600">
                <a:solidFill>
                  <a:srgbClr val="000000"/>
                </a:solidFill>
                <a:latin typeface="Times New Roman"/>
                <a:ea typeface="Times New Roman"/>
                <a:cs typeface="Times New Roman"/>
                <a:sym typeface="Times New Roman"/>
              </a:rPr>
              <a:t>Makes strategic use of human resources (Suri and Lakhanpal, 2024).</a:t>
            </a:r>
            <a:endParaRPr sz="1600">
              <a:solidFill>
                <a:srgbClr val="000000"/>
              </a:solidFill>
              <a:latin typeface="Times New Roman"/>
              <a:ea typeface="Times New Roman"/>
              <a:cs typeface="Times New Roman"/>
              <a:sym typeface="Times New Roman"/>
            </a:endParaRPr>
          </a:p>
        </p:txBody>
      </p:sp>
      <p:pic>
        <p:nvPicPr>
          <p:cNvPr id="128" name="Google Shape;128;p22"/>
          <p:cNvPicPr preferRelativeResize="0"/>
          <p:nvPr/>
        </p:nvPicPr>
        <p:blipFill>
          <a:blip r:embed="rId3">
            <a:alphaModFix/>
          </a:blip>
          <a:stretch>
            <a:fillRect/>
          </a:stretch>
        </p:blipFill>
        <p:spPr>
          <a:xfrm>
            <a:off x="0" y="922375"/>
            <a:ext cx="4321199" cy="422105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32"/>
        <p:cNvGrpSpPr/>
        <p:nvPr/>
      </p:nvGrpSpPr>
      <p:grpSpPr>
        <a:xfrm>
          <a:off x="0" y="0"/>
          <a:ext cx="0" cy="0"/>
          <a:chOff x="0" y="0"/>
          <a:chExt cx="0" cy="0"/>
        </a:xfrm>
      </p:grpSpPr>
      <p:sp>
        <p:nvSpPr>
          <p:cNvPr id="133" name="Google Shape;133;p23"/>
          <p:cNvSpPr txBox="1">
            <a:spLocks noGrp="1"/>
          </p:cNvSpPr>
          <p:nvPr>
            <p:ph type="title"/>
          </p:nvPr>
        </p:nvSpPr>
        <p:spPr>
          <a:xfrm>
            <a:off x="0" y="0"/>
            <a:ext cx="4321200" cy="9195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 b="1">
                <a:latin typeface="Times New Roman"/>
                <a:ea typeface="Times New Roman"/>
                <a:cs typeface="Times New Roman"/>
                <a:sym typeface="Times New Roman"/>
              </a:rPr>
              <a:t>Stakeholder Value Creation</a:t>
            </a:r>
            <a:endParaRPr b="1">
              <a:latin typeface="Times New Roman"/>
              <a:ea typeface="Times New Roman"/>
              <a:cs typeface="Times New Roman"/>
              <a:sym typeface="Times New Roman"/>
            </a:endParaRPr>
          </a:p>
        </p:txBody>
      </p:sp>
      <p:sp>
        <p:nvSpPr>
          <p:cNvPr id="134" name="Google Shape;134;p23"/>
          <p:cNvSpPr txBox="1">
            <a:spLocks noGrp="1"/>
          </p:cNvSpPr>
          <p:nvPr>
            <p:ph type="body" idx="1"/>
          </p:nvPr>
        </p:nvSpPr>
        <p:spPr>
          <a:xfrm>
            <a:off x="4321200" y="-75"/>
            <a:ext cx="4822800" cy="5143500"/>
          </a:xfrm>
          <a:prstGeom prst="rect">
            <a:avLst/>
          </a:prstGeom>
        </p:spPr>
        <p:txBody>
          <a:bodyPr spcFirstLastPara="1" wrap="square" lIns="91425" tIns="91425" rIns="91425" bIns="91425" anchor="t" anchorCtr="0">
            <a:normAutofit/>
          </a:bodyPr>
          <a:lstStyle/>
          <a:p>
            <a:pPr marL="0" lvl="0" indent="0" algn="just" rtl="0">
              <a:spcBef>
                <a:spcPts val="0"/>
              </a:spcBef>
              <a:spcAft>
                <a:spcPts val="0"/>
              </a:spcAft>
              <a:buNone/>
            </a:pPr>
            <a:endParaRPr sz="1200">
              <a:solidFill>
                <a:srgbClr val="000000"/>
              </a:solidFill>
              <a:latin typeface="Times New Roman"/>
              <a:ea typeface="Times New Roman"/>
              <a:cs typeface="Times New Roman"/>
              <a:sym typeface="Times New Roman"/>
            </a:endParaRPr>
          </a:p>
          <a:p>
            <a:pPr marL="0" lvl="0" indent="0" algn="l" rtl="0">
              <a:spcBef>
                <a:spcPts val="0"/>
              </a:spcBef>
              <a:spcAft>
                <a:spcPts val="1200"/>
              </a:spcAft>
              <a:buNone/>
            </a:pPr>
            <a:endParaRPr/>
          </a:p>
        </p:txBody>
      </p:sp>
      <p:pic>
        <p:nvPicPr>
          <p:cNvPr id="135" name="Google Shape;135;p23"/>
          <p:cNvPicPr preferRelativeResize="0"/>
          <p:nvPr/>
        </p:nvPicPr>
        <p:blipFill>
          <a:blip r:embed="rId3">
            <a:alphaModFix/>
          </a:blip>
          <a:stretch>
            <a:fillRect/>
          </a:stretch>
        </p:blipFill>
        <p:spPr>
          <a:xfrm>
            <a:off x="0" y="937325"/>
            <a:ext cx="4321200" cy="4206101"/>
          </a:xfrm>
          <a:prstGeom prst="rect">
            <a:avLst/>
          </a:prstGeom>
          <a:noFill/>
          <a:ln>
            <a:noFill/>
          </a:ln>
        </p:spPr>
      </p:pic>
      <p:graphicFrame>
        <p:nvGraphicFramePr>
          <p:cNvPr id="136" name="Google Shape;136;p23"/>
          <p:cNvGraphicFramePr/>
          <p:nvPr/>
        </p:nvGraphicFramePr>
        <p:xfrm>
          <a:off x="4321200" y="0"/>
          <a:ext cx="3000000" cy="3000000"/>
        </p:xfrm>
        <a:graphic>
          <a:graphicData uri="http://schemas.openxmlformats.org/drawingml/2006/table">
            <a:tbl>
              <a:tblPr>
                <a:noFill/>
                <a:tableStyleId>{E39C8DE0-C07B-4A0A-9976-AC201BF9D326}</a:tableStyleId>
              </a:tblPr>
              <a:tblGrid>
                <a:gridCol w="2411400">
                  <a:extLst>
                    <a:ext uri="{9D8B030D-6E8A-4147-A177-3AD203B41FA5}">
                      <a16:colId xmlns:a16="http://schemas.microsoft.com/office/drawing/2014/main" val="20000"/>
                    </a:ext>
                  </a:extLst>
                </a:gridCol>
                <a:gridCol w="2411400">
                  <a:extLst>
                    <a:ext uri="{9D8B030D-6E8A-4147-A177-3AD203B41FA5}">
                      <a16:colId xmlns:a16="http://schemas.microsoft.com/office/drawing/2014/main" val="20001"/>
                    </a:ext>
                  </a:extLst>
                </a:gridCol>
              </a:tblGrid>
              <a:tr h="877825">
                <a:tc>
                  <a:txBody>
                    <a:bodyPr/>
                    <a:lstStyle/>
                    <a:p>
                      <a:pPr marL="0" lvl="0" indent="0" algn="ctr" rtl="0">
                        <a:lnSpc>
                          <a:spcPct val="115000"/>
                        </a:lnSpc>
                        <a:spcBef>
                          <a:spcPts val="0"/>
                        </a:spcBef>
                        <a:spcAft>
                          <a:spcPts val="0"/>
                        </a:spcAft>
                        <a:buNone/>
                      </a:pPr>
                      <a:r>
                        <a:rPr lang="en" sz="2000" b="1">
                          <a:latin typeface="Times New Roman"/>
                          <a:ea typeface="Times New Roman"/>
                          <a:cs typeface="Times New Roman"/>
                          <a:sym typeface="Times New Roman"/>
                        </a:rPr>
                        <a:t>Stakeholder</a:t>
                      </a:r>
                      <a:endParaRPr sz="2200"/>
                    </a:p>
                  </a:txBody>
                  <a:tcPr marL="91425" marR="91425" marT="91425" marB="91425"/>
                </a:tc>
                <a:tc>
                  <a:txBody>
                    <a:bodyPr/>
                    <a:lstStyle/>
                    <a:p>
                      <a:pPr marL="0" lvl="0" indent="0" algn="ctr" rtl="0">
                        <a:lnSpc>
                          <a:spcPct val="115000"/>
                        </a:lnSpc>
                        <a:spcBef>
                          <a:spcPts val="0"/>
                        </a:spcBef>
                        <a:spcAft>
                          <a:spcPts val="0"/>
                        </a:spcAft>
                        <a:buNone/>
                      </a:pPr>
                      <a:r>
                        <a:rPr lang="en" sz="2000" b="1">
                          <a:latin typeface="Times New Roman"/>
                          <a:ea typeface="Times New Roman"/>
                          <a:cs typeface="Times New Roman"/>
                          <a:sym typeface="Times New Roman"/>
                        </a:rPr>
                        <a:t>Value Created</a:t>
                      </a:r>
                      <a:endParaRPr sz="2000"/>
                    </a:p>
                  </a:txBody>
                  <a:tcPr marL="91425" marR="91425" marT="91425" marB="91425"/>
                </a:tc>
                <a:extLst>
                  <a:ext uri="{0D108BD9-81ED-4DB2-BD59-A6C34878D82A}">
                    <a16:rowId xmlns:a16="http://schemas.microsoft.com/office/drawing/2014/main" val="10000"/>
                  </a:ext>
                </a:extLst>
              </a:tr>
              <a:tr h="844175">
                <a:tc>
                  <a:txBody>
                    <a:bodyPr/>
                    <a:lstStyle/>
                    <a:p>
                      <a:pPr marL="0" lvl="0" indent="0" algn="ctr" rtl="0">
                        <a:lnSpc>
                          <a:spcPct val="115000"/>
                        </a:lnSpc>
                        <a:spcBef>
                          <a:spcPts val="0"/>
                        </a:spcBef>
                        <a:spcAft>
                          <a:spcPts val="0"/>
                        </a:spcAft>
                        <a:buNone/>
                      </a:pPr>
                      <a:r>
                        <a:rPr lang="en" sz="1600">
                          <a:latin typeface="Times New Roman"/>
                          <a:ea typeface="Times New Roman"/>
                          <a:cs typeface="Times New Roman"/>
                          <a:sym typeface="Times New Roman"/>
                        </a:rPr>
                        <a:t>Employees</a:t>
                      </a:r>
                      <a:endParaRPr sz="1800"/>
                    </a:p>
                  </a:txBody>
                  <a:tcPr marL="91425" marR="91425" marT="91425" marB="91425"/>
                </a:tc>
                <a:tc>
                  <a:txBody>
                    <a:bodyPr/>
                    <a:lstStyle/>
                    <a:p>
                      <a:pPr marL="0" lvl="0" indent="0" algn="ctr" rtl="0">
                        <a:lnSpc>
                          <a:spcPct val="115000"/>
                        </a:lnSpc>
                        <a:spcBef>
                          <a:spcPts val="0"/>
                        </a:spcBef>
                        <a:spcAft>
                          <a:spcPts val="0"/>
                        </a:spcAft>
                        <a:buNone/>
                      </a:pPr>
                      <a:r>
                        <a:rPr lang="en" sz="1600">
                          <a:latin typeface="Times New Roman"/>
                          <a:ea typeface="Times New Roman"/>
                          <a:cs typeface="Times New Roman"/>
                          <a:sym typeface="Times New Roman"/>
                        </a:rPr>
                        <a:t>Development and improved experience</a:t>
                      </a:r>
                      <a:endParaRPr sz="1600"/>
                    </a:p>
                  </a:txBody>
                  <a:tcPr marL="91425" marR="91425" marT="91425" marB="91425"/>
                </a:tc>
                <a:extLst>
                  <a:ext uri="{0D108BD9-81ED-4DB2-BD59-A6C34878D82A}">
                    <a16:rowId xmlns:a16="http://schemas.microsoft.com/office/drawing/2014/main" val="10001"/>
                  </a:ext>
                </a:extLst>
              </a:tr>
              <a:tr h="844175">
                <a:tc>
                  <a:txBody>
                    <a:bodyPr/>
                    <a:lstStyle/>
                    <a:p>
                      <a:pPr marL="0" lvl="0" indent="0" algn="ctr" rtl="0">
                        <a:lnSpc>
                          <a:spcPct val="115000"/>
                        </a:lnSpc>
                        <a:spcBef>
                          <a:spcPts val="0"/>
                        </a:spcBef>
                        <a:spcAft>
                          <a:spcPts val="0"/>
                        </a:spcAft>
                        <a:buNone/>
                      </a:pPr>
                      <a:r>
                        <a:rPr lang="en" sz="1600">
                          <a:latin typeface="Times New Roman"/>
                          <a:ea typeface="Times New Roman"/>
                          <a:cs typeface="Times New Roman"/>
                          <a:sym typeface="Times New Roman"/>
                        </a:rPr>
                        <a:t>Managers</a:t>
                      </a:r>
                      <a:endParaRPr sz="1600"/>
                    </a:p>
                  </a:txBody>
                  <a:tcPr marL="91425" marR="91425" marT="91425" marB="91425"/>
                </a:tc>
                <a:tc>
                  <a:txBody>
                    <a:bodyPr/>
                    <a:lstStyle/>
                    <a:p>
                      <a:pPr marL="0" lvl="0" indent="0" algn="ctr" rtl="0">
                        <a:lnSpc>
                          <a:spcPct val="115000"/>
                        </a:lnSpc>
                        <a:spcBef>
                          <a:spcPts val="0"/>
                        </a:spcBef>
                        <a:spcAft>
                          <a:spcPts val="0"/>
                        </a:spcAft>
                        <a:buNone/>
                      </a:pPr>
                      <a:r>
                        <a:rPr lang="en" sz="1600">
                          <a:latin typeface="Times New Roman"/>
                          <a:ea typeface="Times New Roman"/>
                          <a:cs typeface="Times New Roman"/>
                          <a:sym typeface="Times New Roman"/>
                        </a:rPr>
                        <a:t>Better workforce decisions</a:t>
                      </a:r>
                      <a:endParaRPr sz="1600"/>
                    </a:p>
                  </a:txBody>
                  <a:tcPr marL="91425" marR="91425" marT="91425" marB="91425"/>
                </a:tc>
                <a:extLst>
                  <a:ext uri="{0D108BD9-81ED-4DB2-BD59-A6C34878D82A}">
                    <a16:rowId xmlns:a16="http://schemas.microsoft.com/office/drawing/2014/main" val="10002"/>
                  </a:ext>
                </a:extLst>
              </a:tr>
              <a:tr h="844175">
                <a:tc>
                  <a:txBody>
                    <a:bodyPr/>
                    <a:lstStyle/>
                    <a:p>
                      <a:pPr marL="0" lvl="0" indent="0" algn="ctr" rtl="0">
                        <a:lnSpc>
                          <a:spcPct val="115000"/>
                        </a:lnSpc>
                        <a:spcBef>
                          <a:spcPts val="0"/>
                        </a:spcBef>
                        <a:spcAft>
                          <a:spcPts val="0"/>
                        </a:spcAft>
                        <a:buNone/>
                      </a:pPr>
                      <a:r>
                        <a:rPr lang="en" sz="1600">
                          <a:latin typeface="Times New Roman"/>
                          <a:ea typeface="Times New Roman"/>
                          <a:cs typeface="Times New Roman"/>
                          <a:sym typeface="Times New Roman"/>
                        </a:rPr>
                        <a:t>Customers</a:t>
                      </a:r>
                      <a:endParaRPr sz="1600"/>
                    </a:p>
                  </a:txBody>
                  <a:tcPr marL="91425" marR="91425" marT="91425" marB="91425"/>
                </a:tc>
                <a:tc>
                  <a:txBody>
                    <a:bodyPr/>
                    <a:lstStyle/>
                    <a:p>
                      <a:pPr marL="0" lvl="0" indent="0" algn="ctr" rtl="0">
                        <a:lnSpc>
                          <a:spcPct val="115000"/>
                        </a:lnSpc>
                        <a:spcBef>
                          <a:spcPts val="0"/>
                        </a:spcBef>
                        <a:spcAft>
                          <a:spcPts val="0"/>
                        </a:spcAft>
                        <a:buNone/>
                      </a:pPr>
                      <a:r>
                        <a:rPr lang="en" sz="1600">
                          <a:latin typeface="Times New Roman"/>
                          <a:ea typeface="Times New Roman"/>
                          <a:cs typeface="Times New Roman"/>
                          <a:sym typeface="Times New Roman"/>
                        </a:rPr>
                        <a:t>Improved service quality</a:t>
                      </a:r>
                      <a:endParaRPr sz="1600"/>
                    </a:p>
                  </a:txBody>
                  <a:tcPr marL="91425" marR="91425" marT="91425" marB="91425"/>
                </a:tc>
                <a:extLst>
                  <a:ext uri="{0D108BD9-81ED-4DB2-BD59-A6C34878D82A}">
                    <a16:rowId xmlns:a16="http://schemas.microsoft.com/office/drawing/2014/main" val="10003"/>
                  </a:ext>
                </a:extLst>
              </a:tr>
              <a:tr h="844175">
                <a:tc>
                  <a:txBody>
                    <a:bodyPr/>
                    <a:lstStyle/>
                    <a:p>
                      <a:pPr marL="0" lvl="0" indent="0" algn="ctr" rtl="0">
                        <a:lnSpc>
                          <a:spcPct val="115000"/>
                        </a:lnSpc>
                        <a:spcBef>
                          <a:spcPts val="0"/>
                        </a:spcBef>
                        <a:spcAft>
                          <a:spcPts val="0"/>
                        </a:spcAft>
                        <a:buNone/>
                      </a:pPr>
                      <a:r>
                        <a:rPr lang="en" sz="1600">
                          <a:latin typeface="Times New Roman"/>
                          <a:ea typeface="Times New Roman"/>
                          <a:cs typeface="Times New Roman"/>
                          <a:sym typeface="Times New Roman"/>
                        </a:rPr>
                        <a:t>Organisation</a:t>
                      </a:r>
                      <a:endParaRPr sz="1600"/>
                    </a:p>
                  </a:txBody>
                  <a:tcPr marL="91425" marR="91425" marT="91425" marB="91425"/>
                </a:tc>
                <a:tc>
                  <a:txBody>
                    <a:bodyPr/>
                    <a:lstStyle/>
                    <a:p>
                      <a:pPr marL="0" lvl="0" indent="0" algn="ctr" rtl="0">
                        <a:lnSpc>
                          <a:spcPct val="115000"/>
                        </a:lnSpc>
                        <a:spcBef>
                          <a:spcPts val="0"/>
                        </a:spcBef>
                        <a:spcAft>
                          <a:spcPts val="0"/>
                        </a:spcAft>
                        <a:buNone/>
                      </a:pPr>
                      <a:r>
                        <a:rPr lang="en" sz="1600">
                          <a:latin typeface="Times New Roman"/>
                          <a:ea typeface="Times New Roman"/>
                          <a:cs typeface="Times New Roman"/>
                          <a:sym typeface="Times New Roman"/>
                        </a:rPr>
                        <a:t>Productivity and retention</a:t>
                      </a:r>
                      <a:endParaRPr sz="1600"/>
                    </a:p>
                  </a:txBody>
                  <a:tcPr marL="91425" marR="91425" marT="91425" marB="91425"/>
                </a:tc>
                <a:extLst>
                  <a:ext uri="{0D108BD9-81ED-4DB2-BD59-A6C34878D82A}">
                    <a16:rowId xmlns:a16="http://schemas.microsoft.com/office/drawing/2014/main" val="10004"/>
                  </a:ext>
                </a:extLst>
              </a:tr>
              <a:tr h="844175">
                <a:tc>
                  <a:txBody>
                    <a:bodyPr/>
                    <a:lstStyle/>
                    <a:p>
                      <a:pPr marL="0" lvl="0" indent="0" algn="ctr" rtl="0">
                        <a:lnSpc>
                          <a:spcPct val="115000"/>
                        </a:lnSpc>
                        <a:spcBef>
                          <a:spcPts val="0"/>
                        </a:spcBef>
                        <a:spcAft>
                          <a:spcPts val="0"/>
                        </a:spcAft>
                        <a:buNone/>
                      </a:pPr>
                      <a:r>
                        <a:rPr lang="en" sz="1600">
                          <a:latin typeface="Times New Roman"/>
                          <a:ea typeface="Times New Roman"/>
                          <a:cs typeface="Times New Roman"/>
                          <a:sym typeface="Times New Roman"/>
                        </a:rPr>
                        <a:t>Investors</a:t>
                      </a:r>
                      <a:endParaRPr sz="1600"/>
                    </a:p>
                  </a:txBody>
                  <a:tcPr marL="91425" marR="91425" marT="91425" marB="91425"/>
                </a:tc>
                <a:tc>
                  <a:txBody>
                    <a:bodyPr/>
                    <a:lstStyle/>
                    <a:p>
                      <a:pPr marL="0" lvl="0" indent="0" algn="ctr" rtl="0">
                        <a:lnSpc>
                          <a:spcPct val="115000"/>
                        </a:lnSpc>
                        <a:spcBef>
                          <a:spcPts val="0"/>
                        </a:spcBef>
                        <a:spcAft>
                          <a:spcPts val="0"/>
                        </a:spcAft>
                        <a:buNone/>
                      </a:pPr>
                      <a:r>
                        <a:rPr lang="en" sz="1600" dirty="0">
                          <a:latin typeface="Times New Roman"/>
                          <a:ea typeface="Times New Roman"/>
                          <a:cs typeface="Times New Roman"/>
                          <a:sym typeface="Times New Roman"/>
                        </a:rPr>
                        <a:t>Sustainable performance</a:t>
                      </a:r>
                      <a:endParaRPr sz="1600" dirty="0"/>
                    </a:p>
                  </a:txBody>
                  <a:tcPr marL="91425" marR="91425" marT="91425" marB="91425"/>
                </a:tc>
                <a:extLst>
                  <a:ext uri="{0D108BD9-81ED-4DB2-BD59-A6C34878D82A}">
                    <a16:rowId xmlns:a16="http://schemas.microsoft.com/office/drawing/2014/main" val="10005"/>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sp>
        <p:nvSpPr>
          <p:cNvPr id="141" name="Google Shape;141;p24"/>
          <p:cNvSpPr txBox="1">
            <a:spLocks noGrp="1"/>
          </p:cNvSpPr>
          <p:nvPr>
            <p:ph type="title"/>
          </p:nvPr>
        </p:nvSpPr>
        <p:spPr>
          <a:xfrm>
            <a:off x="0" y="0"/>
            <a:ext cx="4321200" cy="9195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r>
              <a:rPr lang="en" sz="2500" b="1">
                <a:latin typeface="Times New Roman"/>
                <a:ea typeface="Times New Roman"/>
                <a:cs typeface="Times New Roman"/>
                <a:sym typeface="Times New Roman"/>
              </a:rPr>
              <a:t>Risks and Mitigation</a:t>
            </a:r>
            <a:endParaRPr sz="2500" b="1">
              <a:latin typeface="Times New Roman"/>
              <a:ea typeface="Times New Roman"/>
              <a:cs typeface="Times New Roman"/>
              <a:sym typeface="Times New Roman"/>
            </a:endParaRPr>
          </a:p>
        </p:txBody>
      </p:sp>
      <p:sp>
        <p:nvSpPr>
          <p:cNvPr id="142" name="Google Shape;142;p24"/>
          <p:cNvSpPr txBox="1">
            <a:spLocks noGrp="1"/>
          </p:cNvSpPr>
          <p:nvPr>
            <p:ph type="body" idx="1"/>
          </p:nvPr>
        </p:nvSpPr>
        <p:spPr>
          <a:xfrm>
            <a:off x="4321200" y="-75"/>
            <a:ext cx="4822800" cy="5143500"/>
          </a:xfrm>
          <a:prstGeom prst="rect">
            <a:avLst/>
          </a:prstGeom>
          <a:solidFill>
            <a:srgbClr val="F6B26B"/>
          </a:solidFill>
        </p:spPr>
        <p:txBody>
          <a:bodyPr spcFirstLastPara="1" wrap="square" lIns="91425" tIns="91425" rIns="91425" bIns="91425" anchor="t" anchorCtr="0">
            <a:normAutofit fontScale="92500" lnSpcReduction="10000"/>
          </a:bodyPr>
          <a:lstStyle/>
          <a:p>
            <a:pPr marL="0" lvl="0" indent="0" algn="just" rtl="0">
              <a:lnSpc>
                <a:spcPct val="200000"/>
              </a:lnSpc>
              <a:spcBef>
                <a:spcPts val="1200"/>
              </a:spcBef>
              <a:spcAft>
                <a:spcPts val="0"/>
              </a:spcAft>
              <a:buNone/>
            </a:pPr>
            <a:r>
              <a:rPr lang="en" sz="1600" b="1">
                <a:solidFill>
                  <a:srgbClr val="000000"/>
                </a:solidFill>
                <a:latin typeface="Times New Roman"/>
                <a:ea typeface="Times New Roman"/>
                <a:cs typeface="Times New Roman"/>
                <a:sym typeface="Times New Roman"/>
              </a:rPr>
              <a:t>Risks</a:t>
            </a:r>
            <a:endParaRPr sz="1600" b="1">
              <a:solidFill>
                <a:srgbClr val="000000"/>
              </a:solidFill>
              <a:latin typeface="Times New Roman"/>
              <a:ea typeface="Times New Roman"/>
              <a:cs typeface="Times New Roman"/>
              <a:sym typeface="Times New Roman"/>
            </a:endParaRPr>
          </a:p>
          <a:p>
            <a:pPr marL="457200" lvl="0" indent="-330200" algn="just" rtl="0">
              <a:lnSpc>
                <a:spcPct val="200000"/>
              </a:lnSpc>
              <a:spcBef>
                <a:spcPts val="1200"/>
              </a:spcBef>
              <a:spcAft>
                <a:spcPts val="0"/>
              </a:spcAft>
              <a:buClr>
                <a:srgbClr val="000000"/>
              </a:buClr>
              <a:buSzPts val="1600"/>
              <a:buFont typeface="Times New Roman"/>
              <a:buChar char="●"/>
            </a:pPr>
            <a:r>
              <a:rPr lang="en" sz="1600">
                <a:solidFill>
                  <a:srgbClr val="000000"/>
                </a:solidFill>
                <a:latin typeface="Times New Roman"/>
                <a:ea typeface="Times New Roman"/>
                <a:cs typeface="Times New Roman"/>
                <a:sym typeface="Times New Roman"/>
              </a:rPr>
              <a:t>Employee privacy concerns</a:t>
            </a:r>
            <a:endParaRPr sz="1600">
              <a:solidFill>
                <a:srgbClr val="000000"/>
              </a:solidFill>
              <a:latin typeface="Times New Roman"/>
              <a:ea typeface="Times New Roman"/>
              <a:cs typeface="Times New Roman"/>
              <a:sym typeface="Times New Roman"/>
            </a:endParaRPr>
          </a:p>
          <a:p>
            <a:pPr marL="457200" lvl="0" indent="-330200" algn="just" rtl="0">
              <a:lnSpc>
                <a:spcPct val="200000"/>
              </a:lnSpc>
              <a:spcBef>
                <a:spcPts val="0"/>
              </a:spcBef>
              <a:spcAft>
                <a:spcPts val="0"/>
              </a:spcAft>
              <a:buClr>
                <a:srgbClr val="000000"/>
              </a:buClr>
              <a:buSzPts val="1600"/>
              <a:buFont typeface="Times New Roman"/>
              <a:buChar char="●"/>
            </a:pPr>
            <a:r>
              <a:rPr lang="en" sz="1600">
                <a:solidFill>
                  <a:srgbClr val="000000"/>
                </a:solidFill>
                <a:latin typeface="Times New Roman"/>
                <a:ea typeface="Times New Roman"/>
                <a:cs typeface="Times New Roman"/>
                <a:sym typeface="Times New Roman"/>
              </a:rPr>
              <a:t>Data security challenges</a:t>
            </a:r>
            <a:endParaRPr sz="1600">
              <a:solidFill>
                <a:srgbClr val="000000"/>
              </a:solidFill>
              <a:latin typeface="Times New Roman"/>
              <a:ea typeface="Times New Roman"/>
              <a:cs typeface="Times New Roman"/>
              <a:sym typeface="Times New Roman"/>
            </a:endParaRPr>
          </a:p>
          <a:p>
            <a:pPr marL="457200" lvl="0" indent="-330200" algn="just" rtl="0">
              <a:lnSpc>
                <a:spcPct val="200000"/>
              </a:lnSpc>
              <a:spcBef>
                <a:spcPts val="0"/>
              </a:spcBef>
              <a:spcAft>
                <a:spcPts val="0"/>
              </a:spcAft>
              <a:buClr>
                <a:srgbClr val="000000"/>
              </a:buClr>
              <a:buSzPts val="1600"/>
              <a:buFont typeface="Times New Roman"/>
              <a:buChar char="●"/>
            </a:pPr>
            <a:r>
              <a:rPr lang="en" sz="1600">
                <a:solidFill>
                  <a:srgbClr val="000000"/>
                </a:solidFill>
                <a:latin typeface="Times New Roman"/>
                <a:ea typeface="Times New Roman"/>
                <a:cs typeface="Times New Roman"/>
                <a:sym typeface="Times New Roman"/>
              </a:rPr>
              <a:t>Algorithmic bias</a:t>
            </a:r>
            <a:endParaRPr sz="1600">
              <a:solidFill>
                <a:srgbClr val="000000"/>
              </a:solidFill>
              <a:latin typeface="Times New Roman"/>
              <a:ea typeface="Times New Roman"/>
              <a:cs typeface="Times New Roman"/>
              <a:sym typeface="Times New Roman"/>
            </a:endParaRPr>
          </a:p>
          <a:p>
            <a:pPr marL="457200" lvl="0" indent="-330200" algn="just" rtl="0">
              <a:lnSpc>
                <a:spcPct val="200000"/>
              </a:lnSpc>
              <a:spcBef>
                <a:spcPts val="0"/>
              </a:spcBef>
              <a:spcAft>
                <a:spcPts val="0"/>
              </a:spcAft>
              <a:buClr>
                <a:srgbClr val="000000"/>
              </a:buClr>
              <a:buSzPts val="1600"/>
              <a:buFont typeface="Times New Roman"/>
              <a:buChar char="●"/>
            </a:pPr>
            <a:r>
              <a:rPr lang="en" sz="1600">
                <a:solidFill>
                  <a:srgbClr val="000000"/>
                </a:solidFill>
                <a:latin typeface="Times New Roman"/>
                <a:ea typeface="Times New Roman"/>
                <a:cs typeface="Times New Roman"/>
                <a:sym typeface="Times New Roman"/>
              </a:rPr>
              <a:t>Overdependence on analytics</a:t>
            </a:r>
            <a:endParaRPr sz="1600">
              <a:solidFill>
                <a:srgbClr val="000000"/>
              </a:solidFill>
              <a:latin typeface="Times New Roman"/>
              <a:ea typeface="Times New Roman"/>
              <a:cs typeface="Times New Roman"/>
              <a:sym typeface="Times New Roman"/>
            </a:endParaRPr>
          </a:p>
          <a:p>
            <a:pPr marL="0" lvl="0" indent="0" algn="just" rtl="0">
              <a:lnSpc>
                <a:spcPct val="200000"/>
              </a:lnSpc>
              <a:spcBef>
                <a:spcPts val="1200"/>
              </a:spcBef>
              <a:spcAft>
                <a:spcPts val="0"/>
              </a:spcAft>
              <a:buNone/>
            </a:pPr>
            <a:r>
              <a:rPr lang="en" sz="1600" b="1">
                <a:solidFill>
                  <a:srgbClr val="000000"/>
                </a:solidFill>
                <a:latin typeface="Times New Roman"/>
                <a:ea typeface="Times New Roman"/>
                <a:cs typeface="Times New Roman"/>
                <a:sym typeface="Times New Roman"/>
              </a:rPr>
              <a:t>Mitigation</a:t>
            </a:r>
            <a:endParaRPr sz="1600" b="1">
              <a:solidFill>
                <a:srgbClr val="000000"/>
              </a:solidFill>
              <a:latin typeface="Times New Roman"/>
              <a:ea typeface="Times New Roman"/>
              <a:cs typeface="Times New Roman"/>
              <a:sym typeface="Times New Roman"/>
            </a:endParaRPr>
          </a:p>
          <a:p>
            <a:pPr marL="457200" lvl="0" indent="-330200" algn="just" rtl="0">
              <a:lnSpc>
                <a:spcPct val="200000"/>
              </a:lnSpc>
              <a:spcBef>
                <a:spcPts val="1200"/>
              </a:spcBef>
              <a:spcAft>
                <a:spcPts val="0"/>
              </a:spcAft>
              <a:buClr>
                <a:srgbClr val="000000"/>
              </a:buClr>
              <a:buSzPts val="1600"/>
              <a:buFont typeface="Times New Roman"/>
              <a:buChar char="●"/>
            </a:pPr>
            <a:r>
              <a:rPr lang="en" sz="1600">
                <a:solidFill>
                  <a:srgbClr val="000000"/>
                </a:solidFill>
                <a:latin typeface="Times New Roman"/>
                <a:ea typeface="Times New Roman"/>
                <a:cs typeface="Times New Roman"/>
                <a:sym typeface="Times New Roman"/>
              </a:rPr>
              <a:t>Strong data governance</a:t>
            </a:r>
            <a:endParaRPr sz="1600">
              <a:solidFill>
                <a:srgbClr val="000000"/>
              </a:solidFill>
              <a:latin typeface="Times New Roman"/>
              <a:ea typeface="Times New Roman"/>
              <a:cs typeface="Times New Roman"/>
              <a:sym typeface="Times New Roman"/>
            </a:endParaRPr>
          </a:p>
          <a:p>
            <a:pPr marL="457200" lvl="0" indent="-330200" algn="just" rtl="0">
              <a:lnSpc>
                <a:spcPct val="200000"/>
              </a:lnSpc>
              <a:spcBef>
                <a:spcPts val="0"/>
              </a:spcBef>
              <a:spcAft>
                <a:spcPts val="0"/>
              </a:spcAft>
              <a:buClr>
                <a:srgbClr val="000000"/>
              </a:buClr>
              <a:buSzPts val="1600"/>
              <a:buFont typeface="Times New Roman"/>
              <a:buChar char="●"/>
            </a:pPr>
            <a:r>
              <a:rPr lang="en" sz="1600">
                <a:solidFill>
                  <a:srgbClr val="000000"/>
                </a:solidFill>
                <a:latin typeface="Times New Roman"/>
                <a:ea typeface="Times New Roman"/>
                <a:cs typeface="Times New Roman"/>
                <a:sym typeface="Times New Roman"/>
              </a:rPr>
              <a:t>Transparent processes</a:t>
            </a:r>
            <a:endParaRPr sz="1600">
              <a:solidFill>
                <a:srgbClr val="000000"/>
              </a:solidFill>
              <a:latin typeface="Times New Roman"/>
              <a:ea typeface="Times New Roman"/>
              <a:cs typeface="Times New Roman"/>
              <a:sym typeface="Times New Roman"/>
            </a:endParaRPr>
          </a:p>
          <a:p>
            <a:pPr marL="457200" lvl="0" indent="-330200" algn="just" rtl="0">
              <a:lnSpc>
                <a:spcPct val="200000"/>
              </a:lnSpc>
              <a:spcBef>
                <a:spcPts val="0"/>
              </a:spcBef>
              <a:spcAft>
                <a:spcPts val="0"/>
              </a:spcAft>
              <a:buClr>
                <a:srgbClr val="000000"/>
              </a:buClr>
              <a:buSzPts val="1600"/>
              <a:buFont typeface="Times New Roman"/>
              <a:buChar char="●"/>
            </a:pPr>
            <a:r>
              <a:rPr lang="en" sz="1600">
                <a:solidFill>
                  <a:srgbClr val="000000"/>
                </a:solidFill>
                <a:latin typeface="Times New Roman"/>
                <a:ea typeface="Times New Roman"/>
                <a:cs typeface="Times New Roman"/>
                <a:sym typeface="Times New Roman"/>
              </a:rPr>
              <a:t>Ethical HR practices</a:t>
            </a:r>
            <a:endParaRPr sz="1600">
              <a:solidFill>
                <a:srgbClr val="000000"/>
              </a:solidFill>
              <a:latin typeface="Times New Roman"/>
              <a:ea typeface="Times New Roman"/>
              <a:cs typeface="Times New Roman"/>
              <a:sym typeface="Times New Roman"/>
            </a:endParaRPr>
          </a:p>
          <a:p>
            <a:pPr marL="457200" lvl="0" indent="-330200" algn="just" rtl="0">
              <a:lnSpc>
                <a:spcPct val="200000"/>
              </a:lnSpc>
              <a:spcBef>
                <a:spcPts val="0"/>
              </a:spcBef>
              <a:spcAft>
                <a:spcPts val="0"/>
              </a:spcAft>
              <a:buClr>
                <a:srgbClr val="000000"/>
              </a:buClr>
              <a:buSzPts val="1600"/>
              <a:buFont typeface="Times New Roman"/>
              <a:buChar char="●"/>
            </a:pPr>
            <a:r>
              <a:rPr lang="en" sz="1600">
                <a:solidFill>
                  <a:srgbClr val="000000"/>
                </a:solidFill>
                <a:latin typeface="Times New Roman"/>
                <a:ea typeface="Times New Roman"/>
                <a:cs typeface="Times New Roman"/>
                <a:sym typeface="Times New Roman"/>
              </a:rPr>
              <a:t>Human oversight</a:t>
            </a:r>
            <a:endParaRPr sz="1600">
              <a:solidFill>
                <a:srgbClr val="000000"/>
              </a:solidFill>
            </a:endParaRPr>
          </a:p>
        </p:txBody>
      </p:sp>
      <p:pic>
        <p:nvPicPr>
          <p:cNvPr id="143" name="Google Shape;143;p24"/>
          <p:cNvPicPr preferRelativeResize="0"/>
          <p:nvPr/>
        </p:nvPicPr>
        <p:blipFill>
          <a:blip r:embed="rId3">
            <a:alphaModFix/>
          </a:blip>
          <a:stretch>
            <a:fillRect/>
          </a:stretch>
        </p:blipFill>
        <p:spPr>
          <a:xfrm>
            <a:off x="0" y="937325"/>
            <a:ext cx="4321201" cy="420617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47"/>
        <p:cNvGrpSpPr/>
        <p:nvPr/>
      </p:nvGrpSpPr>
      <p:grpSpPr>
        <a:xfrm>
          <a:off x="0" y="0"/>
          <a:ext cx="0" cy="0"/>
          <a:chOff x="0" y="0"/>
          <a:chExt cx="0" cy="0"/>
        </a:xfrm>
      </p:grpSpPr>
      <p:sp>
        <p:nvSpPr>
          <p:cNvPr id="148" name="Google Shape;148;p25"/>
          <p:cNvSpPr txBox="1">
            <a:spLocks noGrp="1"/>
          </p:cNvSpPr>
          <p:nvPr>
            <p:ph type="title"/>
          </p:nvPr>
        </p:nvSpPr>
        <p:spPr>
          <a:xfrm>
            <a:off x="0" y="0"/>
            <a:ext cx="4321200" cy="9195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r>
              <a:rPr lang="en" sz="2500" b="1">
                <a:latin typeface="Times New Roman"/>
                <a:ea typeface="Times New Roman"/>
                <a:cs typeface="Times New Roman"/>
                <a:sym typeface="Times New Roman"/>
              </a:rPr>
              <a:t>Critical Evaluation</a:t>
            </a:r>
            <a:endParaRPr sz="2500" b="1">
              <a:latin typeface="Times New Roman"/>
              <a:ea typeface="Times New Roman"/>
              <a:cs typeface="Times New Roman"/>
              <a:sym typeface="Times New Roman"/>
            </a:endParaRPr>
          </a:p>
        </p:txBody>
      </p:sp>
      <p:sp>
        <p:nvSpPr>
          <p:cNvPr id="149" name="Google Shape;149;p25"/>
          <p:cNvSpPr txBox="1">
            <a:spLocks noGrp="1"/>
          </p:cNvSpPr>
          <p:nvPr>
            <p:ph type="body" idx="1"/>
          </p:nvPr>
        </p:nvSpPr>
        <p:spPr>
          <a:xfrm>
            <a:off x="4321200" y="-75"/>
            <a:ext cx="4822800" cy="5143500"/>
          </a:xfrm>
          <a:prstGeom prst="rect">
            <a:avLst/>
          </a:prstGeom>
          <a:solidFill>
            <a:srgbClr val="76A5AF"/>
          </a:solidFill>
        </p:spPr>
        <p:txBody>
          <a:bodyPr spcFirstLastPara="1" wrap="square" lIns="91425" tIns="91425" rIns="91425" bIns="91425" anchor="t" anchorCtr="0">
            <a:normAutofit/>
          </a:bodyPr>
          <a:lstStyle/>
          <a:p>
            <a:pPr marL="457200" lvl="0" indent="-330200" algn="just" rtl="0">
              <a:lnSpc>
                <a:spcPct val="200000"/>
              </a:lnSpc>
              <a:spcBef>
                <a:spcPts val="0"/>
              </a:spcBef>
              <a:spcAft>
                <a:spcPts val="0"/>
              </a:spcAft>
              <a:buClr>
                <a:srgbClr val="000000"/>
              </a:buClr>
              <a:buSzPts val="1600"/>
              <a:buFont typeface="Times New Roman"/>
              <a:buChar char="●"/>
            </a:pPr>
            <a:r>
              <a:rPr lang="en" sz="1600">
                <a:solidFill>
                  <a:srgbClr val="000000"/>
                </a:solidFill>
                <a:latin typeface="Times New Roman"/>
                <a:ea typeface="Times New Roman"/>
                <a:cs typeface="Times New Roman"/>
                <a:sym typeface="Times New Roman"/>
              </a:rPr>
              <a:t>Using analytics can make HR decisions more evidence-based.</a:t>
            </a:r>
            <a:endParaRPr sz="1600">
              <a:solidFill>
                <a:srgbClr val="000000"/>
              </a:solidFill>
              <a:latin typeface="Times New Roman"/>
              <a:ea typeface="Times New Roman"/>
              <a:cs typeface="Times New Roman"/>
              <a:sym typeface="Times New Roman"/>
            </a:endParaRPr>
          </a:p>
          <a:p>
            <a:pPr marL="457200" lvl="0" indent="-330200" algn="just" rtl="0">
              <a:lnSpc>
                <a:spcPct val="200000"/>
              </a:lnSpc>
              <a:spcBef>
                <a:spcPts val="0"/>
              </a:spcBef>
              <a:spcAft>
                <a:spcPts val="0"/>
              </a:spcAft>
              <a:buClr>
                <a:srgbClr val="000000"/>
              </a:buClr>
              <a:buSzPts val="1600"/>
              <a:buFont typeface="Times New Roman"/>
              <a:buChar char="●"/>
            </a:pPr>
            <a:r>
              <a:rPr lang="en" sz="1600">
                <a:solidFill>
                  <a:srgbClr val="000000"/>
                </a:solidFill>
                <a:latin typeface="Times New Roman"/>
                <a:ea typeface="Times New Roman"/>
                <a:cs typeface="Times New Roman"/>
                <a:sym typeface="Times New Roman"/>
              </a:rPr>
              <a:t>Data has a lot of benefits when it comes to workforce insights.</a:t>
            </a:r>
            <a:endParaRPr sz="1600">
              <a:solidFill>
                <a:srgbClr val="000000"/>
              </a:solidFill>
              <a:latin typeface="Times New Roman"/>
              <a:ea typeface="Times New Roman"/>
              <a:cs typeface="Times New Roman"/>
              <a:sym typeface="Times New Roman"/>
            </a:endParaRPr>
          </a:p>
          <a:p>
            <a:pPr marL="457200" lvl="0" indent="-330200" algn="just" rtl="0">
              <a:lnSpc>
                <a:spcPct val="200000"/>
              </a:lnSpc>
              <a:spcBef>
                <a:spcPts val="0"/>
              </a:spcBef>
              <a:spcAft>
                <a:spcPts val="0"/>
              </a:spcAft>
              <a:buClr>
                <a:srgbClr val="000000"/>
              </a:buClr>
              <a:buSzPts val="1600"/>
              <a:buFont typeface="Times New Roman"/>
              <a:buChar char="●"/>
            </a:pPr>
            <a:r>
              <a:rPr lang="en" sz="1600">
                <a:solidFill>
                  <a:srgbClr val="000000"/>
                </a:solidFill>
                <a:latin typeface="Times New Roman"/>
                <a:ea typeface="Times New Roman"/>
                <a:cs typeface="Times New Roman"/>
                <a:sym typeface="Times New Roman"/>
              </a:rPr>
              <a:t>People's judgment is still decisively important.</a:t>
            </a:r>
            <a:endParaRPr sz="1600">
              <a:solidFill>
                <a:srgbClr val="000000"/>
              </a:solidFill>
              <a:latin typeface="Times New Roman"/>
              <a:ea typeface="Times New Roman"/>
              <a:cs typeface="Times New Roman"/>
              <a:sym typeface="Times New Roman"/>
            </a:endParaRPr>
          </a:p>
          <a:p>
            <a:pPr marL="457200" lvl="0" indent="-330200" algn="just" rtl="0">
              <a:lnSpc>
                <a:spcPct val="200000"/>
              </a:lnSpc>
              <a:spcBef>
                <a:spcPts val="0"/>
              </a:spcBef>
              <a:spcAft>
                <a:spcPts val="0"/>
              </a:spcAft>
              <a:buClr>
                <a:srgbClr val="000000"/>
              </a:buClr>
              <a:buSzPts val="1600"/>
              <a:buFont typeface="Times New Roman"/>
              <a:buChar char="●"/>
            </a:pPr>
            <a:r>
              <a:rPr lang="en" sz="1600">
                <a:solidFill>
                  <a:srgbClr val="000000"/>
                </a:solidFill>
                <a:latin typeface="Times New Roman"/>
                <a:ea typeface="Times New Roman"/>
                <a:cs typeface="Times New Roman"/>
                <a:sym typeface="Times New Roman"/>
              </a:rPr>
              <a:t>Not everything that an employee does can be quantified.</a:t>
            </a:r>
            <a:endParaRPr sz="1600">
              <a:solidFill>
                <a:srgbClr val="000000"/>
              </a:solidFill>
              <a:latin typeface="Times New Roman"/>
              <a:ea typeface="Times New Roman"/>
              <a:cs typeface="Times New Roman"/>
              <a:sym typeface="Times New Roman"/>
            </a:endParaRPr>
          </a:p>
          <a:p>
            <a:pPr marL="457200" lvl="0" indent="-330200" algn="just" rtl="0">
              <a:lnSpc>
                <a:spcPct val="200000"/>
              </a:lnSpc>
              <a:spcBef>
                <a:spcPts val="0"/>
              </a:spcBef>
              <a:spcAft>
                <a:spcPts val="0"/>
              </a:spcAft>
              <a:buClr>
                <a:srgbClr val="000000"/>
              </a:buClr>
              <a:buSzPts val="1600"/>
              <a:buFont typeface="Times New Roman"/>
              <a:buChar char="●"/>
            </a:pPr>
            <a:r>
              <a:rPr lang="en" sz="1600">
                <a:solidFill>
                  <a:srgbClr val="000000"/>
                </a:solidFill>
                <a:latin typeface="Times New Roman"/>
                <a:ea typeface="Times New Roman"/>
                <a:cs typeface="Times New Roman"/>
                <a:sym typeface="Times New Roman"/>
              </a:rPr>
              <a:t>Sustainable values are shaped by balanced approaches.</a:t>
            </a:r>
            <a:endParaRPr sz="1600">
              <a:solidFill>
                <a:srgbClr val="000000"/>
              </a:solidFill>
              <a:latin typeface="Times New Roman"/>
              <a:ea typeface="Times New Roman"/>
              <a:cs typeface="Times New Roman"/>
              <a:sym typeface="Times New Roman"/>
            </a:endParaRPr>
          </a:p>
        </p:txBody>
      </p:sp>
      <p:pic>
        <p:nvPicPr>
          <p:cNvPr id="150" name="Google Shape;150;p25"/>
          <p:cNvPicPr preferRelativeResize="0"/>
          <p:nvPr/>
        </p:nvPicPr>
        <p:blipFill>
          <a:blip r:embed="rId3">
            <a:alphaModFix/>
          </a:blip>
          <a:stretch>
            <a:fillRect/>
          </a:stretch>
        </p:blipFill>
        <p:spPr>
          <a:xfrm>
            <a:off x="0" y="937325"/>
            <a:ext cx="4321200" cy="42061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p26"/>
          <p:cNvSpPr txBox="1">
            <a:spLocks noGrp="1"/>
          </p:cNvSpPr>
          <p:nvPr>
            <p:ph type="title"/>
          </p:nvPr>
        </p:nvSpPr>
        <p:spPr>
          <a:xfrm>
            <a:off x="0" y="0"/>
            <a:ext cx="4321200" cy="9195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r>
              <a:rPr lang="en" sz="2500" b="1">
                <a:latin typeface="Times New Roman"/>
                <a:ea typeface="Times New Roman"/>
                <a:cs typeface="Times New Roman"/>
                <a:sym typeface="Times New Roman"/>
              </a:rPr>
              <a:t>Conclusion</a:t>
            </a:r>
            <a:endParaRPr sz="2500" b="1">
              <a:latin typeface="Times New Roman"/>
              <a:ea typeface="Times New Roman"/>
              <a:cs typeface="Times New Roman"/>
              <a:sym typeface="Times New Roman"/>
            </a:endParaRPr>
          </a:p>
        </p:txBody>
      </p:sp>
      <p:sp>
        <p:nvSpPr>
          <p:cNvPr id="156" name="Google Shape;156;p26"/>
          <p:cNvSpPr txBox="1">
            <a:spLocks noGrp="1"/>
          </p:cNvSpPr>
          <p:nvPr>
            <p:ph type="body" idx="1"/>
          </p:nvPr>
        </p:nvSpPr>
        <p:spPr>
          <a:xfrm>
            <a:off x="4321200" y="-75"/>
            <a:ext cx="4822800" cy="5143500"/>
          </a:xfrm>
          <a:prstGeom prst="rect">
            <a:avLst/>
          </a:prstGeom>
          <a:solidFill>
            <a:srgbClr val="C27BA0"/>
          </a:solidFill>
        </p:spPr>
        <p:txBody>
          <a:bodyPr spcFirstLastPara="1" wrap="square" lIns="91425" tIns="91425" rIns="91425" bIns="91425" anchor="t" anchorCtr="0">
            <a:normAutofit/>
          </a:bodyPr>
          <a:lstStyle/>
          <a:p>
            <a:pPr marL="457200" lvl="0" indent="-330200" algn="just" rtl="0">
              <a:lnSpc>
                <a:spcPct val="200000"/>
              </a:lnSpc>
              <a:spcBef>
                <a:spcPts val="0"/>
              </a:spcBef>
              <a:spcAft>
                <a:spcPts val="0"/>
              </a:spcAft>
              <a:buClr>
                <a:srgbClr val="000000"/>
              </a:buClr>
              <a:buSzPts val="1600"/>
              <a:buFont typeface="Times New Roman"/>
              <a:buChar char="●"/>
            </a:pPr>
            <a:r>
              <a:rPr lang="en" sz="1600">
                <a:solidFill>
                  <a:srgbClr val="000000"/>
                </a:solidFill>
                <a:latin typeface="Times New Roman"/>
                <a:ea typeface="Times New Roman"/>
                <a:cs typeface="Times New Roman"/>
                <a:sym typeface="Times New Roman"/>
              </a:rPr>
              <a:t>Tesco is implementing the use of people analytics to enhance decisions about the workforce.</a:t>
            </a:r>
            <a:endParaRPr sz="1600">
              <a:solidFill>
                <a:srgbClr val="000000"/>
              </a:solidFill>
              <a:latin typeface="Times New Roman"/>
              <a:ea typeface="Times New Roman"/>
              <a:cs typeface="Times New Roman"/>
              <a:sym typeface="Times New Roman"/>
            </a:endParaRPr>
          </a:p>
          <a:p>
            <a:pPr marL="457200" lvl="0" indent="-330200" algn="just" rtl="0">
              <a:lnSpc>
                <a:spcPct val="200000"/>
              </a:lnSpc>
              <a:spcBef>
                <a:spcPts val="0"/>
              </a:spcBef>
              <a:spcAft>
                <a:spcPts val="0"/>
              </a:spcAft>
              <a:buClr>
                <a:srgbClr val="000000"/>
              </a:buClr>
              <a:buSzPts val="1600"/>
              <a:buFont typeface="Times New Roman"/>
              <a:buChar char="●"/>
            </a:pPr>
            <a:r>
              <a:rPr lang="en" sz="1600">
                <a:solidFill>
                  <a:srgbClr val="000000"/>
                </a:solidFill>
                <a:latin typeface="Times New Roman"/>
                <a:ea typeface="Times New Roman"/>
                <a:cs typeface="Times New Roman"/>
                <a:sym typeface="Times New Roman"/>
              </a:rPr>
              <a:t>The data on staff aids in recruitment, staff development and retention.</a:t>
            </a:r>
            <a:endParaRPr sz="1600">
              <a:solidFill>
                <a:srgbClr val="000000"/>
              </a:solidFill>
              <a:latin typeface="Times New Roman"/>
              <a:ea typeface="Times New Roman"/>
              <a:cs typeface="Times New Roman"/>
              <a:sym typeface="Times New Roman"/>
            </a:endParaRPr>
          </a:p>
          <a:p>
            <a:pPr marL="457200" lvl="0" indent="-330200" algn="just" rtl="0">
              <a:lnSpc>
                <a:spcPct val="200000"/>
              </a:lnSpc>
              <a:spcBef>
                <a:spcPts val="0"/>
              </a:spcBef>
              <a:spcAft>
                <a:spcPts val="0"/>
              </a:spcAft>
              <a:buClr>
                <a:srgbClr val="000000"/>
              </a:buClr>
              <a:buSzPts val="1600"/>
              <a:buFont typeface="Times New Roman"/>
              <a:buChar char="●"/>
            </a:pPr>
            <a:r>
              <a:rPr lang="en" sz="1600">
                <a:solidFill>
                  <a:srgbClr val="000000"/>
                </a:solidFill>
                <a:latin typeface="Times New Roman"/>
                <a:ea typeface="Times New Roman"/>
                <a:cs typeface="Times New Roman"/>
                <a:sym typeface="Times New Roman"/>
              </a:rPr>
              <a:t>Competitiveness and agility through Analytics.</a:t>
            </a:r>
            <a:endParaRPr sz="1600">
              <a:solidFill>
                <a:srgbClr val="000000"/>
              </a:solidFill>
              <a:latin typeface="Times New Roman"/>
              <a:ea typeface="Times New Roman"/>
              <a:cs typeface="Times New Roman"/>
              <a:sym typeface="Times New Roman"/>
            </a:endParaRPr>
          </a:p>
          <a:p>
            <a:pPr marL="457200" lvl="0" indent="-330200" algn="just" rtl="0">
              <a:lnSpc>
                <a:spcPct val="200000"/>
              </a:lnSpc>
              <a:spcBef>
                <a:spcPts val="0"/>
              </a:spcBef>
              <a:spcAft>
                <a:spcPts val="0"/>
              </a:spcAft>
              <a:buClr>
                <a:srgbClr val="000000"/>
              </a:buClr>
              <a:buSzPts val="1600"/>
              <a:buFont typeface="Times New Roman"/>
              <a:buChar char="●"/>
            </a:pPr>
            <a:r>
              <a:rPr lang="en" sz="1600">
                <a:solidFill>
                  <a:srgbClr val="000000"/>
                </a:solidFill>
                <a:latin typeface="Times New Roman"/>
                <a:ea typeface="Times New Roman"/>
                <a:cs typeface="Times New Roman"/>
                <a:sym typeface="Times New Roman"/>
              </a:rPr>
              <a:t>Workforce data still needs to be handled ethically (Tursunbayeva </a:t>
            </a:r>
            <a:r>
              <a:rPr lang="en" sz="1600" i="1">
                <a:solidFill>
                  <a:srgbClr val="000000"/>
                </a:solidFill>
                <a:latin typeface="Times New Roman"/>
                <a:ea typeface="Times New Roman"/>
                <a:cs typeface="Times New Roman"/>
                <a:sym typeface="Times New Roman"/>
              </a:rPr>
              <a:t>et al.,</a:t>
            </a:r>
            <a:r>
              <a:rPr lang="en" sz="1600">
                <a:solidFill>
                  <a:srgbClr val="000000"/>
                </a:solidFill>
                <a:latin typeface="Times New Roman"/>
                <a:ea typeface="Times New Roman"/>
                <a:cs typeface="Times New Roman"/>
                <a:sym typeface="Times New Roman"/>
              </a:rPr>
              <a:t> 2022).</a:t>
            </a:r>
            <a:endParaRPr sz="1600">
              <a:solidFill>
                <a:srgbClr val="000000"/>
              </a:solidFill>
              <a:latin typeface="Times New Roman"/>
              <a:ea typeface="Times New Roman"/>
              <a:cs typeface="Times New Roman"/>
              <a:sym typeface="Times New Roman"/>
            </a:endParaRPr>
          </a:p>
        </p:txBody>
      </p:sp>
      <p:pic>
        <p:nvPicPr>
          <p:cNvPr id="157" name="Google Shape;157;p26"/>
          <p:cNvPicPr preferRelativeResize="0"/>
          <p:nvPr/>
        </p:nvPicPr>
        <p:blipFill>
          <a:blip r:embed="rId3">
            <a:alphaModFix/>
          </a:blip>
          <a:stretch>
            <a:fillRect/>
          </a:stretch>
        </p:blipFill>
        <p:spPr>
          <a:xfrm>
            <a:off x="0" y="944800"/>
            <a:ext cx="4321200" cy="419862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61"/>
        <p:cNvGrpSpPr/>
        <p:nvPr/>
      </p:nvGrpSpPr>
      <p:grpSpPr>
        <a:xfrm>
          <a:off x="0" y="0"/>
          <a:ext cx="0" cy="0"/>
          <a:chOff x="0" y="0"/>
          <a:chExt cx="0" cy="0"/>
        </a:xfrm>
      </p:grpSpPr>
      <p:sp>
        <p:nvSpPr>
          <p:cNvPr id="162" name="Google Shape;162;p27"/>
          <p:cNvSpPr txBox="1">
            <a:spLocks noGrp="1"/>
          </p:cNvSpPr>
          <p:nvPr>
            <p:ph type="title"/>
          </p:nvPr>
        </p:nvSpPr>
        <p:spPr>
          <a:xfrm>
            <a:off x="0" y="0"/>
            <a:ext cx="4321200" cy="9195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r>
              <a:rPr lang="en" sz="2500" b="1">
                <a:latin typeface="Times New Roman"/>
                <a:ea typeface="Times New Roman"/>
                <a:cs typeface="Times New Roman"/>
                <a:sym typeface="Times New Roman"/>
              </a:rPr>
              <a:t>Reference</a:t>
            </a:r>
            <a:endParaRPr sz="2500" b="1">
              <a:latin typeface="Times New Roman"/>
              <a:ea typeface="Times New Roman"/>
              <a:cs typeface="Times New Roman"/>
              <a:sym typeface="Times New Roman"/>
            </a:endParaRPr>
          </a:p>
        </p:txBody>
      </p:sp>
      <p:sp>
        <p:nvSpPr>
          <p:cNvPr id="163" name="Google Shape;163;p27"/>
          <p:cNvSpPr txBox="1">
            <a:spLocks noGrp="1"/>
          </p:cNvSpPr>
          <p:nvPr>
            <p:ph type="body" idx="1"/>
          </p:nvPr>
        </p:nvSpPr>
        <p:spPr>
          <a:xfrm>
            <a:off x="4321200" y="-75"/>
            <a:ext cx="4822800" cy="5143500"/>
          </a:xfrm>
          <a:prstGeom prst="rect">
            <a:avLst/>
          </a:prstGeom>
          <a:solidFill>
            <a:srgbClr val="D0E0E3"/>
          </a:solidFill>
        </p:spPr>
        <p:txBody>
          <a:bodyPr spcFirstLastPara="1" wrap="square" lIns="91425" tIns="91425" rIns="91425" bIns="91425" anchor="t" anchorCtr="0">
            <a:normAutofit fontScale="62500" lnSpcReduction="20000"/>
          </a:bodyPr>
          <a:lstStyle/>
          <a:p>
            <a:pPr marL="0" lvl="0" indent="0" algn="just" rtl="0">
              <a:lnSpc>
                <a:spcPct val="100000"/>
              </a:lnSpc>
              <a:spcBef>
                <a:spcPts val="0"/>
              </a:spcBef>
              <a:spcAft>
                <a:spcPts val="0"/>
              </a:spcAft>
              <a:buNone/>
            </a:pPr>
            <a:r>
              <a:rPr lang="en">
                <a:solidFill>
                  <a:srgbClr val="000000"/>
                </a:solidFill>
                <a:latin typeface="Times New Roman"/>
                <a:ea typeface="Times New Roman"/>
                <a:cs typeface="Times New Roman"/>
                <a:sym typeface="Times New Roman"/>
              </a:rPr>
              <a:t>Suri, N. and Lakhanpal, P., 2024. People analytics enabling HR strategic partnership: a review. South Asian Journal of Human Resources Management, 11(1), pp.130-164.https://journals.sagepub.com/doi/abs/10.1177/23220937221119599</a:t>
            </a:r>
            <a:endParaRPr>
              <a:solidFill>
                <a:srgbClr val="000000"/>
              </a:solidFill>
              <a:latin typeface="Times New Roman"/>
              <a:ea typeface="Times New Roman"/>
              <a:cs typeface="Times New Roman"/>
              <a:sym typeface="Times New Roman"/>
            </a:endParaRPr>
          </a:p>
          <a:p>
            <a:pPr marL="0" lvl="0" indent="0" algn="just" rtl="0">
              <a:lnSpc>
                <a:spcPct val="100000"/>
              </a:lnSpc>
              <a:spcBef>
                <a:spcPts val="1200"/>
              </a:spcBef>
              <a:spcAft>
                <a:spcPts val="0"/>
              </a:spcAft>
              <a:buNone/>
            </a:pPr>
            <a:r>
              <a:rPr lang="en">
                <a:solidFill>
                  <a:srgbClr val="000000"/>
                </a:solidFill>
                <a:latin typeface="Times New Roman"/>
                <a:ea typeface="Times New Roman"/>
                <a:cs typeface="Times New Roman"/>
                <a:sym typeface="Times New Roman"/>
              </a:rPr>
              <a:t>Goswami, T.G. and Mansi, 2025. Human resource analytics: A hybrid review. South Asian Journal of Human Resources Management, p.23220937251322236.https://journals.sagepub.com/doi/abs/10.1177/23220937251322236</a:t>
            </a:r>
            <a:endParaRPr>
              <a:solidFill>
                <a:srgbClr val="000000"/>
              </a:solidFill>
              <a:latin typeface="Times New Roman"/>
              <a:ea typeface="Times New Roman"/>
              <a:cs typeface="Times New Roman"/>
              <a:sym typeface="Times New Roman"/>
            </a:endParaRPr>
          </a:p>
          <a:p>
            <a:pPr marL="0" lvl="0" indent="0" algn="just" rtl="0">
              <a:lnSpc>
                <a:spcPct val="100000"/>
              </a:lnSpc>
              <a:spcBef>
                <a:spcPts val="1200"/>
              </a:spcBef>
              <a:spcAft>
                <a:spcPts val="0"/>
              </a:spcAft>
              <a:buNone/>
            </a:pPr>
            <a:r>
              <a:rPr lang="en">
                <a:solidFill>
                  <a:srgbClr val="000000"/>
                </a:solidFill>
                <a:latin typeface="Times New Roman"/>
                <a:ea typeface="Times New Roman"/>
                <a:cs typeface="Times New Roman"/>
                <a:sym typeface="Times New Roman"/>
              </a:rPr>
              <a:t>Yoon, S.W., Han, S.H. and Chae, C., 2024. People analytics and human resource development–research landscape and future needs based on bibliometrics and scoping review. Human Resource Development Review, 23(1), pp.30-57.https://journals.sagepub.com/doi/abs/10.1177/15344843231209362</a:t>
            </a:r>
            <a:endParaRPr>
              <a:solidFill>
                <a:srgbClr val="000000"/>
              </a:solidFill>
              <a:latin typeface="Times New Roman"/>
              <a:ea typeface="Times New Roman"/>
              <a:cs typeface="Times New Roman"/>
              <a:sym typeface="Times New Roman"/>
            </a:endParaRPr>
          </a:p>
          <a:p>
            <a:pPr marL="0" lvl="0" indent="0" algn="just" rtl="0">
              <a:lnSpc>
                <a:spcPct val="100000"/>
              </a:lnSpc>
              <a:spcBef>
                <a:spcPts val="1200"/>
              </a:spcBef>
              <a:spcAft>
                <a:spcPts val="0"/>
              </a:spcAft>
              <a:buNone/>
            </a:pPr>
            <a:r>
              <a:rPr lang="en">
                <a:solidFill>
                  <a:srgbClr val="000000"/>
                </a:solidFill>
                <a:latin typeface="Times New Roman"/>
                <a:ea typeface="Times New Roman"/>
                <a:cs typeface="Times New Roman"/>
                <a:sym typeface="Times New Roman"/>
              </a:rPr>
              <a:t>Margherita, A., 2022. Human resources analytics: A systematization of research topics and directions for future research. Human Resource Management Review, 32(2), p.100795.https://www.sciencedirect.com/science/article/pii/S1053482220300681</a:t>
            </a:r>
            <a:endParaRPr>
              <a:solidFill>
                <a:srgbClr val="000000"/>
              </a:solidFill>
              <a:latin typeface="Times New Roman"/>
              <a:ea typeface="Times New Roman"/>
              <a:cs typeface="Times New Roman"/>
              <a:sym typeface="Times New Roman"/>
            </a:endParaRPr>
          </a:p>
          <a:p>
            <a:pPr marL="0" lvl="0" indent="0" algn="just" rtl="0">
              <a:lnSpc>
                <a:spcPct val="100000"/>
              </a:lnSpc>
              <a:spcBef>
                <a:spcPts val="1200"/>
              </a:spcBef>
              <a:spcAft>
                <a:spcPts val="0"/>
              </a:spcAft>
              <a:buNone/>
            </a:pPr>
            <a:r>
              <a:rPr lang="en">
                <a:solidFill>
                  <a:srgbClr val="000000"/>
                </a:solidFill>
                <a:latin typeface="Times New Roman"/>
                <a:ea typeface="Times New Roman"/>
                <a:cs typeface="Times New Roman"/>
                <a:sym typeface="Times New Roman"/>
              </a:rPr>
              <a:t>Soares, V.G., Álcazar, J.J.P. and Ludena, M.E., 2022. Analytical Approaches in Human Resources-A Systematic Review. JISTEM-Journal of Information Systems and Technology Management, 19, p.e202219014.https://www.scielo.br/j/jistm/a/9xN7Sd5SSdBSphzmfZ78zqC/?format=pdf&amp;lang=en</a:t>
            </a:r>
            <a:endParaRPr>
              <a:solidFill>
                <a:srgbClr val="000000"/>
              </a:solidFill>
              <a:latin typeface="Times New Roman"/>
              <a:ea typeface="Times New Roman"/>
              <a:cs typeface="Times New Roman"/>
              <a:sym typeface="Times New Roman"/>
            </a:endParaRPr>
          </a:p>
          <a:p>
            <a:pPr marL="0" lvl="0" indent="0" algn="just" rtl="0">
              <a:lnSpc>
                <a:spcPct val="100000"/>
              </a:lnSpc>
              <a:spcBef>
                <a:spcPts val="1200"/>
              </a:spcBef>
              <a:spcAft>
                <a:spcPts val="0"/>
              </a:spcAft>
              <a:buNone/>
            </a:pPr>
            <a:r>
              <a:rPr lang="en">
                <a:solidFill>
                  <a:srgbClr val="000000"/>
                </a:solidFill>
                <a:latin typeface="Times New Roman"/>
                <a:ea typeface="Times New Roman"/>
                <a:cs typeface="Times New Roman"/>
                <a:sym typeface="Times New Roman"/>
              </a:rPr>
              <a:t>Bonilla-Chaves, E.F. and Palos-Sánchez, P.R., 2023. Exploring the evolution of human resource analytics: a bibliometric study. Behavioral sciences, 13(3), p.244.https://www.mdpi.com/2076-328X/13/3/244</a:t>
            </a:r>
            <a:endParaRPr>
              <a:solidFill>
                <a:srgbClr val="000000"/>
              </a:solidFill>
              <a:latin typeface="Times New Roman"/>
              <a:ea typeface="Times New Roman"/>
              <a:cs typeface="Times New Roman"/>
              <a:sym typeface="Times New Roman"/>
            </a:endParaRPr>
          </a:p>
          <a:p>
            <a:pPr marL="0" lvl="0" indent="0" algn="just" rtl="0">
              <a:lnSpc>
                <a:spcPct val="100000"/>
              </a:lnSpc>
              <a:spcBef>
                <a:spcPts val="1200"/>
              </a:spcBef>
              <a:spcAft>
                <a:spcPts val="0"/>
              </a:spcAft>
              <a:buNone/>
            </a:pPr>
            <a:r>
              <a:rPr lang="en">
                <a:solidFill>
                  <a:srgbClr val="000000"/>
                </a:solidFill>
                <a:latin typeface="Times New Roman"/>
                <a:ea typeface="Times New Roman"/>
                <a:cs typeface="Times New Roman"/>
                <a:sym typeface="Times New Roman"/>
              </a:rPr>
              <a:t>Edwards, M.R., Charlwood, A., Guenole, N. and Marler, J., 2024. HR analytics: An emerging field finding its place in the world alongside simmering ethical challenges. Human Resource Management Journal, 34(2), pp.326-336.https://eprints.whiterose.ac.uk/id/eprint/182675/3/Intro%20to%20Special%20Issue%20Jan%202021%20Manuscript.pdf</a:t>
            </a:r>
            <a:endParaRPr>
              <a:solidFill>
                <a:srgbClr val="000000"/>
              </a:solidFill>
              <a:latin typeface="Times New Roman"/>
              <a:ea typeface="Times New Roman"/>
              <a:cs typeface="Times New Roman"/>
              <a:sym typeface="Times New Roman"/>
            </a:endParaRPr>
          </a:p>
          <a:p>
            <a:pPr marL="0" lvl="0" indent="0" algn="just" rtl="0">
              <a:lnSpc>
                <a:spcPct val="100000"/>
              </a:lnSpc>
              <a:spcBef>
                <a:spcPts val="1200"/>
              </a:spcBef>
              <a:spcAft>
                <a:spcPts val="0"/>
              </a:spcAft>
              <a:buNone/>
            </a:pPr>
            <a:r>
              <a:rPr lang="en">
                <a:solidFill>
                  <a:srgbClr val="000000"/>
                </a:solidFill>
                <a:latin typeface="Times New Roman"/>
                <a:ea typeface="Times New Roman"/>
                <a:cs typeface="Times New Roman"/>
                <a:sym typeface="Times New Roman"/>
              </a:rPr>
              <a:t>Tesco plc, 2025. Annual Report and Financial Statements 2025.https://www.tescoplc.com/investors/reports-results-and-presentations/annual-report-2025</a:t>
            </a:r>
            <a:endParaRPr>
              <a:solidFill>
                <a:srgbClr val="000000"/>
              </a:solidFill>
              <a:latin typeface="Times New Roman"/>
              <a:ea typeface="Times New Roman"/>
              <a:cs typeface="Times New Roman"/>
              <a:sym typeface="Times New Roman"/>
            </a:endParaRPr>
          </a:p>
          <a:p>
            <a:pPr marL="0" lvl="0" indent="0" algn="just" rtl="0">
              <a:lnSpc>
                <a:spcPct val="100000"/>
              </a:lnSpc>
              <a:spcBef>
                <a:spcPts val="1200"/>
              </a:spcBef>
              <a:spcAft>
                <a:spcPts val="0"/>
              </a:spcAft>
              <a:buNone/>
            </a:pPr>
            <a:r>
              <a:rPr lang="en">
                <a:solidFill>
                  <a:srgbClr val="000000"/>
                </a:solidFill>
                <a:latin typeface="Times New Roman"/>
                <a:ea typeface="Times New Roman"/>
                <a:cs typeface="Times New Roman"/>
                <a:sym typeface="Times New Roman"/>
              </a:rPr>
              <a:t>Tursunbayeva, A., Pagliari, C., Di Lauro, S. and Antonelli, G., 2022. The ethics of people analytics: risks, opportunities and recommendations. Personnel Review, 51(3), pp.900-921.https://www.emerald.com/pr/article-pdf/51/3/900/2154147/pr-12-2019-0680.pdf</a:t>
            </a:r>
            <a:endParaRPr>
              <a:solidFill>
                <a:srgbClr val="000000"/>
              </a:solidFill>
              <a:latin typeface="Times New Roman"/>
              <a:ea typeface="Times New Roman"/>
              <a:cs typeface="Times New Roman"/>
              <a:sym typeface="Times New Roman"/>
            </a:endParaRPr>
          </a:p>
          <a:p>
            <a:pPr marL="0" lvl="0" indent="0" algn="just" rtl="0">
              <a:lnSpc>
                <a:spcPct val="100000"/>
              </a:lnSpc>
              <a:spcBef>
                <a:spcPts val="1200"/>
              </a:spcBef>
              <a:spcAft>
                <a:spcPts val="1200"/>
              </a:spcAft>
              <a:buNone/>
            </a:pPr>
            <a:r>
              <a:rPr lang="en">
                <a:solidFill>
                  <a:srgbClr val="000000"/>
                </a:solidFill>
                <a:latin typeface="Times New Roman"/>
                <a:ea typeface="Times New Roman"/>
                <a:cs typeface="Times New Roman"/>
                <a:sym typeface="Times New Roman"/>
              </a:rPr>
              <a:t>Vadithe, R.N. and Kesari, B., 2025. Bridging the gap: how HR analytics integrates with business intelligence and integrated reporting for organizational agility. Benchmarking: An International Journal, pp.1-25.https://www.researchgate.net/profile/Rakesh-Vadithe/publication/394086567_Bridging_the_gap_how_HR_analytics_integrates_with_business_intelligence_and_integrated_reporting_for_organizational_agility/links/6888b290253dcb78df88f974/Bridging-the-gap-how-HR-analytics-integrates-with-business-intelligence-and-integrated-reporting-for-organizational-agility.pdf</a:t>
            </a:r>
            <a:endParaRPr>
              <a:solidFill>
                <a:srgbClr val="000000"/>
              </a:solidFill>
              <a:latin typeface="Times New Roman"/>
              <a:ea typeface="Times New Roman"/>
              <a:cs typeface="Times New Roman"/>
              <a:sym typeface="Times New Roman"/>
            </a:endParaRPr>
          </a:p>
        </p:txBody>
      </p:sp>
      <p:pic>
        <p:nvPicPr>
          <p:cNvPr id="164" name="Google Shape;164;p27"/>
          <p:cNvPicPr preferRelativeResize="0"/>
          <p:nvPr/>
        </p:nvPicPr>
        <p:blipFill>
          <a:blip r:embed="rId3">
            <a:alphaModFix/>
          </a:blip>
          <a:stretch>
            <a:fillRect/>
          </a:stretch>
        </p:blipFill>
        <p:spPr>
          <a:xfrm>
            <a:off x="0" y="937325"/>
            <a:ext cx="4321201" cy="42061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68"/>
        <p:cNvGrpSpPr/>
        <p:nvPr/>
      </p:nvGrpSpPr>
      <p:grpSpPr>
        <a:xfrm>
          <a:off x="0" y="0"/>
          <a:ext cx="0" cy="0"/>
          <a:chOff x="0" y="0"/>
          <a:chExt cx="0" cy="0"/>
        </a:xfrm>
      </p:grpSpPr>
      <p:sp>
        <p:nvSpPr>
          <p:cNvPr id="169" name="Google Shape;169;p28"/>
          <p:cNvSpPr txBox="1">
            <a:spLocks noGrp="1"/>
          </p:cNvSpPr>
          <p:nvPr>
            <p:ph type="title"/>
          </p:nvPr>
        </p:nvSpPr>
        <p:spPr>
          <a:xfrm>
            <a:off x="0" y="0"/>
            <a:ext cx="4321200" cy="9195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endParaRPr/>
          </a:p>
        </p:txBody>
      </p:sp>
      <p:sp>
        <p:nvSpPr>
          <p:cNvPr id="170" name="Google Shape;170;p28"/>
          <p:cNvSpPr txBox="1">
            <a:spLocks noGrp="1"/>
          </p:cNvSpPr>
          <p:nvPr>
            <p:ph type="body" idx="1"/>
          </p:nvPr>
        </p:nvSpPr>
        <p:spPr>
          <a:xfrm>
            <a:off x="4321200" y="-75"/>
            <a:ext cx="4822800" cy="51435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pic>
        <p:nvPicPr>
          <p:cNvPr id="171" name="Google Shape;171;p28"/>
          <p:cNvPicPr preferRelativeResize="0"/>
          <p:nvPr/>
        </p:nvPicPr>
        <p:blipFill>
          <a:blip r:embed="rId3">
            <a:alphaModFix/>
          </a:blip>
          <a:stretch>
            <a:fillRect/>
          </a:stretch>
        </p:blipFill>
        <p:spPr>
          <a:xfrm>
            <a:off x="0" y="-2809"/>
            <a:ext cx="9144001" cy="5146235"/>
          </a:xfrm>
          <a:prstGeom prst="rect">
            <a:avLst/>
          </a:prstGeom>
          <a:noFill/>
          <a:ln>
            <a:noFill/>
          </a:ln>
        </p:spPr>
      </p:pic>
    </p:spTree>
  </p:cSld>
  <p:clrMapOvr>
    <a:masterClrMapping/>
  </p:clrMapOvr>
</p:sld>
</file>

<file path=ppt/theme/theme1.xml><?xml version="1.0" encoding="utf-8"?>
<a:theme xmlns:a="http://schemas.openxmlformats.org/drawingml/2006/main" name="Paradigm">
  <a:themeElements>
    <a:clrScheme name="Paradigm">
      <a:dk1>
        <a:srgbClr val="31394D"/>
      </a:dk1>
      <a:lt1>
        <a:srgbClr val="FFFFFF"/>
      </a:lt1>
      <a:dk2>
        <a:srgbClr val="666666"/>
      </a:dk2>
      <a:lt2>
        <a:srgbClr val="626B73"/>
      </a:lt2>
      <a:accent1>
        <a:srgbClr val="002F4A"/>
      </a:accent1>
      <a:accent2>
        <a:srgbClr val="D9C4B1"/>
      </a:accent2>
      <a:accent3>
        <a:srgbClr val="EDE3DA"/>
      </a:accent3>
      <a:accent4>
        <a:srgbClr val="B85741"/>
      </a:accent4>
      <a:accent5>
        <a:srgbClr val="009384"/>
      </a:accent5>
      <a:accent6>
        <a:srgbClr val="D0F6FF"/>
      </a:accent6>
      <a:hlink>
        <a:srgbClr val="009384"/>
      </a:hlink>
      <a:folHlink>
        <a:srgbClr val="00938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2264</Words>
  <Application>Microsoft Office PowerPoint</Application>
  <PresentationFormat>On-screen Show (16:9)</PresentationFormat>
  <Paragraphs>136</Paragraphs>
  <Slides>16</Slides>
  <Notes>16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Times New Roman</vt:lpstr>
      <vt:lpstr>Arial</vt:lpstr>
      <vt:lpstr>Roboto</vt:lpstr>
      <vt:lpstr>Merriweather</vt:lpstr>
      <vt:lpstr>Paradigm</vt:lpstr>
      <vt:lpstr>People Analytics and Value Creation: A Case Study of Tesco plc</vt:lpstr>
      <vt:lpstr>Introduction: Tesco and People Analytics</vt:lpstr>
      <vt:lpstr>People Analytics Across the Employee Lifecycle</vt:lpstr>
      <vt:lpstr>Recruitment and Workforce Planning Analytics</vt:lpstr>
      <vt:lpstr>Employee Engagement and Performance Analytics</vt:lpstr>
      <vt:lpstr>Transforming Data into Information and Knowledge</vt:lpstr>
      <vt:lpstr>HR Information Systems and Decision Support</vt:lpstr>
      <vt:lpstr>People Analytics and Value Creation</vt:lpstr>
      <vt:lpstr>Organisational Agility Through People Analytics</vt:lpstr>
      <vt:lpstr>Competitive Advantage Through People Analytics</vt:lpstr>
      <vt:lpstr>Stakeholder Value Creation</vt:lpstr>
      <vt:lpstr>Risks and Mitigation</vt:lpstr>
      <vt:lpstr>Critical Evaluation</vt:lpstr>
      <vt:lpstr>Conclusion</vt:lpstr>
      <vt:lpstr>Reference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modified xsi:type="dcterms:W3CDTF">2026-09-10T07:52:33Z</dcterms:modified>
</cp:coreProperties>
</file>