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72"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 id="269" r:id="rId17"/>
  </p:sldIdLst>
  <p:sldSz cx="18288000" cy="10287000"/>
  <p:notesSz cx="6858000" cy="9144000"/>
  <p:embeddedFontLst>
    <p:embeddedFont>
      <p:font typeface="Calibri" pitchFamily="34" charset="0"/>
      <p:regular r:id="rId19"/>
      <p:bold r:id="rId20"/>
      <p:italic r:id="rId21"/>
      <p:boldItalic r:id="rId22"/>
    </p:embeddedFont>
    <p:embeddedFont>
      <p:font typeface="SimSun" pitchFamily="2" charset="-122"/>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1829" autoAdjust="0"/>
  </p:normalViewPr>
  <p:slideViewPr>
    <p:cSldViewPr>
      <p:cViewPr>
        <p:scale>
          <a:sx n="42" d="100"/>
          <a:sy n="42" d="100"/>
        </p:scale>
        <p:origin x="-996" y="-1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10F966-DC5A-4A58-9029-B4D8A4422708}"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34B06-5E67-4180-BA6A-5A4C2C2884A8}" type="slidenum">
              <a:rPr lang="en-US" smtClean="0"/>
              <a:t>‹#›</a:t>
            </a:fld>
            <a:endParaRPr lang="en-US"/>
          </a:p>
        </p:txBody>
      </p:sp>
    </p:spTree>
    <p:extLst>
      <p:ext uri="{BB962C8B-B14F-4D97-AF65-F5344CB8AC3E}">
        <p14:creationId xmlns:p14="http://schemas.microsoft.com/office/powerpoint/2010/main" val="98271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4</a:t>
            </a:fld>
            <a:endParaRPr lang="en-US"/>
          </a:p>
        </p:txBody>
      </p:sp>
    </p:spTree>
    <p:extLst>
      <p:ext uri="{BB962C8B-B14F-4D97-AF65-F5344CB8AC3E}">
        <p14:creationId xmlns:p14="http://schemas.microsoft.com/office/powerpoint/2010/main" val="2299314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5</a:t>
            </a:fld>
            <a:endParaRPr lang="en-US"/>
          </a:p>
        </p:txBody>
      </p:sp>
    </p:spTree>
    <p:extLst>
      <p:ext uri="{BB962C8B-B14F-4D97-AF65-F5344CB8AC3E}">
        <p14:creationId xmlns:p14="http://schemas.microsoft.com/office/powerpoint/2010/main" val="1762704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6</a:t>
            </a:fld>
            <a:endParaRPr lang="en-US"/>
          </a:p>
        </p:txBody>
      </p:sp>
    </p:spTree>
    <p:extLst>
      <p:ext uri="{BB962C8B-B14F-4D97-AF65-F5344CB8AC3E}">
        <p14:creationId xmlns:p14="http://schemas.microsoft.com/office/powerpoint/2010/main" val="879443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7</a:t>
            </a:fld>
            <a:endParaRPr lang="en-US"/>
          </a:p>
        </p:txBody>
      </p:sp>
    </p:spTree>
    <p:extLst>
      <p:ext uri="{BB962C8B-B14F-4D97-AF65-F5344CB8AC3E}">
        <p14:creationId xmlns:p14="http://schemas.microsoft.com/office/powerpoint/2010/main" val="926465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8</a:t>
            </a:fld>
            <a:endParaRPr lang="en-US"/>
          </a:p>
        </p:txBody>
      </p:sp>
    </p:spTree>
    <p:extLst>
      <p:ext uri="{BB962C8B-B14F-4D97-AF65-F5344CB8AC3E}">
        <p14:creationId xmlns:p14="http://schemas.microsoft.com/office/powerpoint/2010/main" val="588412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9</a:t>
            </a:fld>
            <a:endParaRPr lang="en-US"/>
          </a:p>
        </p:txBody>
      </p:sp>
    </p:spTree>
    <p:extLst>
      <p:ext uri="{BB962C8B-B14F-4D97-AF65-F5344CB8AC3E}">
        <p14:creationId xmlns:p14="http://schemas.microsoft.com/office/powerpoint/2010/main" val="1925042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10</a:t>
            </a:fld>
            <a:endParaRPr lang="en-US"/>
          </a:p>
        </p:txBody>
      </p:sp>
    </p:spTree>
    <p:extLst>
      <p:ext uri="{BB962C8B-B14F-4D97-AF65-F5344CB8AC3E}">
        <p14:creationId xmlns:p14="http://schemas.microsoft.com/office/powerpoint/2010/main" val="1929447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11</a:t>
            </a:fld>
            <a:endParaRPr lang="en-US"/>
          </a:p>
        </p:txBody>
      </p:sp>
    </p:spTree>
    <p:extLst>
      <p:ext uri="{BB962C8B-B14F-4D97-AF65-F5344CB8AC3E}">
        <p14:creationId xmlns:p14="http://schemas.microsoft.com/office/powerpoint/2010/main" val="2973000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12</a:t>
            </a:fld>
            <a:endParaRPr lang="en-US"/>
          </a:p>
        </p:txBody>
      </p:sp>
    </p:spTree>
    <p:extLst>
      <p:ext uri="{BB962C8B-B14F-4D97-AF65-F5344CB8AC3E}">
        <p14:creationId xmlns:p14="http://schemas.microsoft.com/office/powerpoint/2010/main" val="1618020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13</a:t>
            </a:fld>
            <a:endParaRPr lang="en-US"/>
          </a:p>
        </p:txBody>
      </p:sp>
    </p:spTree>
    <p:extLst>
      <p:ext uri="{BB962C8B-B14F-4D97-AF65-F5344CB8AC3E}">
        <p14:creationId xmlns:p14="http://schemas.microsoft.com/office/powerpoint/2010/main" val="3793547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14</a:t>
            </a:fld>
            <a:endParaRPr lang="en-US"/>
          </a:p>
        </p:txBody>
      </p:sp>
    </p:spTree>
    <p:extLst>
      <p:ext uri="{BB962C8B-B14F-4D97-AF65-F5344CB8AC3E}">
        <p14:creationId xmlns:p14="http://schemas.microsoft.com/office/powerpoint/2010/main" val="153131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34B06-5E67-4180-BA6A-5A4C2C2884A8}" type="slidenum">
              <a:rPr lang="en-US" smtClean="0"/>
              <a:t>15</a:t>
            </a:fld>
            <a:endParaRPr lang="en-US"/>
          </a:p>
        </p:txBody>
      </p:sp>
    </p:spTree>
    <p:extLst>
      <p:ext uri="{BB962C8B-B14F-4D97-AF65-F5344CB8AC3E}">
        <p14:creationId xmlns:p14="http://schemas.microsoft.com/office/powerpoint/2010/main" val="153131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87EA0AA-D0D6-76F5-5629-32EEABDCE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8FDC654-AD69-64F0-8E19-F0918150F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CCF31223-D0F0-77D9-AAC9-0068D82974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ED966745-A30F-818B-3ECF-B0B0B8DC5217}"/>
              </a:ext>
            </a:extLst>
          </p:cNvPr>
          <p:cNvSpPr>
            <a:spLocks noGrp="1"/>
          </p:cNvSpPr>
          <p:nvPr>
            <p:ph type="sldNum" sz="quarter" idx="5"/>
          </p:nvPr>
        </p:nvSpPr>
        <p:spPr/>
        <p:txBody>
          <a:bodyPr/>
          <a:lstStyle/>
          <a:p>
            <a:fld id="{FE734B06-5E67-4180-BA6A-5A4C2C2884A8}" type="slidenum">
              <a:rPr lang="en-US" smtClean="0"/>
              <a:t>16</a:t>
            </a:fld>
            <a:endParaRPr lang="en-US"/>
          </a:p>
        </p:txBody>
      </p:sp>
    </p:spTree>
    <p:extLst>
      <p:ext uri="{BB962C8B-B14F-4D97-AF65-F5344CB8AC3E}">
        <p14:creationId xmlns:p14="http://schemas.microsoft.com/office/powerpoint/2010/main" val="2960597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bathspa.ac.uk/about-us/governance/policies/academic-misconduct/"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newsroom.bathnes.gov.uk/news/every-home-bnes-" TargetMode="External"/><Relationship Id="rId7" Type="http://schemas.openxmlformats.org/officeDocument/2006/relationships/hyperlink" Target="https://doi.org/10.1108/JOE-01-2025-0002"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hyperlink" Target="https://aaltodoc.aalto.fi/bitstreams/cb141154-a9e3-4c2d-9dad-1d04e2202504/download" TargetMode="External"/><Relationship Id="rId5" Type="http://schemas.openxmlformats.org/officeDocument/2006/relationships/hyperlink" Target="https://doi.org/10.1007/s11948-024-00512-1" TargetMode="External"/><Relationship Id="rId4" Type="http://schemas.openxmlformats.org/officeDocument/2006/relationships/hyperlink" Target="https://doi.org/10.1002/bse.71087"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99137100"/>
              </p:ext>
            </p:extLst>
          </p:nvPr>
        </p:nvGraphicFramePr>
        <p:xfrm>
          <a:off x="2057400" y="2196082"/>
          <a:ext cx="13944600" cy="1821561"/>
        </p:xfrm>
        <a:graphic>
          <a:graphicData uri="http://schemas.openxmlformats.org/drawingml/2006/table">
            <a:tbl>
              <a:tblPr firstRow="1" firstCol="1" bandRow="1">
                <a:tableStyleId>{5C22544A-7EE6-4342-B048-85BDC9FD1C3A}</a:tableStyleId>
              </a:tblPr>
              <a:tblGrid>
                <a:gridCol w="4089797"/>
                <a:gridCol w="9854803"/>
              </a:tblGrid>
              <a:tr h="235030">
                <a:tc>
                  <a:txBody>
                    <a:bodyPr/>
                    <a:lstStyle/>
                    <a:p>
                      <a:pPr marL="0" marR="0" algn="just">
                        <a:lnSpc>
                          <a:spcPct val="116000"/>
                        </a:lnSpc>
                        <a:spcBef>
                          <a:spcPts val="0"/>
                        </a:spcBef>
                        <a:spcAft>
                          <a:spcPts val="0"/>
                        </a:spcAft>
                      </a:pPr>
                      <a:r>
                        <a:rPr lang="en-US" sz="2400" kern="0" dirty="0">
                          <a:effectLst/>
                          <a:latin typeface="Times New Roman" pitchFamily="18" charset="0"/>
                          <a:cs typeface="Times New Roman" pitchFamily="18" charset="0"/>
                        </a:rPr>
                        <a:t>Name</a:t>
                      </a:r>
                      <a:endParaRPr lang="en-US" sz="2400" kern="100" dirty="0">
                        <a:solidFill>
                          <a:srgbClr val="000000"/>
                        </a:solidFill>
                        <a:effectLst/>
                        <a:latin typeface="Times New Roman" pitchFamily="18" charset="0"/>
                        <a:ea typeface="Aptos"/>
                        <a:cs typeface="Times New Roman" pitchFamily="18" charset="0"/>
                      </a:endParaRPr>
                    </a:p>
                  </a:txBody>
                  <a:tcPr marL="57150" marR="57150" marT="0" marB="0"/>
                </a:tc>
                <a:tc>
                  <a:txBody>
                    <a:bodyPr/>
                    <a:lstStyle/>
                    <a:p>
                      <a:pPr marL="0" marR="0" algn="just">
                        <a:lnSpc>
                          <a:spcPct val="150000"/>
                        </a:lnSpc>
                        <a:spcBef>
                          <a:spcPts val="0"/>
                        </a:spcBef>
                        <a:spcAft>
                          <a:spcPts val="800"/>
                        </a:spcAft>
                      </a:pPr>
                      <a:r>
                        <a:rPr lang="pt-BR" sz="2400" kern="0" dirty="0">
                          <a:effectLst/>
                          <a:latin typeface="Times New Roman" pitchFamily="18" charset="0"/>
                          <a:cs typeface="Times New Roman" pitchFamily="18" charset="0"/>
                        </a:rPr>
                        <a:t>Elaine Silva </a:t>
                      </a:r>
                      <a:endParaRPr lang="en-US" sz="2400" kern="100" dirty="0">
                        <a:solidFill>
                          <a:srgbClr val="000000"/>
                        </a:solidFill>
                        <a:effectLst/>
                        <a:latin typeface="Times New Roman" pitchFamily="18" charset="0"/>
                        <a:ea typeface="SimSun"/>
                        <a:cs typeface="Times New Roman" pitchFamily="18" charset="0"/>
                      </a:endParaRPr>
                    </a:p>
                  </a:txBody>
                  <a:tcPr marL="57150" marR="57150" marT="0" marB="0"/>
                </a:tc>
              </a:tr>
              <a:tr h="181767">
                <a:tc>
                  <a:txBody>
                    <a:bodyPr/>
                    <a:lstStyle/>
                    <a:p>
                      <a:pPr marL="0" marR="0" algn="just">
                        <a:lnSpc>
                          <a:spcPct val="116000"/>
                        </a:lnSpc>
                        <a:spcBef>
                          <a:spcPts val="0"/>
                        </a:spcBef>
                        <a:spcAft>
                          <a:spcPts val="0"/>
                        </a:spcAft>
                      </a:pPr>
                      <a:r>
                        <a:rPr lang="en-US" sz="2400" kern="0">
                          <a:effectLst/>
                          <a:latin typeface="Times New Roman" pitchFamily="18" charset="0"/>
                          <a:cs typeface="Times New Roman" pitchFamily="18" charset="0"/>
                        </a:rPr>
                        <a:t>Student ID</a:t>
                      </a:r>
                      <a:endParaRPr lang="en-US" sz="2400" kern="100">
                        <a:solidFill>
                          <a:srgbClr val="000000"/>
                        </a:solidFill>
                        <a:effectLst/>
                        <a:latin typeface="Times New Roman" pitchFamily="18" charset="0"/>
                        <a:ea typeface="Aptos"/>
                        <a:cs typeface="Times New Roman" pitchFamily="18" charset="0"/>
                      </a:endParaRPr>
                    </a:p>
                  </a:txBody>
                  <a:tcPr marL="57150" marR="57150" marT="0" marB="0"/>
                </a:tc>
                <a:tc>
                  <a:txBody>
                    <a:bodyPr/>
                    <a:lstStyle/>
                    <a:p>
                      <a:pPr marL="0" marR="0" algn="just" defTabSz="914400" rtl="0" eaLnBrk="1" latinLnBrk="0" hangingPunct="1">
                        <a:lnSpc>
                          <a:spcPct val="116000"/>
                        </a:lnSpc>
                        <a:spcBef>
                          <a:spcPts val="0"/>
                        </a:spcBef>
                        <a:spcAft>
                          <a:spcPts val="0"/>
                        </a:spcAft>
                      </a:pPr>
                      <a:r>
                        <a:rPr lang="en-GB" sz="2400" kern="0" dirty="0">
                          <a:solidFill>
                            <a:schemeClr val="dk1"/>
                          </a:solidFill>
                          <a:effectLst/>
                          <a:highlight>
                            <a:srgbClr val="FFFFFF"/>
                          </a:highlight>
                          <a:latin typeface="Times New Roman" pitchFamily="18" charset="0"/>
                          <a:ea typeface="+mn-ea"/>
                          <a:cs typeface="Times New Roman" pitchFamily="18" charset="0"/>
                        </a:rPr>
                        <a:t>618549</a:t>
                      </a:r>
                      <a:endParaRPr lang="en-US" sz="2400" kern="0" dirty="0">
                        <a:solidFill>
                          <a:schemeClr val="dk1"/>
                        </a:solidFill>
                        <a:effectLst/>
                        <a:highlight>
                          <a:srgbClr val="FFFFFF"/>
                        </a:highlight>
                        <a:latin typeface="Times New Roman" pitchFamily="18" charset="0"/>
                        <a:ea typeface="+mn-ea"/>
                        <a:cs typeface="Times New Roman" pitchFamily="18" charset="0"/>
                      </a:endParaRPr>
                    </a:p>
                  </a:txBody>
                  <a:tcPr marL="57150" marR="57150" marT="0" marB="0"/>
                </a:tc>
              </a:tr>
              <a:tr h="286901">
                <a:tc>
                  <a:txBody>
                    <a:bodyPr/>
                    <a:lstStyle/>
                    <a:p>
                      <a:pPr marL="0" marR="0" algn="just">
                        <a:lnSpc>
                          <a:spcPct val="116000"/>
                        </a:lnSpc>
                        <a:spcBef>
                          <a:spcPts val="0"/>
                        </a:spcBef>
                        <a:spcAft>
                          <a:spcPts val="0"/>
                        </a:spcAft>
                      </a:pPr>
                      <a:r>
                        <a:rPr lang="en-US" sz="2400" kern="0">
                          <a:effectLst/>
                          <a:latin typeface="Times New Roman" pitchFamily="18" charset="0"/>
                          <a:cs typeface="Times New Roman" pitchFamily="18" charset="0"/>
                        </a:rPr>
                        <a:t>Date of Submission</a:t>
                      </a:r>
                      <a:endParaRPr lang="en-US" sz="2400" kern="100">
                        <a:solidFill>
                          <a:srgbClr val="000000"/>
                        </a:solidFill>
                        <a:effectLst/>
                        <a:latin typeface="Times New Roman" pitchFamily="18" charset="0"/>
                        <a:ea typeface="Aptos"/>
                        <a:cs typeface="Times New Roman" pitchFamily="18" charset="0"/>
                      </a:endParaRPr>
                    </a:p>
                  </a:txBody>
                  <a:tcPr marL="57150" marR="57150" marT="0" marB="0"/>
                </a:tc>
                <a:tc>
                  <a:txBody>
                    <a:bodyPr/>
                    <a:lstStyle/>
                    <a:p>
                      <a:pPr marL="0" marR="0" algn="just" defTabSz="914400" rtl="0" eaLnBrk="1" latinLnBrk="0" hangingPunct="1">
                        <a:lnSpc>
                          <a:spcPct val="116000"/>
                        </a:lnSpc>
                        <a:spcBef>
                          <a:spcPts val="0"/>
                        </a:spcBef>
                        <a:spcAft>
                          <a:spcPts val="0"/>
                        </a:spcAft>
                      </a:pPr>
                      <a:r>
                        <a:rPr lang="en-GB" sz="2400" kern="0" dirty="0">
                          <a:effectLst/>
                          <a:latin typeface="Times New Roman" pitchFamily="18" charset="0"/>
                          <a:cs typeface="Times New Roman" pitchFamily="18" charset="0"/>
                        </a:rPr>
                        <a:t> </a:t>
                      </a:r>
                      <a:endParaRPr lang="en-US" sz="2400" kern="0" dirty="0">
                        <a:solidFill>
                          <a:schemeClr val="dk1"/>
                        </a:solidFill>
                        <a:effectLst/>
                        <a:highlight>
                          <a:srgbClr val="FFFFFF"/>
                        </a:highlight>
                        <a:latin typeface="Times New Roman" pitchFamily="18" charset="0"/>
                        <a:ea typeface="+mn-ea"/>
                        <a:cs typeface="Times New Roman" pitchFamily="18" charset="0"/>
                      </a:endParaRPr>
                    </a:p>
                  </a:txBody>
                  <a:tcPr marL="57150" marR="57150" marT="0" marB="0"/>
                </a:tc>
              </a:tr>
              <a:tr h="0">
                <a:tc>
                  <a:txBody>
                    <a:bodyPr/>
                    <a:lstStyle/>
                    <a:p>
                      <a:pPr marL="0" marR="0" algn="just">
                        <a:lnSpc>
                          <a:spcPct val="116000"/>
                        </a:lnSpc>
                        <a:spcBef>
                          <a:spcPts val="0"/>
                        </a:spcBef>
                        <a:spcAft>
                          <a:spcPts val="0"/>
                        </a:spcAft>
                      </a:pPr>
                      <a:r>
                        <a:rPr lang="en-US" sz="2400" kern="0" dirty="0">
                          <a:effectLst/>
                          <a:latin typeface="Times New Roman" pitchFamily="18" charset="0"/>
                          <a:cs typeface="Times New Roman" pitchFamily="18" charset="0"/>
                        </a:rPr>
                        <a:t>Word Count</a:t>
                      </a:r>
                      <a:endParaRPr lang="en-US" sz="2400" kern="100" dirty="0">
                        <a:solidFill>
                          <a:srgbClr val="000000"/>
                        </a:solidFill>
                        <a:effectLst/>
                        <a:latin typeface="Times New Roman" pitchFamily="18" charset="0"/>
                        <a:ea typeface="Aptos"/>
                        <a:cs typeface="Times New Roman" pitchFamily="18" charset="0"/>
                      </a:endParaRPr>
                    </a:p>
                  </a:txBody>
                  <a:tcPr marL="57150" marR="57150" marT="0" marB="0"/>
                </a:tc>
                <a:tc>
                  <a:txBody>
                    <a:bodyPr/>
                    <a:lstStyle/>
                    <a:p>
                      <a:pPr marL="0" marR="0" algn="just">
                        <a:lnSpc>
                          <a:spcPct val="116000"/>
                        </a:lnSpc>
                        <a:spcBef>
                          <a:spcPts val="0"/>
                        </a:spcBef>
                        <a:spcAft>
                          <a:spcPts val="0"/>
                        </a:spcAft>
                      </a:pPr>
                      <a:r>
                        <a:rPr lang="en-GB" sz="2400" kern="0" dirty="0">
                          <a:effectLst/>
                          <a:latin typeface="Times New Roman" pitchFamily="18" charset="0"/>
                          <a:cs typeface="Times New Roman" pitchFamily="18" charset="0"/>
                        </a:rPr>
                        <a:t> </a:t>
                      </a:r>
                      <a:endParaRPr lang="en-US" sz="2400" kern="100" dirty="0">
                        <a:solidFill>
                          <a:srgbClr val="000000"/>
                        </a:solidFill>
                        <a:effectLst/>
                        <a:latin typeface="Times New Roman" pitchFamily="18" charset="0"/>
                        <a:ea typeface="Aptos"/>
                        <a:cs typeface="Times New Roman" pitchFamily="18" charset="0"/>
                      </a:endParaRPr>
                    </a:p>
                  </a:txBody>
                  <a:tcPr marL="57150" marR="57150" marT="0" marB="0"/>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078386849"/>
              </p:ext>
            </p:extLst>
          </p:nvPr>
        </p:nvGraphicFramePr>
        <p:xfrm>
          <a:off x="381000" y="4381500"/>
          <a:ext cx="17145000" cy="5628322"/>
        </p:xfrm>
        <a:graphic>
          <a:graphicData uri="http://schemas.openxmlformats.org/drawingml/2006/table">
            <a:tbl>
              <a:tblPr firstRow="1" firstCol="1" bandRow="1">
                <a:tableStyleId>{5C22544A-7EE6-4342-B048-85BDC9FD1C3A}</a:tableStyleId>
              </a:tblPr>
              <a:tblGrid>
                <a:gridCol w="10896600"/>
                <a:gridCol w="6248400"/>
              </a:tblGrid>
              <a:tr h="2043621">
                <a:tc gridSpan="2">
                  <a:txBody>
                    <a:bodyPr/>
                    <a:lstStyle/>
                    <a:p>
                      <a:pPr marL="0" marR="0" algn="just">
                        <a:lnSpc>
                          <a:spcPct val="150000"/>
                        </a:lnSpc>
                        <a:spcBef>
                          <a:spcPts val="0"/>
                        </a:spcBef>
                        <a:spcAft>
                          <a:spcPts val="0"/>
                        </a:spcAft>
                      </a:pPr>
                      <a:r>
                        <a:rPr lang="en-US" sz="2400" kern="0" dirty="0">
                          <a:effectLst/>
                          <a:latin typeface="Times New Roman" pitchFamily="18" charset="0"/>
                          <a:cs typeface="Times New Roman" pitchFamily="18" charset="0"/>
                        </a:rPr>
                        <a:t>Ethics Statements</a:t>
                      </a:r>
                      <a:endParaRPr lang="en-US" sz="2400" kern="100" dirty="0">
                        <a:effectLst/>
                        <a:latin typeface="Times New Roman" pitchFamily="18" charset="0"/>
                        <a:cs typeface="Times New Roman" pitchFamily="18" charset="0"/>
                      </a:endParaRPr>
                    </a:p>
                    <a:p>
                      <a:pPr marL="0" marR="0" algn="just">
                        <a:lnSpc>
                          <a:spcPct val="150000"/>
                        </a:lnSpc>
                        <a:spcBef>
                          <a:spcPts val="0"/>
                        </a:spcBef>
                        <a:spcAft>
                          <a:spcPts val="0"/>
                        </a:spcAft>
                      </a:pPr>
                      <a:r>
                        <a:rPr lang="en-US" sz="2400" kern="0" dirty="0">
                          <a:effectLst/>
                          <a:latin typeface="Times New Roman" pitchFamily="18" charset="0"/>
                          <a:cs typeface="Times New Roman" pitchFamily="18" charset="0"/>
                        </a:rPr>
                        <a:t>In completing this section and submitting this assignment to TURNITIN you are confirming that you have read and understood the regulations regarding ethics and assessment and are aware of the seriousness with which the University regards unfair practice.</a:t>
                      </a:r>
                      <a:endParaRPr lang="en-US" sz="2400" kern="100" dirty="0">
                        <a:solidFill>
                          <a:srgbClr val="000000"/>
                        </a:solidFill>
                        <a:effectLst/>
                        <a:latin typeface="Times New Roman" pitchFamily="18" charset="0"/>
                        <a:ea typeface="Aptos"/>
                        <a:cs typeface="Times New Roman" pitchFamily="18" charset="0"/>
                      </a:endParaRPr>
                    </a:p>
                  </a:txBody>
                  <a:tcPr marL="57150" marR="57150" marT="0" marB="0"/>
                </a:tc>
                <a:tc hMerge="1">
                  <a:txBody>
                    <a:bodyPr/>
                    <a:lstStyle/>
                    <a:p>
                      <a:endParaRPr lang="en-US"/>
                    </a:p>
                  </a:txBody>
                  <a:tcPr/>
                </a:tc>
              </a:tr>
              <a:tr h="690562">
                <a:tc>
                  <a:txBody>
                    <a:bodyPr/>
                    <a:lstStyle/>
                    <a:p>
                      <a:pPr marL="0" marR="0" algn="just">
                        <a:lnSpc>
                          <a:spcPct val="150000"/>
                        </a:lnSpc>
                        <a:spcBef>
                          <a:spcPts val="0"/>
                        </a:spcBef>
                        <a:spcAft>
                          <a:spcPts val="0"/>
                        </a:spcAft>
                      </a:pPr>
                      <a:r>
                        <a:rPr lang="en-US" sz="2400" kern="0" dirty="0">
                          <a:effectLst/>
                          <a:latin typeface="Times New Roman" pitchFamily="18" charset="0"/>
                          <a:cs typeface="Times New Roman" pitchFamily="18" charset="0"/>
                        </a:rPr>
                        <a:t>I have </a:t>
                      </a:r>
                      <a:r>
                        <a:rPr lang="en-US" sz="2400" kern="0" dirty="0" err="1">
                          <a:effectLst/>
                          <a:latin typeface="Times New Roman" pitchFamily="18" charset="0"/>
                          <a:cs typeface="Times New Roman" pitchFamily="18" charset="0"/>
                        </a:rPr>
                        <a:t>anonymised</a:t>
                      </a:r>
                      <a:r>
                        <a:rPr lang="en-US" sz="2400" kern="0" dirty="0">
                          <a:effectLst/>
                          <a:latin typeface="Times New Roman" pitchFamily="18" charset="0"/>
                          <a:cs typeface="Times New Roman" pitchFamily="18" charset="0"/>
                        </a:rPr>
                        <a:t> student names in evidence/writing</a:t>
                      </a:r>
                      <a:endParaRPr lang="en-US" sz="2400" kern="100" dirty="0">
                        <a:solidFill>
                          <a:srgbClr val="000000"/>
                        </a:solidFill>
                        <a:effectLst/>
                        <a:latin typeface="Times New Roman" pitchFamily="18" charset="0"/>
                        <a:ea typeface="Aptos"/>
                        <a:cs typeface="Times New Roman" pitchFamily="18" charset="0"/>
                      </a:endParaRPr>
                    </a:p>
                  </a:txBody>
                  <a:tcPr marL="57150" marR="57150" marT="0" marB="0"/>
                </a:tc>
                <a:tc>
                  <a:txBody>
                    <a:bodyPr/>
                    <a:lstStyle/>
                    <a:p>
                      <a:pPr marL="0" marR="0" algn="ctr">
                        <a:lnSpc>
                          <a:spcPct val="150000"/>
                        </a:lnSpc>
                        <a:spcBef>
                          <a:spcPts val="0"/>
                        </a:spcBef>
                        <a:spcAft>
                          <a:spcPts val="0"/>
                        </a:spcAft>
                      </a:pPr>
                      <a:r>
                        <a:rPr lang="en-US" sz="2400" kern="0">
                          <a:effectLst/>
                          <a:latin typeface="Times New Roman" pitchFamily="18" charset="0"/>
                          <a:cs typeface="Times New Roman" pitchFamily="18" charset="0"/>
                        </a:rPr>
                        <a:t>Yes</a:t>
                      </a:r>
                      <a:endParaRPr lang="en-US" sz="2400" kern="100">
                        <a:solidFill>
                          <a:srgbClr val="000000"/>
                        </a:solidFill>
                        <a:effectLst/>
                        <a:latin typeface="Times New Roman" pitchFamily="18" charset="0"/>
                        <a:ea typeface="Aptos"/>
                        <a:cs typeface="Times New Roman" pitchFamily="18" charset="0"/>
                      </a:endParaRPr>
                    </a:p>
                  </a:txBody>
                  <a:tcPr marL="57150" marR="57150" marT="0" marB="0" anchor="ctr"/>
                </a:tc>
              </a:tr>
              <a:tr h="399073">
                <a:tc>
                  <a:txBody>
                    <a:bodyPr/>
                    <a:lstStyle/>
                    <a:p>
                      <a:pPr marL="0" marR="0" algn="just">
                        <a:lnSpc>
                          <a:spcPct val="150000"/>
                        </a:lnSpc>
                        <a:spcBef>
                          <a:spcPts val="0"/>
                        </a:spcBef>
                        <a:spcAft>
                          <a:spcPts val="0"/>
                        </a:spcAft>
                      </a:pPr>
                      <a:r>
                        <a:rPr lang="en-US" sz="2400" kern="0">
                          <a:effectLst/>
                          <a:latin typeface="Times New Roman" pitchFamily="18" charset="0"/>
                          <a:cs typeface="Times New Roman" pitchFamily="18" charset="0"/>
                        </a:rPr>
                        <a:t>I understand my ethical responsibilities regarding my assignments</a:t>
                      </a:r>
                      <a:endParaRPr lang="en-US" sz="2400" kern="100">
                        <a:solidFill>
                          <a:srgbClr val="000000"/>
                        </a:solidFill>
                        <a:effectLst/>
                        <a:latin typeface="Times New Roman" pitchFamily="18" charset="0"/>
                        <a:ea typeface="Aptos"/>
                        <a:cs typeface="Times New Roman" pitchFamily="18" charset="0"/>
                      </a:endParaRPr>
                    </a:p>
                  </a:txBody>
                  <a:tcPr marL="57150" marR="57150" marT="0" marB="0"/>
                </a:tc>
                <a:tc>
                  <a:txBody>
                    <a:bodyPr/>
                    <a:lstStyle/>
                    <a:p>
                      <a:pPr marL="0" marR="0" algn="ctr">
                        <a:lnSpc>
                          <a:spcPct val="150000"/>
                        </a:lnSpc>
                        <a:spcBef>
                          <a:spcPts val="0"/>
                        </a:spcBef>
                        <a:spcAft>
                          <a:spcPts val="0"/>
                        </a:spcAft>
                      </a:pPr>
                      <a:r>
                        <a:rPr lang="en-US" sz="2400" kern="0">
                          <a:effectLst/>
                          <a:latin typeface="Times New Roman" pitchFamily="18" charset="0"/>
                          <a:cs typeface="Times New Roman" pitchFamily="18" charset="0"/>
                        </a:rPr>
                        <a:t>Yes</a:t>
                      </a:r>
                      <a:endParaRPr lang="en-US" sz="2400" kern="100">
                        <a:solidFill>
                          <a:srgbClr val="000000"/>
                        </a:solidFill>
                        <a:effectLst/>
                        <a:latin typeface="Times New Roman" pitchFamily="18" charset="0"/>
                        <a:ea typeface="Aptos"/>
                        <a:cs typeface="Times New Roman" pitchFamily="18" charset="0"/>
                      </a:endParaRPr>
                    </a:p>
                  </a:txBody>
                  <a:tcPr marL="57150" marR="57150" marT="0" marB="0" anchor="ctr"/>
                </a:tc>
              </a:tr>
              <a:tr h="357856">
                <a:tc>
                  <a:txBody>
                    <a:bodyPr/>
                    <a:lstStyle/>
                    <a:p>
                      <a:pPr marL="0" marR="0" algn="just">
                        <a:lnSpc>
                          <a:spcPct val="150000"/>
                        </a:lnSpc>
                        <a:spcBef>
                          <a:spcPts val="0"/>
                        </a:spcBef>
                        <a:spcAft>
                          <a:spcPts val="0"/>
                        </a:spcAft>
                      </a:pPr>
                      <a:r>
                        <a:rPr lang="en-US" sz="2400" kern="0">
                          <a:effectLst/>
                          <a:latin typeface="Times New Roman" pitchFamily="18" charset="0"/>
                          <a:cs typeface="Times New Roman" pitchFamily="18" charset="0"/>
                        </a:rPr>
                        <a:t>I have read and understood BSU’s policy on Academic Misconduct</a:t>
                      </a:r>
                      <a:endParaRPr lang="en-US" sz="2400" kern="100">
                        <a:effectLst/>
                        <a:latin typeface="Times New Roman" pitchFamily="18" charset="0"/>
                        <a:cs typeface="Times New Roman" pitchFamily="18" charset="0"/>
                      </a:endParaRPr>
                    </a:p>
                    <a:p>
                      <a:pPr marL="0" marR="0" algn="just">
                        <a:lnSpc>
                          <a:spcPct val="150000"/>
                        </a:lnSpc>
                        <a:spcBef>
                          <a:spcPts val="0"/>
                        </a:spcBef>
                        <a:spcAft>
                          <a:spcPts val="0"/>
                        </a:spcAft>
                      </a:pPr>
                      <a:r>
                        <a:rPr lang="en-US" sz="2400" u="sng" kern="0">
                          <a:effectLst/>
                          <a:latin typeface="Times New Roman" pitchFamily="18" charset="0"/>
                          <a:cs typeface="Times New Roman" pitchFamily="18" charset="0"/>
                          <a:hlinkClick r:id="rId2"/>
                        </a:rPr>
                        <a:t>www.bathspa.ac.uk/about-us/governance/policies/academic-misconduct/</a:t>
                      </a:r>
                      <a:r>
                        <a:rPr lang="en-US" sz="2400" kern="0">
                          <a:effectLst/>
                          <a:latin typeface="Times New Roman" pitchFamily="18" charset="0"/>
                          <a:cs typeface="Times New Roman" pitchFamily="18" charset="0"/>
                        </a:rPr>
                        <a:t> </a:t>
                      </a:r>
                      <a:endParaRPr lang="en-US" sz="2400" kern="100">
                        <a:solidFill>
                          <a:srgbClr val="000000"/>
                        </a:solidFill>
                        <a:effectLst/>
                        <a:latin typeface="Times New Roman" pitchFamily="18" charset="0"/>
                        <a:ea typeface="Aptos"/>
                        <a:cs typeface="Times New Roman" pitchFamily="18" charset="0"/>
                      </a:endParaRPr>
                    </a:p>
                  </a:txBody>
                  <a:tcPr marL="57150" marR="57150" marT="0" marB="0"/>
                </a:tc>
                <a:tc>
                  <a:txBody>
                    <a:bodyPr/>
                    <a:lstStyle/>
                    <a:p>
                      <a:pPr marL="0" marR="0" algn="ctr">
                        <a:lnSpc>
                          <a:spcPct val="150000"/>
                        </a:lnSpc>
                        <a:spcBef>
                          <a:spcPts val="0"/>
                        </a:spcBef>
                        <a:spcAft>
                          <a:spcPts val="0"/>
                        </a:spcAft>
                      </a:pPr>
                      <a:r>
                        <a:rPr lang="en-US" sz="2400" kern="0">
                          <a:effectLst/>
                          <a:latin typeface="Times New Roman" pitchFamily="18" charset="0"/>
                          <a:cs typeface="Times New Roman" pitchFamily="18" charset="0"/>
                        </a:rPr>
                        <a:t>Yes</a:t>
                      </a:r>
                      <a:endParaRPr lang="en-US" sz="2400" kern="100">
                        <a:solidFill>
                          <a:srgbClr val="000000"/>
                        </a:solidFill>
                        <a:effectLst/>
                        <a:latin typeface="Times New Roman" pitchFamily="18" charset="0"/>
                        <a:ea typeface="Aptos"/>
                        <a:cs typeface="Times New Roman" pitchFamily="18" charset="0"/>
                      </a:endParaRPr>
                    </a:p>
                  </a:txBody>
                  <a:tcPr marL="57150" marR="57150" marT="0" marB="0" anchor="ctr"/>
                </a:tc>
              </a:tr>
              <a:tr h="399073">
                <a:tc>
                  <a:txBody>
                    <a:bodyPr/>
                    <a:lstStyle/>
                    <a:p>
                      <a:pPr marL="0" marR="0" algn="just">
                        <a:lnSpc>
                          <a:spcPct val="150000"/>
                        </a:lnSpc>
                        <a:spcBef>
                          <a:spcPts val="0"/>
                        </a:spcBef>
                        <a:spcAft>
                          <a:spcPts val="0"/>
                        </a:spcAft>
                      </a:pPr>
                      <a:r>
                        <a:rPr lang="en-US" sz="2400" kern="0" dirty="0">
                          <a:effectLst/>
                          <a:latin typeface="Times New Roman" pitchFamily="18" charset="0"/>
                          <a:cs typeface="Times New Roman" pitchFamily="18" charset="0"/>
                        </a:rPr>
                        <a:t>I have used AI tools in assignments</a:t>
                      </a:r>
                      <a:endParaRPr lang="en-US" sz="2400" kern="100" dirty="0">
                        <a:effectLst/>
                        <a:latin typeface="Times New Roman" pitchFamily="18" charset="0"/>
                        <a:cs typeface="Times New Roman" pitchFamily="18" charset="0"/>
                      </a:endParaRPr>
                    </a:p>
                    <a:p>
                      <a:pPr marL="0" marR="0" algn="just">
                        <a:lnSpc>
                          <a:spcPct val="150000"/>
                        </a:lnSpc>
                        <a:spcBef>
                          <a:spcPts val="0"/>
                        </a:spcBef>
                        <a:spcAft>
                          <a:spcPts val="0"/>
                        </a:spcAft>
                      </a:pPr>
                      <a:r>
                        <a:rPr lang="en-US" sz="2400" kern="0" dirty="0">
                          <a:effectLst/>
                          <a:latin typeface="Times New Roman" pitchFamily="18" charset="0"/>
                          <a:cs typeface="Times New Roman" pitchFamily="18" charset="0"/>
                        </a:rPr>
                        <a:t>If yes, please mention which part: </a:t>
                      </a:r>
                      <a:endParaRPr lang="en-US" sz="2400" kern="100" dirty="0">
                        <a:solidFill>
                          <a:srgbClr val="000000"/>
                        </a:solidFill>
                        <a:effectLst/>
                        <a:latin typeface="Times New Roman" pitchFamily="18" charset="0"/>
                        <a:ea typeface="Aptos"/>
                        <a:cs typeface="Times New Roman" pitchFamily="18" charset="0"/>
                      </a:endParaRPr>
                    </a:p>
                  </a:txBody>
                  <a:tcPr marL="57150" marR="57150" marT="0" marB="0"/>
                </a:tc>
                <a:tc>
                  <a:txBody>
                    <a:bodyPr/>
                    <a:lstStyle/>
                    <a:p>
                      <a:pPr marL="0" marR="0" algn="ctr">
                        <a:lnSpc>
                          <a:spcPct val="150000"/>
                        </a:lnSpc>
                        <a:spcBef>
                          <a:spcPts val="0"/>
                        </a:spcBef>
                        <a:spcAft>
                          <a:spcPts val="0"/>
                        </a:spcAft>
                      </a:pPr>
                      <a:r>
                        <a:rPr lang="en-US" sz="2400" kern="0" dirty="0">
                          <a:effectLst/>
                          <a:latin typeface="Times New Roman" pitchFamily="18" charset="0"/>
                          <a:cs typeface="Times New Roman" pitchFamily="18" charset="0"/>
                        </a:rPr>
                        <a:t>No</a:t>
                      </a:r>
                      <a:endParaRPr lang="en-US" sz="2400" kern="100" dirty="0">
                        <a:solidFill>
                          <a:srgbClr val="000000"/>
                        </a:solidFill>
                        <a:effectLst/>
                        <a:latin typeface="Times New Roman" pitchFamily="18" charset="0"/>
                        <a:ea typeface="Aptos"/>
                        <a:cs typeface="Times New Roman" pitchFamily="18" charset="0"/>
                      </a:endParaRPr>
                    </a:p>
                  </a:txBody>
                  <a:tcPr marL="57150" marR="57150" marT="0" marB="0" anchor="ctr"/>
                </a:tc>
              </a:tr>
            </a:tbl>
          </a:graphicData>
        </a:graphic>
      </p:graphicFrame>
      <p:sp>
        <p:nvSpPr>
          <p:cNvPr id="4" name="Rectangle 1"/>
          <p:cNvSpPr>
            <a:spLocks noChangeArrowheads="1"/>
          </p:cNvSpPr>
          <p:nvPr/>
        </p:nvSpPr>
        <p:spPr bwMode="auto">
          <a:xfrm>
            <a:off x="6240780" y="1005870"/>
            <a:ext cx="607794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22314E"/>
                </a:solidFill>
                <a:effectLst/>
                <a:latin typeface="Times New Roman" pitchFamily="18" charset="0"/>
                <a:ea typeface="Aptos"/>
                <a:cs typeface="Times New Roman" pitchFamily="18" charset="0"/>
              </a:rPr>
              <a:t>Bath Spa University London</a:t>
            </a:r>
            <a:endParaRPr kumimoji="0" lang="en-GB" sz="2400" b="0" i="0" u="none" strike="noStrike" cap="none" normalizeH="0" baseline="0" dirty="0" smtClean="0">
              <a:ln>
                <a:noFill/>
              </a:ln>
              <a:solidFill>
                <a:srgbClr val="000000"/>
              </a:solidFill>
              <a:effectLst/>
              <a:latin typeface="Times New Roman" pitchFamily="18" charset="0"/>
              <a:ea typeface="Aptos"/>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sz="2400" b="1" i="0" u="none" strike="noStrike" cap="none" normalizeH="0" baseline="0" dirty="0" smtClean="0">
                <a:ln>
                  <a:noFill/>
                </a:ln>
                <a:solidFill>
                  <a:srgbClr val="222222"/>
                </a:solidFill>
                <a:effectLst/>
                <a:latin typeface="Times New Roman" pitchFamily="18" charset="0"/>
                <a:ea typeface="Aptos"/>
                <a:cs typeface="Times New Roman" pitchFamily="18" charset="0"/>
              </a:rPr>
              <a:t>BMAF010-20 Assessment Submission Form</a:t>
            </a:r>
            <a:r>
              <a:rPr kumimoji="0" lang="en-US"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t>
            </a:r>
            <a:endParaRPr kumimoji="0" lang="en-GB" sz="2400" b="0" i="0" u="none" strike="noStrike" cap="none" normalizeH="0" baseline="0" dirty="0" smtClean="0">
              <a:ln>
                <a:noFill/>
              </a:ln>
              <a:solidFill>
                <a:srgbClr val="000000"/>
              </a:solidFill>
              <a:effectLst/>
              <a:latin typeface="Times New Roman" pitchFamily="18" charset="0"/>
              <a:ea typeface="Aptos"/>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GB" sz="2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t>
            </a:r>
            <a:endParaRPr kumimoji="0" lang="en-GB" sz="2400" b="0" i="0" u="none" strike="noStrike" cap="none" normalizeH="0" baseline="0" dirty="0" smtClean="0">
              <a:ln>
                <a:noFill/>
              </a:ln>
              <a:solidFill>
                <a:srgbClr val="000000"/>
              </a:solidFill>
              <a:effectLst/>
              <a:latin typeface="Times New Roman" pitchFamily="18" charset="0"/>
              <a:ea typeface="Aptos"/>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868392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4838700"/>
            <a:chOff x="0" y="0"/>
            <a:chExt cx="3079886" cy="837021"/>
          </a:xfrm>
        </p:grpSpPr>
        <p:sp>
          <p:nvSpPr>
            <p:cNvPr id="3" name="Freeform 3"/>
            <p:cNvSpPr/>
            <p:nvPr/>
          </p:nvSpPr>
          <p:spPr>
            <a:xfrm>
              <a:off x="0" y="0"/>
              <a:ext cx="3079886" cy="837021"/>
            </a:xfrm>
            <a:custGeom>
              <a:avLst/>
              <a:gdLst/>
              <a:ahLst/>
              <a:cxnLst/>
              <a:rect l="l" t="t" r="r" b="b"/>
              <a:pathLst>
                <a:path w="3079886" h="837021">
                  <a:moveTo>
                    <a:pt x="0" y="0"/>
                  </a:moveTo>
                  <a:lnTo>
                    <a:pt x="3079886" y="0"/>
                  </a:lnTo>
                  <a:lnTo>
                    <a:pt x="3079886" y="837021"/>
                  </a:lnTo>
                  <a:lnTo>
                    <a:pt x="0" y="837021"/>
                  </a:lnTo>
                  <a:close/>
                </a:path>
              </a:pathLst>
            </a:custGeom>
            <a:blipFill>
              <a:blip r:embed="rId2"/>
              <a:stretch>
                <a:fillRect t="-122121" b="-22570"/>
              </a:stretch>
            </a:blipFill>
          </p:spPr>
        </p:sp>
      </p:grpSp>
      <p:sp>
        <p:nvSpPr>
          <p:cNvPr id="16" name="TextBox 15">
            <a:extLst>
              <a:ext uri="{FF2B5EF4-FFF2-40B4-BE49-F238E27FC236}">
                <a16:creationId xmlns:a16="http://schemas.microsoft.com/office/drawing/2014/main" xmlns="" id="{606C12D8-B048-D2B6-E3D0-995ACA32B787}"/>
              </a:ext>
            </a:extLst>
          </p:cNvPr>
          <p:cNvSpPr txBox="1"/>
          <p:nvPr/>
        </p:nvSpPr>
        <p:spPr>
          <a:xfrm>
            <a:off x="990600" y="5981700"/>
            <a:ext cx="10313124" cy="1569660"/>
          </a:xfrm>
          <a:prstGeom prst="rect">
            <a:avLst/>
          </a:prstGeom>
          <a:noFill/>
        </p:spPr>
        <p:txBody>
          <a:bodyPr wrap="square">
            <a:spAutoFit/>
          </a:bodyPr>
          <a:lstStyle/>
          <a:p>
            <a:r>
              <a:rPr lang="en-US" sz="4800" b="1" i="1" dirty="0">
                <a:latin typeface="Times New Roman" panose="02020603050405020304" pitchFamily="18" charset="0"/>
                <a:cs typeface="Times New Roman" panose="02020603050405020304" pitchFamily="18" charset="0"/>
              </a:rPr>
              <a:t>Designing a Circular Food Waste Solution for a Sustainable Bath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2860"/>
            <a:ext cx="2209800" cy="10264140"/>
            <a:chOff x="0" y="0"/>
            <a:chExt cx="766055" cy="3064366"/>
          </a:xfrm>
        </p:grpSpPr>
        <p:sp>
          <p:nvSpPr>
            <p:cNvPr id="3" name="Freeform 3"/>
            <p:cNvSpPr/>
            <p:nvPr/>
          </p:nvSpPr>
          <p:spPr>
            <a:xfrm>
              <a:off x="0" y="0"/>
              <a:ext cx="766055" cy="3064366"/>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p:cNvSpPr txBox="1"/>
            <p:nvPr/>
          </p:nvSpPr>
          <p:spPr>
            <a:xfrm>
              <a:off x="0" y="-38100"/>
              <a:ext cx="766055" cy="3102466"/>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6">
            <a:extLst>
              <a:ext uri="{FF2B5EF4-FFF2-40B4-BE49-F238E27FC236}">
                <a16:creationId xmlns:a16="http://schemas.microsoft.com/office/drawing/2014/main" xmlns="" id="{FD2C5DCC-C631-5AA0-52EA-29010861A9C7}"/>
              </a:ext>
            </a:extLst>
          </p:cNvPr>
          <p:cNvSpPr txBox="1"/>
          <p:nvPr/>
        </p:nvSpPr>
        <p:spPr>
          <a:xfrm>
            <a:off x="2743200" y="1333500"/>
            <a:ext cx="9144000" cy="8105104"/>
          </a:xfrm>
          <a:prstGeom prst="rect">
            <a:avLst/>
          </a:prstGeom>
          <a:noFill/>
        </p:spPr>
        <p:txBody>
          <a:bodyPr wrap="square">
            <a:spAutoFit/>
          </a:bodyPr>
          <a:lstStyle/>
          <a:p>
            <a:pPr>
              <a:lnSpc>
                <a:spcPct val="200000"/>
              </a:lnSpc>
            </a:pPr>
            <a:r>
              <a:rPr lang="en-US" sz="2400" dirty="0">
                <a:latin typeface="Times New Roman" panose="02020603050405020304" pitchFamily="18" charset="0"/>
                <a:cs typeface="Times New Roman" panose="02020603050405020304" pitchFamily="18" charset="0"/>
              </a:rPr>
              <a:t>Introduction</a:t>
            </a:r>
          </a:p>
          <a:p>
            <a:pPr>
              <a:lnSpc>
                <a:spcPct val="200000"/>
              </a:lnSpc>
            </a:pPr>
            <a:r>
              <a:rPr lang="en-US" sz="2400" dirty="0">
                <a:latin typeface="Times New Roman" panose="02020603050405020304" pitchFamily="18" charset="0"/>
                <a:cs typeface="Times New Roman" panose="02020603050405020304" pitchFamily="18" charset="0"/>
              </a:rPr>
              <a:t>Empathy: Stakeholder Needs	</a:t>
            </a:r>
          </a:p>
          <a:p>
            <a:pPr>
              <a:lnSpc>
                <a:spcPct val="200000"/>
              </a:lnSpc>
            </a:pPr>
            <a:r>
              <a:rPr lang="en-US" sz="2400" dirty="0">
                <a:latin typeface="Times New Roman" panose="02020603050405020304" pitchFamily="18" charset="0"/>
                <a:cs typeface="Times New Roman" panose="02020603050405020304" pitchFamily="18" charset="0"/>
              </a:rPr>
              <a:t>Problem Definition Along with HMW	</a:t>
            </a:r>
          </a:p>
          <a:p>
            <a:pPr>
              <a:lnSpc>
                <a:spcPct val="200000"/>
              </a:lnSpc>
            </a:pPr>
            <a:r>
              <a:rPr lang="en-US" sz="2400" dirty="0">
                <a:latin typeface="Times New Roman" panose="02020603050405020304" pitchFamily="18" charset="0"/>
                <a:cs typeface="Times New Roman" panose="02020603050405020304" pitchFamily="18" charset="0"/>
              </a:rPr>
              <a:t>Ideation: From One Problem to Multiple Solutions	</a:t>
            </a:r>
          </a:p>
          <a:p>
            <a:pPr>
              <a:lnSpc>
                <a:spcPct val="200000"/>
              </a:lnSpc>
            </a:pPr>
            <a:r>
              <a:rPr lang="en-US" sz="2400" dirty="0">
                <a:latin typeface="Times New Roman" panose="02020603050405020304" pitchFamily="18" charset="0"/>
                <a:cs typeface="Times New Roman" panose="02020603050405020304" pitchFamily="18" charset="0"/>
              </a:rPr>
              <a:t>Solution Selection: Bath Food Circular Network	</a:t>
            </a:r>
          </a:p>
          <a:p>
            <a:pPr>
              <a:lnSpc>
                <a:spcPct val="200000"/>
              </a:lnSpc>
            </a:pPr>
            <a:r>
              <a:rPr lang="en-US" sz="2400" dirty="0">
                <a:latin typeface="Times New Roman" panose="02020603050405020304" pitchFamily="18" charset="0"/>
                <a:cs typeface="Times New Roman" panose="02020603050405020304" pitchFamily="18" charset="0"/>
              </a:rPr>
              <a:t>Prototype	</a:t>
            </a:r>
          </a:p>
          <a:p>
            <a:pPr>
              <a:lnSpc>
                <a:spcPct val="200000"/>
              </a:lnSpc>
            </a:pPr>
            <a:r>
              <a:rPr lang="en-US" sz="2400" dirty="0">
                <a:latin typeface="Times New Roman" panose="02020603050405020304" pitchFamily="18" charset="0"/>
                <a:cs typeface="Times New Roman" panose="02020603050405020304" pitchFamily="18" charset="0"/>
              </a:rPr>
              <a:t>Model Testing and Lessons Learned	</a:t>
            </a:r>
          </a:p>
          <a:p>
            <a:pPr>
              <a:lnSpc>
                <a:spcPct val="200000"/>
              </a:lnSpc>
            </a:pPr>
            <a:r>
              <a:rPr lang="en-US" sz="2400" dirty="0">
                <a:latin typeface="Times New Roman" panose="02020603050405020304" pitchFamily="18" charset="0"/>
                <a:cs typeface="Times New Roman" panose="02020603050405020304" pitchFamily="18" charset="0"/>
              </a:rPr>
              <a:t>Iteration: Prototype 1 → Prototype 2	</a:t>
            </a:r>
          </a:p>
          <a:p>
            <a:pPr>
              <a:lnSpc>
                <a:spcPct val="200000"/>
              </a:lnSpc>
            </a:pPr>
            <a:r>
              <a:rPr lang="en-US" sz="2400" dirty="0">
                <a:latin typeface="Times New Roman" panose="02020603050405020304" pitchFamily="18" charset="0"/>
                <a:cs typeface="Times New Roman" panose="02020603050405020304" pitchFamily="18" charset="0"/>
              </a:rPr>
              <a:t>Better Future State	</a:t>
            </a:r>
          </a:p>
          <a:p>
            <a:pPr>
              <a:lnSpc>
                <a:spcPct val="200000"/>
              </a:lnSpc>
            </a:pPr>
            <a:r>
              <a:rPr lang="en-US" sz="2400" dirty="0">
                <a:latin typeface="Times New Roman" panose="02020603050405020304" pitchFamily="18" charset="0"/>
                <a:cs typeface="Times New Roman" panose="02020603050405020304" pitchFamily="18" charset="0"/>
              </a:rPr>
              <a:t>Conclusion	</a:t>
            </a:r>
          </a:p>
          <a:p>
            <a:pPr>
              <a:lnSpc>
                <a:spcPct val="200000"/>
              </a:lnSpc>
            </a:pPr>
            <a:r>
              <a:rPr lang="en-US" sz="2400" dirty="0">
                <a:latin typeface="Times New Roman" panose="02020603050405020304" pitchFamily="18" charset="0"/>
                <a:cs typeface="Times New Roman" panose="02020603050405020304" pitchFamily="18" charset="0"/>
              </a:rPr>
              <a:t>References</a:t>
            </a:r>
          </a:p>
        </p:txBody>
      </p:sp>
      <p:sp>
        <p:nvSpPr>
          <p:cNvPr id="19" name="TextBox 18">
            <a:extLst>
              <a:ext uri="{FF2B5EF4-FFF2-40B4-BE49-F238E27FC236}">
                <a16:creationId xmlns:a16="http://schemas.microsoft.com/office/drawing/2014/main" xmlns="" id="{E6CF3B29-D005-BC3E-49EA-DD8D783AC754}"/>
              </a:ext>
            </a:extLst>
          </p:cNvPr>
          <p:cNvSpPr txBox="1"/>
          <p:nvPr/>
        </p:nvSpPr>
        <p:spPr>
          <a:xfrm>
            <a:off x="6248400" y="104045"/>
            <a:ext cx="9144000" cy="1031501"/>
          </a:xfrm>
          <a:prstGeom prst="rect">
            <a:avLst/>
          </a:prstGeom>
          <a:noFill/>
        </p:spPr>
        <p:txBody>
          <a:bodyPr wrap="square">
            <a:spAutoFit/>
          </a:bodyPr>
          <a:lstStyle/>
          <a:p>
            <a:pPr algn="ctr">
              <a:lnSpc>
                <a:spcPct val="200000"/>
              </a:lnSpc>
            </a:pPr>
            <a:r>
              <a:rPr lang="en-US" sz="3600" b="1" dirty="0">
                <a:latin typeface="Times New Roman" panose="02020603050405020304" pitchFamily="18" charset="0"/>
                <a:cs typeface="Times New Roman" panose="02020603050405020304" pitchFamily="18" charset="0"/>
              </a:rPr>
              <a:t>Agenda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5532"/>
            <a:ext cx="1365564" cy="10603031"/>
            <a:chOff x="0" y="-38100"/>
            <a:chExt cx="766055" cy="3218102"/>
          </a:xfrm>
        </p:grpSpPr>
        <p:sp>
          <p:nvSpPr>
            <p:cNvPr id="3" name="Freeform 3"/>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5">
            <a:extLst>
              <a:ext uri="{FF2B5EF4-FFF2-40B4-BE49-F238E27FC236}">
                <a16:creationId xmlns:a16="http://schemas.microsoft.com/office/drawing/2014/main" xmlns="" id="{79A4C38A-B743-E283-EA34-E39C910B1452}"/>
              </a:ext>
            </a:extLst>
          </p:cNvPr>
          <p:cNvSpPr txBox="1"/>
          <p:nvPr/>
        </p:nvSpPr>
        <p:spPr>
          <a:xfrm>
            <a:off x="1981200" y="1609357"/>
            <a:ext cx="9144000" cy="823752"/>
          </a:xfrm>
          <a:prstGeom prst="rect">
            <a:avLst/>
          </a:prstGeom>
          <a:noFill/>
        </p:spPr>
        <p:txBody>
          <a:bodyPr wrap="square">
            <a:spAutoFit/>
          </a:bodyPr>
          <a:lstStyle/>
          <a:p>
            <a:pPr marL="0" marR="0" algn="just">
              <a:lnSpc>
                <a:spcPct val="150000"/>
              </a:lnSpc>
              <a:spcBef>
                <a:spcPts val="1800"/>
              </a:spcBef>
              <a:spcAft>
                <a:spcPts val="400"/>
              </a:spcAft>
              <a:buNone/>
            </a:pPr>
            <a:r>
              <a:rPr lang="en-GB" sz="3600" b="1" kern="100" dirty="0">
                <a:effectLst/>
                <a:latin typeface="Times New Roman" panose="02020603050405020304" pitchFamily="18" charset="0"/>
                <a:ea typeface="Times New Roman" panose="02020603050405020304" pitchFamily="18" charset="0"/>
                <a:cs typeface="Times New Roman" panose="02020603050405020304" pitchFamily="18" charset="0"/>
              </a:rPr>
              <a:t>Introduction </a:t>
            </a:r>
            <a:endParaRPr lang="en-US" sz="36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xmlns="" id="{5F3ADD43-BBD1-B3A8-6EA3-0032A42FE367}"/>
              </a:ext>
            </a:extLst>
          </p:cNvPr>
          <p:cNvSpPr txBox="1"/>
          <p:nvPr/>
        </p:nvSpPr>
        <p:spPr>
          <a:xfrm>
            <a:off x="1752600" y="3314700"/>
            <a:ext cx="9144000" cy="6391493"/>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effectLst/>
                <a:latin typeface="Times New Roman" panose="02020603050405020304" pitchFamily="18" charset="0"/>
                <a:ea typeface="Calibri" panose="020F0502020204030204" pitchFamily="34" charset="0"/>
                <a:cs typeface="Times New Roman" panose="02020603050405020304" pitchFamily="18" charset="0"/>
              </a:rPr>
              <a:t>Bath Foodbank has serious food wastage in households, hospitality, retail, universities and community organisations (Bath and North East Somerset Council, 2026). </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effectLst/>
                <a:latin typeface="Times New Roman" panose="02020603050405020304" pitchFamily="18" charset="0"/>
                <a:ea typeface="Calibri" panose="020F0502020204030204" pitchFamily="34" charset="0"/>
                <a:cs typeface="Times New Roman" panose="02020603050405020304" pitchFamily="18" charset="0"/>
              </a:rPr>
              <a:t>The difficulty creates environmental, economic, social, and operational impacts for stakeholders. </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kern="100" dirty="0">
                <a:effectLst/>
                <a:latin typeface="Times New Roman" panose="02020603050405020304" pitchFamily="18" charset="0"/>
                <a:ea typeface="Calibri" panose="020F0502020204030204" pitchFamily="34" charset="0"/>
                <a:cs typeface="Times New Roman" panose="02020603050405020304" pitchFamily="18" charset="0"/>
              </a:rPr>
              <a:t>The Bath Food Circular Network suggests organising prevention, redistribution and community involvement. </a:t>
            </a:r>
            <a:endParaRPr lang="en-GB" sz="24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2400" kern="100" dirty="0">
                <a:latin typeface="Times New Roman" panose="02020603050405020304" pitchFamily="18" charset="0"/>
                <a:ea typeface="Calibri" panose="020F0502020204030204" pitchFamily="34" charset="0"/>
                <a:cs typeface="Times New Roman" panose="02020603050405020304" pitchFamily="18" charset="0"/>
              </a:rPr>
              <a:t>Bath </a:t>
            </a:r>
            <a:r>
              <a:rPr lang="en-US" sz="2400" kern="100" dirty="0" err="1">
                <a:latin typeface="Times New Roman" panose="02020603050405020304" pitchFamily="18" charset="0"/>
                <a:ea typeface="Calibri" panose="020F0502020204030204" pitchFamily="34" charset="0"/>
                <a:cs typeface="Times New Roman" panose="02020603050405020304" pitchFamily="18" charset="0"/>
              </a:rPr>
              <a:t>Foodbank</a:t>
            </a:r>
            <a:r>
              <a:rPr lang="en-US" sz="2400" kern="100" dirty="0">
                <a:latin typeface="Times New Roman" panose="02020603050405020304" pitchFamily="18" charset="0"/>
                <a:ea typeface="Calibri" panose="020F0502020204030204" pitchFamily="34" charset="0"/>
                <a:cs typeface="Times New Roman" panose="02020603050405020304" pitchFamily="18" charset="0"/>
              </a:rPr>
              <a:t> needs an integrated solution that links suppliers to communities, decreases unnecessary fridge food waste, and promotes sustainable consumption and local resilience</a:t>
            </a:r>
            <a:r>
              <a:rPr lang="en-US" sz="2400" kern="1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GB" sz="2400" kern="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050" name="Picture 2" descr="Foodbank – Manvers Street Baptist Church">
            <a:extLst>
              <a:ext uri="{FF2B5EF4-FFF2-40B4-BE49-F238E27FC236}">
                <a16:creationId xmlns:a16="http://schemas.microsoft.com/office/drawing/2014/main" xmlns="" id="{F3301C41-3BF0-2709-104C-ED17C80BCA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4800" y="3305735"/>
            <a:ext cx="6248400" cy="36755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6727B1-F976-9574-009A-BE9973AAA21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D77B73C4-E992-DC95-F690-2668AC1EE79F}"/>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D6346DF5-BFAA-C0AB-FEAF-328A6FB4FEC0}"/>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E9A0D5B2-5EF8-B0AC-CE49-98671FF9E9F1}"/>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CFABB69A-29CD-E9CA-06E0-4E1AA9B86CC8}"/>
              </a:ext>
            </a:extLst>
          </p:cNvPr>
          <p:cNvSpPr txBox="1"/>
          <p:nvPr/>
        </p:nvSpPr>
        <p:spPr>
          <a:xfrm>
            <a:off x="1828800" y="876300"/>
            <a:ext cx="9144000" cy="823752"/>
          </a:xfrm>
          <a:prstGeom prst="rect">
            <a:avLst/>
          </a:prstGeom>
          <a:noFill/>
        </p:spPr>
        <p:txBody>
          <a:bodyPr wrap="square">
            <a:spAutoFit/>
          </a:bodyPr>
          <a:lstStyle/>
          <a:p>
            <a:pPr marL="0" marR="0" algn="just">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Empathy: Stakeholder </a:t>
            </a:r>
            <a:r>
              <a:rPr lang="en-GB" sz="3600" b="1" kern="1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Needs</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FD7575EF-886F-7703-AECB-7232819BBEC1}"/>
              </a:ext>
            </a:extLst>
          </p:cNvPr>
          <p:cNvPicPr>
            <a:picLocks noChangeAspect="1"/>
          </p:cNvPicPr>
          <p:nvPr/>
        </p:nvPicPr>
        <p:blipFill>
          <a:blip r:embed="rId3"/>
          <a:stretch>
            <a:fillRect/>
          </a:stretch>
        </p:blipFill>
        <p:spPr>
          <a:xfrm>
            <a:off x="2125980" y="2019300"/>
            <a:ext cx="15476365" cy="4998403"/>
          </a:xfrm>
          <a:prstGeom prst="rect">
            <a:avLst/>
          </a:prstGeom>
        </p:spPr>
      </p:pic>
      <p:sp>
        <p:nvSpPr>
          <p:cNvPr id="5" name="Rectangle 4"/>
          <p:cNvSpPr/>
          <p:nvPr/>
        </p:nvSpPr>
        <p:spPr>
          <a:xfrm>
            <a:off x="1859352" y="7277100"/>
            <a:ext cx="16009620" cy="2308324"/>
          </a:xfrm>
          <a:prstGeom prst="rect">
            <a:avLst/>
          </a:prstGeom>
        </p:spPr>
        <p:txBody>
          <a:bodyPr wrap="square">
            <a:spAutoFit/>
          </a:bodyPr>
          <a:lstStyle/>
          <a:p>
            <a:pPr lvl="0" algn="just">
              <a:lnSpc>
                <a:spcPct val="150000"/>
              </a:lnSpc>
              <a:defRPr/>
            </a:pPr>
            <a:r>
              <a:rPr lang="en-GB" sz="2400" dirty="0">
                <a:latin typeface="Times New Roman" pitchFamily="18" charset="0"/>
                <a:cs typeface="Times New Roman" pitchFamily="18" charset="0"/>
              </a:rPr>
              <a:t>Empathy determines various needs among the stakeholders in the food system of Bath. This includes speed among businesses, reliability among charities, accessibility among residents, and handy collection infrastructure among volunteers (Hess, 2024). Councils need tangible performance, and colleges need easy involvement. These variations imply that effective design will need to synchronise the needs of stakeholders and not provide a single generic intervention.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609072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E2A71DB-02C5-B26C-DC13-E091E55CC5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A18663E9-7163-6072-845D-55AC7CE34DD5}"/>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599EBA5F-2407-A880-2664-FBC7BA64004F}"/>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908B4F2C-38EB-444B-4190-8B21A359F9F4}"/>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3F1D872E-F2F0-18F4-637A-239D4694F797}"/>
              </a:ext>
            </a:extLst>
          </p:cNvPr>
          <p:cNvSpPr txBox="1"/>
          <p:nvPr/>
        </p:nvSpPr>
        <p:spPr>
          <a:xfrm>
            <a:off x="5669280" y="410688"/>
            <a:ext cx="9144000" cy="823752"/>
          </a:xfrm>
          <a:prstGeom prst="rect">
            <a:avLst/>
          </a:prstGeom>
          <a:noFill/>
        </p:spPr>
        <p:txBody>
          <a:bodyPr wrap="square">
            <a:spAutoFit/>
          </a:bodyPr>
          <a:lstStyle/>
          <a:p>
            <a:pPr marL="0" marR="0" algn="just">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Problem Definition Along with HMW</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5031482F-E9D3-E9FD-E9F3-525A051D60ED}"/>
              </a:ext>
            </a:extLst>
          </p:cNvPr>
          <p:cNvSpPr txBox="1"/>
          <p:nvPr/>
        </p:nvSpPr>
        <p:spPr>
          <a:xfrm>
            <a:off x="1866900" y="1211976"/>
            <a:ext cx="15963900" cy="6186309"/>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Fragmented food surplus was identified throughout Bath stakeholders and locations during the initial analysis (Kauppinen, and </a:t>
            </a:r>
            <a:r>
              <a:rPr lang="en-GB" sz="24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Silvasti</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2026).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Empathy brought out various needs that would demand redistribution arrangements (the need to be coordinated and made available in the local area).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design opportunity focuses on aligning excess to the right beneficiaries. </a:t>
            </a:r>
            <a:endParaRPr lang="en-GB" sz="24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first issue established itself in the form of widespread food waste in various places and among stakeholders. Operational and access needs were identified in empathy analysis (</a:t>
            </a:r>
            <a:r>
              <a:rPr lang="en-US"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Koutsofta</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Dimitriadou</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and </a:t>
            </a:r>
            <a:r>
              <a:rPr lang="en-US"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Karanikola</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2025). The design opportunity is thus concerned with visibility, quick matching and coordinated collection. The HMW question gives a local-centric, human, and prototype-focused guidance in </a:t>
            </a:r>
            <a:r>
              <a:rPr lang="en-US"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favour</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of prevention, redistribution and quantifiable future results</a:t>
            </a: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HMW: </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How might we establish links between food businesses, community organisations and residents in Bath, to stop surplus food that can be eaten from being wasted?</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xmlns="" id="{C453DFF8-B490-5566-1B36-B6ECC217CFF7}"/>
              </a:ext>
            </a:extLst>
          </p:cNvPr>
          <p:cNvPicPr>
            <a:picLocks noChangeAspect="1"/>
          </p:cNvPicPr>
          <p:nvPr/>
        </p:nvPicPr>
        <p:blipFill>
          <a:blip r:embed="rId3"/>
          <a:stretch>
            <a:fillRect/>
          </a:stretch>
        </p:blipFill>
        <p:spPr>
          <a:xfrm>
            <a:off x="5638800" y="7444349"/>
            <a:ext cx="8077200" cy="2575902"/>
          </a:xfrm>
          <a:prstGeom prst="rect">
            <a:avLst/>
          </a:prstGeom>
        </p:spPr>
      </p:pic>
    </p:spTree>
    <p:extLst>
      <p:ext uri="{BB962C8B-B14F-4D97-AF65-F5344CB8AC3E}">
        <p14:creationId xmlns:p14="http://schemas.microsoft.com/office/powerpoint/2010/main" val="3693087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5C844BB-6A49-5F36-BB8E-982F84597D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8E53C3D1-4689-AC47-B688-7576FCB004B3}"/>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332684D3-0822-BC7F-08AD-40FBF8FBB001}"/>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AE548D7A-893E-F99B-86D1-90950E4CC012}"/>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FD3F460F-DF1A-84BA-63A8-9FE786C21281}"/>
              </a:ext>
            </a:extLst>
          </p:cNvPr>
          <p:cNvSpPr txBox="1"/>
          <p:nvPr/>
        </p:nvSpPr>
        <p:spPr>
          <a:xfrm>
            <a:off x="4114800" y="68184"/>
            <a:ext cx="11582400" cy="823752"/>
          </a:xfrm>
          <a:prstGeom prst="rect">
            <a:avLst/>
          </a:prstGeom>
          <a:noFill/>
        </p:spPr>
        <p:txBody>
          <a:bodyPr wrap="square">
            <a:spAutoFit/>
          </a:bodyPr>
          <a:lstStyle/>
          <a:p>
            <a:pPr marL="0" marR="0" algn="ctr">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Ideation: From One Problem to Multiple Solutions</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666DCA9D-B68F-B9C5-DB6A-35C431F67F9C}"/>
              </a:ext>
            </a:extLst>
          </p:cNvPr>
          <p:cNvSpPr txBox="1"/>
          <p:nvPr/>
        </p:nvSpPr>
        <p:spPr>
          <a:xfrm>
            <a:off x="2247900" y="5312082"/>
            <a:ext cx="15316200" cy="4626908"/>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Four alternatives were derived and evaluated on the basis of desirability, feasibility, communal impact and scalability criteria.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Best overall alignment was Bath Food Circular Network.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comparison provided systematic selection balancing between the needs of stakeholders, realistic implementation, benefits to the community, the prospects of long-term growth, and measurable results</a:t>
            </a:r>
            <a:r>
              <a:rPr lang="en-GB" sz="24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342900" marR="0" lvl="0" indent="-342900" algn="just">
              <a:lnSpc>
                <a:spcPct val="150000"/>
              </a:lnSpc>
              <a:spcAft>
                <a:spcPts val="800"/>
              </a:spcAft>
              <a:buFont typeface="Symbol" panose="05050102010706020507" pitchFamily="18" charset="2"/>
              <a:buChar char=""/>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Uniform criteria evaluated the four options; the Bath Food Circular Network presented the best balance between practical implementation, stakeholder value, benefits to the community and the possibility of being widely adopted (Gandhi </a:t>
            </a:r>
            <a:r>
              <a:rPr lang="en-US" sz="2400" i="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et al., </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2026</a:t>
            </a: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xmlns="" id="{CC4A9CD3-88A9-077D-5B4C-3C4E8F09C595}"/>
              </a:ext>
            </a:extLst>
          </p:cNvPr>
          <p:cNvSpPr txBox="1"/>
          <p:nvPr/>
        </p:nvSpPr>
        <p:spPr>
          <a:xfrm>
            <a:off x="5334000" y="891936"/>
            <a:ext cx="9144000" cy="579967"/>
          </a:xfrm>
          <a:prstGeom prst="rect">
            <a:avLst/>
          </a:prstGeom>
          <a:noFill/>
        </p:spPr>
        <p:txBody>
          <a:bodyPr wrap="square">
            <a:spAutoFit/>
          </a:bodyPr>
          <a:lstStyle/>
          <a:p>
            <a:pPr marL="0" marR="0" algn="ctr">
              <a:lnSpc>
                <a:spcPct val="150000"/>
              </a:lnSpc>
              <a:spcAft>
                <a:spcPts val="800"/>
              </a:spcAft>
              <a:buNone/>
            </a:pPr>
            <a:r>
              <a:rPr lang="en-US" sz="2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Idea Comparison Table</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38B891B2-D8BB-3AA1-6618-994BF23E8527}"/>
              </a:ext>
            </a:extLst>
          </p:cNvPr>
          <p:cNvPicPr>
            <a:picLocks noChangeAspect="1"/>
          </p:cNvPicPr>
          <p:nvPr/>
        </p:nvPicPr>
        <p:blipFill>
          <a:blip r:embed="rId3"/>
          <a:stretch>
            <a:fillRect/>
          </a:stretch>
        </p:blipFill>
        <p:spPr>
          <a:xfrm>
            <a:off x="3878580" y="1464284"/>
            <a:ext cx="11811000" cy="3786838"/>
          </a:xfrm>
          <a:prstGeom prst="rect">
            <a:avLst/>
          </a:prstGeom>
        </p:spPr>
      </p:pic>
    </p:spTree>
    <p:extLst>
      <p:ext uri="{BB962C8B-B14F-4D97-AF65-F5344CB8AC3E}">
        <p14:creationId xmlns:p14="http://schemas.microsoft.com/office/powerpoint/2010/main" val="1024015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C9A5248-ACB2-2B29-1C67-79AD4946E92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D90EB27D-8203-4ECE-88E5-2BE402149EF2}"/>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2427C179-90AF-D1AC-DD58-FDE32B1413CC}"/>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0D718425-694D-A675-48D8-16DC0F84030A}"/>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6C5D681E-BED2-2770-C862-F1DE24828ED8}"/>
              </a:ext>
            </a:extLst>
          </p:cNvPr>
          <p:cNvSpPr txBox="1"/>
          <p:nvPr/>
        </p:nvSpPr>
        <p:spPr>
          <a:xfrm>
            <a:off x="4572000" y="342900"/>
            <a:ext cx="11049000" cy="823752"/>
          </a:xfrm>
          <a:prstGeom prst="rect">
            <a:avLst/>
          </a:prstGeom>
          <a:noFill/>
        </p:spPr>
        <p:txBody>
          <a:bodyPr wrap="square">
            <a:spAutoFit/>
          </a:bodyPr>
          <a:lstStyle/>
          <a:p>
            <a:pPr marL="0" marR="0" algn="just">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Solution Selection: Bath Food Circular Network</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B3A092A8-C754-5566-8B77-964220842A56}"/>
              </a:ext>
            </a:extLst>
          </p:cNvPr>
          <p:cNvSpPr txBox="1"/>
          <p:nvPr/>
        </p:nvSpPr>
        <p:spPr>
          <a:xfrm>
            <a:off x="1813560" y="1871887"/>
            <a:ext cx="8458200" cy="7396897"/>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network incorporates prevention, redistribution, community involvement, and visible results in a single organised local network.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 involves different stakeholders as opposed to commercial surplus transactions, unlike marketplaces (Wu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et al.,</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2024).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combined method enhances access, builds on partnerships, fosters inclusive involvement, and allows tracking the environmental, social and economic benefits continuously</a:t>
            </a:r>
            <a:r>
              <a:rPr lang="en-GB" sz="24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342900" marR="0" lvl="0" indent="-342900" algn="just">
              <a:lnSpc>
                <a:spcPct val="150000"/>
              </a:lnSpc>
              <a:spcAft>
                <a:spcPts val="800"/>
              </a:spcAft>
              <a:buFont typeface="Symbol" panose="05050102010706020507" pitchFamily="18" charset="2"/>
              <a:buChar char=""/>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network was chosen due to its focus on a solution to food waste prior to discarding, redistributing it, engaging communities, and measuring outcomes. It has broader coordination than commercial surplus marketplaces like Too Good To Go</a:t>
            </a: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xmlns="" id="{A1BE8CE1-D39F-D543-426E-ED229ADE74CB}"/>
              </a:ext>
            </a:extLst>
          </p:cNvPr>
          <p:cNvPicPr>
            <a:picLocks noChangeAspect="1"/>
          </p:cNvPicPr>
          <p:nvPr/>
        </p:nvPicPr>
        <p:blipFill>
          <a:blip r:embed="rId3"/>
          <a:stretch>
            <a:fillRect/>
          </a:stretch>
        </p:blipFill>
        <p:spPr>
          <a:xfrm>
            <a:off x="10668000" y="2171700"/>
            <a:ext cx="7189820" cy="6797272"/>
          </a:xfrm>
          <a:prstGeom prst="rect">
            <a:avLst/>
          </a:prstGeom>
        </p:spPr>
      </p:pic>
    </p:spTree>
    <p:extLst>
      <p:ext uri="{BB962C8B-B14F-4D97-AF65-F5344CB8AC3E}">
        <p14:creationId xmlns:p14="http://schemas.microsoft.com/office/powerpoint/2010/main" val="2206117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358120-FEEB-C08A-B5EC-2DA87F9D4ED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3562B52F-CB23-A9DE-78FC-4D938640F823}"/>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D4BA0978-5BBB-FDDC-B5D9-21F38FC9B27E}"/>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027D9FE2-A4EB-E064-EB73-1C1E4D00A424}"/>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3B174D53-3A85-C907-F228-C04BBDAB40D1}"/>
              </a:ext>
            </a:extLst>
          </p:cNvPr>
          <p:cNvSpPr txBox="1"/>
          <p:nvPr/>
        </p:nvSpPr>
        <p:spPr>
          <a:xfrm>
            <a:off x="1905000" y="60564"/>
            <a:ext cx="9144000" cy="823752"/>
          </a:xfrm>
          <a:prstGeom prst="rect">
            <a:avLst/>
          </a:prstGeom>
          <a:noFill/>
        </p:spPr>
        <p:txBody>
          <a:bodyPr wrap="square">
            <a:spAutoFit/>
          </a:bodyPr>
          <a:lstStyle/>
          <a:p>
            <a:pPr marL="0" marR="0" algn="just">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Prototype</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04F582E8-FA42-8450-2553-7320639B0398}"/>
              </a:ext>
            </a:extLst>
          </p:cNvPr>
          <p:cNvSpPr txBox="1"/>
          <p:nvPr/>
        </p:nvSpPr>
        <p:spPr>
          <a:xfrm>
            <a:off x="1524000" y="1104900"/>
            <a:ext cx="16535400" cy="6494085"/>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Its prototype develops a simple digital-first, provider-to-recipients system that bridges surplus providers and recipients.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Food type and quantity, allergens, and collection deadlines are recorded in business dashboards.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There is a list of available surplus food so that appropriate recipients can book available food.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Collection confirmation offers specified destinations, dates and collection arrangements.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There is inclusive access by community hubs, telephone help, and volunteers</a:t>
            </a:r>
            <a:r>
              <a:rPr lang="en-GB" sz="24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p>
          <a:p>
            <a:pPr marR="0" lvl="0" algn="just">
              <a:lnSpc>
                <a:spcPct val="150000"/>
              </a:lnSpc>
              <a:spcAft>
                <a:spcPts val="800"/>
              </a:spcAft>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prototype converts the network suggested into a service journey to practice (</a:t>
            </a:r>
            <a:r>
              <a:rPr lang="en-US"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Hyvärinen</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2025). Businesses upload excess information, and the recipients find appropriate food and make reservations. Collection information links up the recipients and volunteers. The issue of digital exclusion is solved by community hubs and telephone support, so that users who have a limited connection, language barrier or lower digital confidence can also participate. This develops a digital-first and not digital-only model.</a:t>
            </a:r>
          </a:p>
          <a:p>
            <a:pPr marR="0" lvl="0" algn="just">
              <a:lnSpc>
                <a:spcPct val="150000"/>
              </a:lnSpc>
              <a:spcAft>
                <a:spcPts val="800"/>
              </a:spcAft>
            </a:pPr>
            <a:endPar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R="0" lvl="0" algn="just">
              <a:lnSpc>
                <a:spcPct val="150000"/>
              </a:lnSpc>
              <a:spcAft>
                <a:spcPts val="800"/>
              </a:spcAft>
            </a:pP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xmlns="" id="{68E0D979-C002-B274-9F22-2D67EC80C203}"/>
              </a:ext>
            </a:extLst>
          </p:cNvPr>
          <p:cNvPicPr>
            <a:picLocks noChangeAspect="1"/>
          </p:cNvPicPr>
          <p:nvPr/>
        </p:nvPicPr>
        <p:blipFill>
          <a:blip r:embed="rId3"/>
          <a:stretch>
            <a:fillRect/>
          </a:stretch>
        </p:blipFill>
        <p:spPr>
          <a:xfrm>
            <a:off x="5098317" y="6630248"/>
            <a:ext cx="10148765" cy="2805006"/>
          </a:xfrm>
          <a:prstGeom prst="rect">
            <a:avLst/>
          </a:prstGeom>
          <a:ln w="12700">
            <a:solidFill>
              <a:schemeClr val="tx1"/>
            </a:solidFill>
          </a:ln>
        </p:spPr>
      </p:pic>
      <p:sp>
        <p:nvSpPr>
          <p:cNvPr id="11" name="TextBox 10">
            <a:extLst>
              <a:ext uri="{FF2B5EF4-FFF2-40B4-BE49-F238E27FC236}">
                <a16:creationId xmlns:a16="http://schemas.microsoft.com/office/drawing/2014/main" xmlns="" id="{087ABDB8-190B-314C-B203-D22755B72544}"/>
              </a:ext>
            </a:extLst>
          </p:cNvPr>
          <p:cNvSpPr txBox="1"/>
          <p:nvPr/>
        </p:nvSpPr>
        <p:spPr>
          <a:xfrm>
            <a:off x="4572000" y="9435254"/>
            <a:ext cx="11201400" cy="579967"/>
          </a:xfrm>
          <a:prstGeom prst="rect">
            <a:avLst/>
          </a:prstGeom>
          <a:noFill/>
        </p:spPr>
        <p:txBody>
          <a:bodyPr wrap="square">
            <a:spAutoFit/>
          </a:bodyPr>
          <a:lstStyle/>
          <a:p>
            <a:pPr marL="0" marR="0" algn="just">
              <a:lnSpc>
                <a:spcPct val="150000"/>
              </a:lnSpc>
              <a:spcAft>
                <a:spcPts val="800"/>
              </a:spcAft>
              <a:buNone/>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Wider service: Digital Platform + Community Hubs + Telephone Support + Volunteers</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915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CB43190-F700-4531-8880-69759F2859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071DB73E-E6EE-EDF2-CBE5-6D6177A3214E}"/>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52653F47-7FB8-E056-2677-32F37A0C3183}"/>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D1464E85-AB8D-66FF-A89D-ACAD8FE92D43}"/>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5EB89A15-6C74-73B0-CBAB-30FEEA110388}"/>
              </a:ext>
            </a:extLst>
          </p:cNvPr>
          <p:cNvSpPr txBox="1"/>
          <p:nvPr/>
        </p:nvSpPr>
        <p:spPr>
          <a:xfrm>
            <a:off x="5494020" y="297972"/>
            <a:ext cx="9144000" cy="823752"/>
          </a:xfrm>
          <a:prstGeom prst="rect">
            <a:avLst/>
          </a:prstGeom>
          <a:noFill/>
        </p:spPr>
        <p:txBody>
          <a:bodyPr wrap="square">
            <a:spAutoFit/>
          </a:bodyPr>
          <a:lstStyle/>
          <a:p>
            <a:pPr marL="0" marR="0" algn="just">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 Testing and Lessons Learned</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6B3EE972-CEEF-75C0-735C-3998180931DC}"/>
              </a:ext>
            </a:extLst>
          </p:cNvPr>
          <p:cNvSpPr txBox="1"/>
          <p:nvPr/>
        </p:nvSpPr>
        <p:spPr>
          <a:xfrm>
            <a:off x="1905000" y="1166652"/>
            <a:ext cx="15925800" cy="5283498"/>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students, residents, hospitality workers, volunteers, and representatives of the community were tested.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Participants rated posting, information readability, food claiming, collection and access (Lee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et al.,</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2024).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Testing established the clarity of allergen information and the deadlines for collection as the priorities.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physical presence was necessary to ensure that all stakeholders take part. </a:t>
            </a:r>
            <a:endParaRPr lang="en-GB" sz="24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Only actual findings of participants should be reported in terms of testing. The participants evaluated the prototype journey and found out the usability requirements. </a:t>
            </a:r>
            <a:endPar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major findings will be how well information was comprehended, how convenient the reservation was, and how feasible the collection process was. Accessibility barriers need to be identified and incorporated directly into the response of a later prototype and iteration decision</a:t>
            </a: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xmlns="" id="{83AEAB50-57F1-6217-0515-264A4B355DFF}"/>
              </a:ext>
            </a:extLst>
          </p:cNvPr>
          <p:cNvPicPr>
            <a:picLocks noChangeAspect="1"/>
          </p:cNvPicPr>
          <p:nvPr/>
        </p:nvPicPr>
        <p:blipFill>
          <a:blip r:embed="rId3"/>
          <a:stretch>
            <a:fillRect/>
          </a:stretch>
        </p:blipFill>
        <p:spPr>
          <a:xfrm>
            <a:off x="3795132" y="6772730"/>
            <a:ext cx="12145536" cy="3255678"/>
          </a:xfrm>
          <a:prstGeom prst="rect">
            <a:avLst/>
          </a:prstGeom>
        </p:spPr>
      </p:pic>
    </p:spTree>
    <p:extLst>
      <p:ext uri="{BB962C8B-B14F-4D97-AF65-F5344CB8AC3E}">
        <p14:creationId xmlns:p14="http://schemas.microsoft.com/office/powerpoint/2010/main" val="2551714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C74187-1EBD-42BB-3262-ED4A6A1A4B8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717309D2-BB50-A631-1397-FD2B62627B77}"/>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B7192CD5-585A-4736-D351-C1E970DFB483}"/>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280906B0-6261-B1DA-86CE-14A7F41D4FE4}"/>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CAE72218-CA49-C13B-44D1-69A675D06C07}"/>
              </a:ext>
            </a:extLst>
          </p:cNvPr>
          <p:cNvSpPr txBox="1"/>
          <p:nvPr/>
        </p:nvSpPr>
        <p:spPr>
          <a:xfrm>
            <a:off x="5699760" y="419100"/>
            <a:ext cx="9144000" cy="823752"/>
          </a:xfrm>
          <a:prstGeom prst="rect">
            <a:avLst/>
          </a:prstGeom>
          <a:noFill/>
        </p:spPr>
        <p:txBody>
          <a:bodyPr wrap="square">
            <a:spAutoFit/>
          </a:bodyPr>
          <a:lstStyle/>
          <a:p>
            <a:pPr marL="0" marR="0" algn="just">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Iteration: Prototype 1 → Prototype 2</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F2265AD6-DA9E-9461-814D-7B71A3E26386}"/>
              </a:ext>
            </a:extLst>
          </p:cNvPr>
          <p:cNvSpPr txBox="1"/>
          <p:nvPr/>
        </p:nvSpPr>
        <p:spPr>
          <a:xfrm>
            <a:off x="1699260" y="1482530"/>
            <a:ext cx="9502140" cy="8607485"/>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prototype offered simple listings, basic matching, details of collections and digital access (Zhou, and Wang, 2024).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information gaps, access issues, time uncertainty, and recipient differences were identified through testing.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the second prototype, we included allergens that are dead, recipient types, telephone support, and community hubs.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Directly informing particular design changes in the prototype was based on testing. </a:t>
            </a:r>
            <a:endParaRPr lang="en-GB" sz="24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second prototype was a direct result of testing findings. Further information on allergens made things clearer, the collection deadline </a:t>
            </a:r>
            <a:r>
              <a:rPr lang="en-US"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minimised</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uncertainty, recipient type met various needs, and it was available in non-digital format, making it more accessible. </a:t>
            </a:r>
            <a:endPar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As </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these changes show, there has been a distinct process of moving past initial assumptions to a more inclusive and coordinated design of services</a:t>
            </a: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xmlns="" id="{D7498529-905F-97FF-2B23-FB4F44EC7E0C}"/>
              </a:ext>
            </a:extLst>
          </p:cNvPr>
          <p:cNvSpPr txBox="1"/>
          <p:nvPr/>
        </p:nvSpPr>
        <p:spPr>
          <a:xfrm>
            <a:off x="11239500" y="2711873"/>
            <a:ext cx="7239000" cy="579967"/>
          </a:xfrm>
          <a:prstGeom prst="rect">
            <a:avLst/>
          </a:prstGeom>
          <a:noFill/>
        </p:spPr>
        <p:txBody>
          <a:bodyPr wrap="square">
            <a:spAutoFit/>
          </a:bodyPr>
          <a:lstStyle/>
          <a:p>
            <a:pPr marL="0" marR="0" algn="ctr">
              <a:lnSpc>
                <a:spcPct val="150000"/>
              </a:lnSpc>
              <a:spcAft>
                <a:spcPts val="800"/>
              </a:spcAft>
              <a:buNone/>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Comparison Table</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xmlns="" id="{3840159E-2F46-1813-B2F4-8D41D051FA7B}"/>
              </a:ext>
            </a:extLst>
          </p:cNvPr>
          <p:cNvPicPr>
            <a:picLocks noChangeAspect="1"/>
          </p:cNvPicPr>
          <p:nvPr/>
        </p:nvPicPr>
        <p:blipFill>
          <a:blip r:embed="rId3"/>
          <a:stretch>
            <a:fillRect/>
          </a:stretch>
        </p:blipFill>
        <p:spPr>
          <a:xfrm>
            <a:off x="11509618" y="3543300"/>
            <a:ext cx="6740282" cy="3733800"/>
          </a:xfrm>
          <a:prstGeom prst="rect">
            <a:avLst/>
          </a:prstGeom>
        </p:spPr>
      </p:pic>
    </p:spTree>
    <p:extLst>
      <p:ext uri="{BB962C8B-B14F-4D97-AF65-F5344CB8AC3E}">
        <p14:creationId xmlns:p14="http://schemas.microsoft.com/office/powerpoint/2010/main" val="3680303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13BE62-FFED-4EB5-9BE3-3841B2A3025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A8C41ACA-5DBE-C83B-B481-13AD3D215B47}"/>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5BE80CF2-5FDA-0E13-F854-3F65FFFD3150}"/>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CAFF767E-08E4-4EC2-98D2-DD626A97539E}"/>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97D1B9DC-7CD9-56AD-8DB1-9307CCFC7E86}"/>
              </a:ext>
            </a:extLst>
          </p:cNvPr>
          <p:cNvSpPr txBox="1"/>
          <p:nvPr/>
        </p:nvSpPr>
        <p:spPr>
          <a:xfrm>
            <a:off x="1905000" y="800100"/>
            <a:ext cx="9144000" cy="823752"/>
          </a:xfrm>
          <a:prstGeom prst="rect">
            <a:avLst/>
          </a:prstGeom>
          <a:noFill/>
        </p:spPr>
        <p:txBody>
          <a:bodyPr wrap="square">
            <a:spAutoFit/>
          </a:bodyPr>
          <a:lstStyle/>
          <a:p>
            <a:pPr marL="0" marR="0" algn="ctr">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Better Future State </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B2407F1D-F764-C35E-1E8C-2EC7A705A45B}"/>
              </a:ext>
            </a:extLst>
          </p:cNvPr>
          <p:cNvSpPr txBox="1"/>
          <p:nvPr/>
        </p:nvSpPr>
        <p:spPr>
          <a:xfrm>
            <a:off x="2095500" y="2247900"/>
            <a:ext cx="8763000" cy="6842899"/>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present state: Excess to disaster, fragmented communication, lack of redistribution, waste.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Future state: Excess was found, matched, collected, repurchased, and measured.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network builds coordinated prevention, redistribution, alignment, and quantifiable value, which promotes SDG 12.3 (</a:t>
            </a:r>
            <a:r>
              <a:rPr lang="en-GB" sz="24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Kontaki</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et al.,</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2026). </a:t>
            </a:r>
            <a:endParaRPr lang="en-GB" sz="24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future condition makes the uncoordinated, undiluted food-waste activity a </a:t>
            </a:r>
            <a:r>
              <a:rPr lang="en-US"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harmonised</a:t>
            </a: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act. Overabundance comes to view, appropriate beneficiaries are located, collections are arranged, food is re-circulated, and results are measured through environmental, social and economic domains</a:t>
            </a: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074" name="Picture 2" descr="Food Waste Reduction: Tips for Households and Restaurants">
            <a:extLst>
              <a:ext uri="{FF2B5EF4-FFF2-40B4-BE49-F238E27FC236}">
                <a16:creationId xmlns:a16="http://schemas.microsoft.com/office/drawing/2014/main" xmlns="" id="{1FE94F41-3AC5-9B39-8954-1B703EA937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88436" y="190500"/>
            <a:ext cx="6509064" cy="56769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Food Waste and SDG 12.3: How LogMeal is Leading Change - LogMeal Blog -  Food Recognition &amp; Intake monitoring">
            <a:extLst>
              <a:ext uri="{FF2B5EF4-FFF2-40B4-BE49-F238E27FC236}">
                <a16:creationId xmlns:a16="http://schemas.microsoft.com/office/drawing/2014/main" xmlns="" id="{68CD1119-199F-DFC3-F236-7BFEFEBAAC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88436" y="6057900"/>
            <a:ext cx="6509064"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147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61A3C9-F559-3446-6898-3EC8CEC9054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63CC88D1-196F-1AC4-F7DA-85620E67D101}"/>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50D4E9DD-B334-B9A6-5677-45E04273B57F}"/>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12DDFBC7-5948-DB38-64B2-B9E6FA5F298D}"/>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F8F7B554-1A9C-52F8-DA97-DF4F6876BEB1}"/>
              </a:ext>
            </a:extLst>
          </p:cNvPr>
          <p:cNvSpPr txBox="1"/>
          <p:nvPr/>
        </p:nvSpPr>
        <p:spPr>
          <a:xfrm>
            <a:off x="1969770" y="2171700"/>
            <a:ext cx="9144000" cy="646331"/>
          </a:xfrm>
          <a:prstGeom prst="rect">
            <a:avLst/>
          </a:prstGeom>
          <a:noFill/>
        </p:spPr>
        <p:txBody>
          <a:bodyPr wrap="square">
            <a:spAutoFit/>
          </a:bodyPr>
          <a:lstStyle/>
          <a:p>
            <a:pPr algn="ctr"/>
            <a:r>
              <a:rPr lang="en-GB" sz="3600" b="1" dirty="0">
                <a:solidFill>
                  <a:srgbClr val="000000"/>
                </a:solidFill>
                <a:effectLst/>
                <a:latin typeface="Times New Roman" panose="02020603050405020304" pitchFamily="18" charset="0"/>
                <a:ea typeface="Calibri" panose="020F0502020204030204" pitchFamily="34" charset="0"/>
              </a:rPr>
              <a:t>Conclusion</a:t>
            </a:r>
            <a:endParaRPr lang="en-US" sz="3600" b="1" dirty="0"/>
          </a:p>
        </p:txBody>
      </p:sp>
      <p:sp>
        <p:nvSpPr>
          <p:cNvPr id="8" name="TextBox 7">
            <a:extLst>
              <a:ext uri="{FF2B5EF4-FFF2-40B4-BE49-F238E27FC236}">
                <a16:creationId xmlns:a16="http://schemas.microsoft.com/office/drawing/2014/main" xmlns="" id="{4B73A4B7-5883-DE50-240A-E04B5BE605AC}"/>
              </a:ext>
            </a:extLst>
          </p:cNvPr>
          <p:cNvSpPr txBox="1"/>
          <p:nvPr/>
        </p:nvSpPr>
        <p:spPr>
          <a:xfrm>
            <a:off x="1969770" y="3619500"/>
            <a:ext cx="8730294" cy="4072910"/>
          </a:xfrm>
          <a:prstGeom prst="rect">
            <a:avLst/>
          </a:prstGeom>
          <a:noFill/>
        </p:spPr>
        <p:txBody>
          <a:bodyPr wrap="square">
            <a:spAutoFit/>
          </a:bodyPr>
          <a:lstStyle/>
          <a:p>
            <a:pPr marL="342900" marR="0" lvl="0" indent="-342900" algn="just">
              <a:lnSpc>
                <a:spcPct val="150000"/>
              </a:lnSpc>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food waste in Bath needs to be prevented, redistributed, made accessible, and stakeholders' input should be assessed.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network creates a viable avenue towards sustainable local food management. </a:t>
            </a:r>
            <a:endParaRPr lang="en-GB" sz="2400" kern="1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800"/>
              </a:spcAft>
              <a:buFont typeface="Symbol" panose="05050102010706020507" pitchFamily="18" charset="2"/>
              <a:buChar char=""/>
            </a:pPr>
            <a:r>
              <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network proposed will have stakeholders connected, surplus redistribution enhanced, avoidable waste lowered, facilitated inclusion, and a sustainable food future for Bath</a:t>
            </a:r>
            <a:r>
              <a:rPr lang="en-US" sz="2400" kern="1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US"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098" name="Picture 2" descr="Global Roadmap for Food Waste Reduction in the Tourism Sector">
            <a:extLst>
              <a:ext uri="{FF2B5EF4-FFF2-40B4-BE49-F238E27FC236}">
                <a16:creationId xmlns:a16="http://schemas.microsoft.com/office/drawing/2014/main" xmlns="" id="{C6636EFA-F777-441B-4955-AA6ABEFDC6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1447800"/>
            <a:ext cx="6995688" cy="8418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231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8D70C9-40FA-F123-23FF-62061A6A8B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735D722A-1019-736F-BFC3-D95ABC124EAB}"/>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FEED741D-5A2F-87E1-C999-1645FDDB8B2F}"/>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2282FAAA-C190-BBEF-DFC0-54C6CFD1858E}"/>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93C7FE5D-9B11-6898-9E31-2DEC8D67BA14}"/>
              </a:ext>
            </a:extLst>
          </p:cNvPr>
          <p:cNvSpPr txBox="1"/>
          <p:nvPr/>
        </p:nvSpPr>
        <p:spPr>
          <a:xfrm>
            <a:off x="5257800" y="266700"/>
            <a:ext cx="9144000" cy="823752"/>
          </a:xfrm>
          <a:prstGeom prst="rect">
            <a:avLst/>
          </a:prstGeom>
          <a:noFill/>
        </p:spPr>
        <p:txBody>
          <a:bodyPr wrap="square">
            <a:spAutoFit/>
          </a:bodyPr>
          <a:lstStyle/>
          <a:p>
            <a:pPr marL="0" marR="0" algn="ctr">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References </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30E9D718-A969-137C-B667-C33E58A395C6}"/>
              </a:ext>
            </a:extLst>
          </p:cNvPr>
          <p:cNvSpPr txBox="1"/>
          <p:nvPr/>
        </p:nvSpPr>
        <p:spPr>
          <a:xfrm>
            <a:off x="3505200" y="1638300"/>
            <a:ext cx="13030200" cy="7638309"/>
          </a:xfrm>
          <a:prstGeom prst="rect">
            <a:avLst/>
          </a:prstGeom>
          <a:noFill/>
        </p:spPr>
        <p:txBody>
          <a:bodyPr wrap="square">
            <a:spAutoFit/>
          </a:bodyPr>
          <a:lstStyle/>
          <a:p>
            <a:pPr marL="285750" marR="0" indent="-285750" algn="just">
              <a:lnSpc>
                <a:spcPct val="150000"/>
              </a:lnSpc>
              <a:spcAft>
                <a:spcPts val="800"/>
              </a:spcAft>
              <a:buFont typeface="Arial" panose="020B0604020202020204" pitchFamily="34" charset="0"/>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Bath and North East Somerset Council (2026).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Every home in B&amp;NES offered food waste collection.</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Available at: </a:t>
            </a:r>
            <a:r>
              <a:rPr lang="en-GB" sz="2400" u="sng"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https://newsroom.bathnes.gov.uk/news/every-home-bnes-</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offered-food-waste-collection (Accessed on: 20th August 2026).</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lnSpc>
                <a:spcPct val="150000"/>
              </a:lnSpc>
              <a:spcAft>
                <a:spcPts val="800"/>
              </a:spcAft>
              <a:buFont typeface="Arial" panose="020B0604020202020204" pitchFamily="34" charset="0"/>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Gandhi, M., Pizzo, A., Schmid, A., Froes, I., Jaeger‐Erben, M., </a:t>
            </a:r>
            <a:r>
              <a:rPr lang="en-GB" sz="24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Altsitsiadis</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E. and Reisch, L.A. (2026) Food System Through the Lens of a Circular Society: A Transdisciplinary Approach to Integrating Literature and Practice.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Business Strategy and the Environment</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GB" sz="2400" u="sng"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https://doi.org/10.1002/bse.71087</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lnSpc>
                <a:spcPct val="150000"/>
              </a:lnSpc>
              <a:spcAft>
                <a:spcPts val="800"/>
              </a:spcAft>
              <a:buFont typeface="Arial" panose="020B0604020202020204" pitchFamily="34" charset="0"/>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Hess, J.L. (2024) Empathy’s role in engineering ethics: Empathizing with one’s self to others across the globe.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Science and Engineering Ethics</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30</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 p.57. </a:t>
            </a:r>
            <a:r>
              <a:rPr lang="en-GB" sz="2400" u="sng"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5"/>
              </a:rPr>
              <a:t>https://doi.org/10.1007/s11948-024-00512-1</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lnSpc>
                <a:spcPct val="150000"/>
              </a:lnSpc>
              <a:spcAft>
                <a:spcPts val="800"/>
              </a:spcAft>
              <a:buFont typeface="Arial" panose="020B0604020202020204" pitchFamily="34" charset="0"/>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Hyvärinen, J. (2025) Prototyping for service. Collaborative, transformative and translational practice. </a:t>
            </a:r>
            <a:r>
              <a:rPr lang="en-GB" sz="2400" u="sng"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6"/>
              </a:rPr>
              <a:t>https://aaltodoc.aalto.fi/bitstreams/cb141154-a9e3-4c2d-9dad-1d04e2202504/download</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marR="0" indent="-285750" algn="just">
              <a:lnSpc>
                <a:spcPct val="150000"/>
              </a:lnSpc>
              <a:spcAft>
                <a:spcPts val="800"/>
              </a:spcAft>
              <a:buFont typeface="Arial" panose="020B0604020202020204" pitchFamily="34" charset="0"/>
              <a:buChar char="•"/>
            </a:pP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Kauppinen, V. and </a:t>
            </a:r>
            <a:r>
              <a:rPr lang="en-GB" sz="24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Silvasti</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 (2026) Role of food waste as a resource of power: an ethnographic case study of food aid restructuring.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Journal of Organizational Ethnography</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GB" sz="2400" i="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15</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(1), pp.25-39. </a:t>
            </a:r>
            <a:r>
              <a:rPr lang="en-GB" sz="2400" u="sng"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7"/>
              </a:rPr>
              <a:t>https://doi.org/10.1108/JOE-01-2025-0002</a:t>
            </a:r>
            <a:r>
              <a:rPr lang="en-GB"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07518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8D70C9-40FA-F123-23FF-62061A6A8B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735D722A-1019-736F-BFC3-D95ABC124EAB}"/>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FEED741D-5A2F-87E1-C999-1645FDDB8B2F}"/>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2282FAAA-C190-BBEF-DFC0-54C6CFD1858E}"/>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5">
            <a:extLst>
              <a:ext uri="{FF2B5EF4-FFF2-40B4-BE49-F238E27FC236}">
                <a16:creationId xmlns:a16="http://schemas.microsoft.com/office/drawing/2014/main" xmlns="" id="{93C7FE5D-9B11-6898-9E31-2DEC8D67BA14}"/>
              </a:ext>
            </a:extLst>
          </p:cNvPr>
          <p:cNvSpPr txBox="1"/>
          <p:nvPr/>
        </p:nvSpPr>
        <p:spPr>
          <a:xfrm>
            <a:off x="5257800" y="266700"/>
            <a:ext cx="9144000" cy="823752"/>
          </a:xfrm>
          <a:prstGeom prst="rect">
            <a:avLst/>
          </a:prstGeom>
          <a:noFill/>
        </p:spPr>
        <p:txBody>
          <a:bodyPr wrap="square">
            <a:spAutoFit/>
          </a:bodyPr>
          <a:lstStyle/>
          <a:p>
            <a:pPr marL="0" marR="0" algn="ctr">
              <a:lnSpc>
                <a:spcPct val="150000"/>
              </a:lnSpc>
              <a:spcBef>
                <a:spcPts val="1800"/>
              </a:spcBef>
              <a:spcAft>
                <a:spcPts val="400"/>
              </a:spcAft>
              <a:buNone/>
            </a:pPr>
            <a:r>
              <a:rPr lang="en-GB"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References </a:t>
            </a:r>
            <a:r>
              <a:rPr lang="en-GB" sz="3600" b="1" kern="1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(Continue…)</a:t>
            </a:r>
            <a:endParaRPr lang="en-US" sz="36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30E9D718-A969-137C-B667-C33E58A395C6}"/>
              </a:ext>
            </a:extLst>
          </p:cNvPr>
          <p:cNvSpPr txBox="1"/>
          <p:nvPr/>
        </p:nvSpPr>
        <p:spPr>
          <a:xfrm>
            <a:off x="1752600" y="1090452"/>
            <a:ext cx="15773400" cy="8915261"/>
          </a:xfrm>
          <a:prstGeom prst="rect">
            <a:avLst/>
          </a:prstGeom>
          <a:noFill/>
        </p:spPr>
        <p:txBody>
          <a:bodyPr wrap="square">
            <a:spAutoFit/>
          </a:bodyPr>
          <a:lstStyle/>
          <a:p>
            <a:pPr marL="285750" marR="0" indent="-285750" algn="just">
              <a:lnSpc>
                <a:spcPct val="150000"/>
              </a:lnSpc>
              <a:spcAft>
                <a:spcPts val="800"/>
              </a:spcAft>
              <a:buFont typeface="Arial" panose="020B0604020202020204" pitchFamily="34" charset="0"/>
              <a:buChar char="•"/>
            </a:pP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Kontaki</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 </a:t>
            </a: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Garefalakis</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 Passas, I. and Samaras, I. (2026) Implementing a Circular Economy Approach to Prevent Food Waste: A Comprehensive Synthesis of Strategies, Metrics, and Systemic Deficiencies. Journal of Sustainability Research, 8(3). https://doi.org/10.20900/jsr20260071 </a:t>
            </a:r>
          </a:p>
          <a:p>
            <a:pPr marL="285750" marR="0" indent="-285750" algn="just">
              <a:lnSpc>
                <a:spcPct val="150000"/>
              </a:lnSpc>
              <a:spcAft>
                <a:spcPts val="800"/>
              </a:spcAft>
              <a:buFont typeface="Arial" panose="020B0604020202020204" pitchFamily="34" charset="0"/>
              <a:buChar char="•"/>
            </a:pP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Koutsofta</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C., </a:t>
            </a: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Dimitriadou</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M. and </a:t>
            </a: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Karanikola</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M., 2025, May. “Divergent needs and the empathy gap”: exploring the experience of workplace violence against nurses employed in the emergency department. In Healthcare (Vol. 13, No. 10, p. 1118). MDPI. https://doi.org/10.3390/healthcare13101118 </a:t>
            </a:r>
          </a:p>
          <a:p>
            <a:pPr marL="285750" marR="0" indent="-285750" algn="just">
              <a:lnSpc>
                <a:spcPct val="150000"/>
              </a:lnSpc>
              <a:spcAft>
                <a:spcPts val="800"/>
              </a:spcAft>
              <a:buFont typeface="Arial" panose="020B0604020202020204" pitchFamily="34" charset="0"/>
              <a:buChar char="•"/>
            </a:pP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Lee, S., Jang, J., </a:t>
            </a: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Niehm</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L. and Kim, M. (2024) The role of festival volunteers in supporting rural community development: a psychological ownership perspective. Current Issues in Tourism, 27(23), pp.4220-4241. https://doi.org/10.1080/13683500.2023.2280163 </a:t>
            </a:r>
          </a:p>
          <a:p>
            <a:pPr marL="285750" marR="0" indent="-285750" algn="just">
              <a:lnSpc>
                <a:spcPct val="150000"/>
              </a:lnSpc>
              <a:spcAft>
                <a:spcPts val="800"/>
              </a:spcAft>
              <a:buFont typeface="Arial" panose="020B0604020202020204" pitchFamily="34" charset="0"/>
              <a:buChar char="•"/>
            </a:pP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Wu, J., Wang, X., </a:t>
            </a: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Ramkissoon</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H., Wu, M.Y., </a:t>
            </a: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Guo</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Y. and Morrison, A.M. (2024) Resource mobilization and power redistribution: The role of local governments in shaping residents’ pro-environmental </a:t>
            </a:r>
            <a:r>
              <a:rPr lang="en-GB" sz="2400" kern="1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behavior</a:t>
            </a: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in rural tourism destinations. Journal of Travel Research, 63(6), pp.1442-1458. https://doi.org/10.1177/00472875231191983 </a:t>
            </a:r>
          </a:p>
          <a:p>
            <a:pPr marL="285750" marR="0" indent="-285750" algn="just">
              <a:lnSpc>
                <a:spcPct val="150000"/>
              </a:lnSpc>
              <a:spcAft>
                <a:spcPts val="800"/>
              </a:spcAft>
              <a:buFont typeface="Arial" panose="020B0604020202020204" pitchFamily="34" charset="0"/>
              <a:buChar char="•"/>
            </a:pPr>
            <a:r>
              <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Zhou, T. and Wang, W. (2024) Prototype-based semantic segmentation. IEEE Transactions on Pattern Analysis and Machine Intelligence, 46(10), pp.6858-6872. https://doi.org/10.1109/TPAMI.2024.3387116 </a:t>
            </a:r>
          </a:p>
          <a:p>
            <a:pPr marL="285750" marR="0" indent="-285750" algn="just">
              <a:lnSpc>
                <a:spcPct val="150000"/>
              </a:lnSpc>
              <a:spcAft>
                <a:spcPts val="800"/>
              </a:spcAft>
              <a:buFont typeface="Arial" panose="020B0604020202020204" pitchFamily="34" charset="0"/>
              <a:buChar char="•"/>
            </a:pPr>
            <a:endParaRPr lang="en-GB" sz="24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28470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3375884-3AAA-5BD2-2DBE-4B99A4C8C9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xmlns="" id="{79A3C23B-0A79-438C-19CD-E9FF7CBFE386}"/>
              </a:ext>
            </a:extLst>
          </p:cNvPr>
          <p:cNvGrpSpPr/>
          <p:nvPr/>
        </p:nvGrpSpPr>
        <p:grpSpPr>
          <a:xfrm>
            <a:off x="0" y="-125532"/>
            <a:ext cx="1365564" cy="10603031"/>
            <a:chOff x="0" y="-38100"/>
            <a:chExt cx="766055" cy="3218102"/>
          </a:xfrm>
        </p:grpSpPr>
        <p:sp>
          <p:nvSpPr>
            <p:cNvPr id="3" name="Freeform 3">
              <a:extLst>
                <a:ext uri="{FF2B5EF4-FFF2-40B4-BE49-F238E27FC236}">
                  <a16:creationId xmlns:a16="http://schemas.microsoft.com/office/drawing/2014/main" xmlns="" id="{6AB24F55-86CC-9A60-9CFD-49E97A134533}"/>
                </a:ext>
              </a:extLst>
            </p:cNvPr>
            <p:cNvSpPr/>
            <p:nvPr/>
          </p:nvSpPr>
          <p:spPr>
            <a:xfrm>
              <a:off x="0" y="0"/>
              <a:ext cx="766055" cy="3122184"/>
            </a:xfrm>
            <a:custGeom>
              <a:avLst/>
              <a:gdLst/>
              <a:ahLst/>
              <a:cxnLst/>
              <a:rect l="l" t="t" r="r" b="b"/>
              <a:pathLst>
                <a:path w="766055" h="3064366">
                  <a:moveTo>
                    <a:pt x="0" y="0"/>
                  </a:moveTo>
                  <a:lnTo>
                    <a:pt x="766055" y="0"/>
                  </a:lnTo>
                  <a:lnTo>
                    <a:pt x="766055" y="3064366"/>
                  </a:lnTo>
                  <a:lnTo>
                    <a:pt x="0" y="3064366"/>
                  </a:lnTo>
                  <a:close/>
                </a:path>
              </a:pathLst>
            </a:custGeom>
            <a:solidFill>
              <a:srgbClr val="223E62"/>
            </a:solidFill>
          </p:spPr>
        </p:sp>
        <p:sp>
          <p:nvSpPr>
            <p:cNvPr id="4" name="TextBox 4">
              <a:extLst>
                <a:ext uri="{FF2B5EF4-FFF2-40B4-BE49-F238E27FC236}">
                  <a16:creationId xmlns:a16="http://schemas.microsoft.com/office/drawing/2014/main" xmlns="" id="{1F3FB967-2B9A-6576-69BB-57FFBCF3853C}"/>
                </a:ext>
              </a:extLst>
            </p:cNvPr>
            <p:cNvSpPr txBox="1"/>
            <p:nvPr/>
          </p:nvSpPr>
          <p:spPr>
            <a:xfrm>
              <a:off x="0" y="-38100"/>
              <a:ext cx="766055" cy="3218102"/>
            </a:xfrm>
            <a:prstGeom prst="rect">
              <a:avLst/>
            </a:prstGeom>
          </p:spPr>
          <p:txBody>
            <a:bodyPr lIns="50800" tIns="50800" rIns="50800" bIns="50800" rtlCol="0" anchor="ctr"/>
            <a:lstStyle/>
            <a:p>
              <a:pPr algn="ctr">
                <a:lnSpc>
                  <a:spcPts val="2659"/>
                </a:lnSpc>
                <a:spcBef>
                  <a:spcPct val="0"/>
                </a:spcBef>
              </a:pPr>
              <a:endParaRPr/>
            </a:p>
          </p:txBody>
        </p:sp>
      </p:grpSp>
      <p:pic>
        <p:nvPicPr>
          <p:cNvPr id="7" name="Picture 6">
            <a:extLst>
              <a:ext uri="{FF2B5EF4-FFF2-40B4-BE49-F238E27FC236}">
                <a16:creationId xmlns:a16="http://schemas.microsoft.com/office/drawing/2014/main" xmlns="" id="{4E21EDEC-9305-E358-13D5-77990739AC4E}"/>
              </a:ext>
            </a:extLst>
          </p:cNvPr>
          <p:cNvPicPr>
            <a:picLocks noChangeAspect="1"/>
          </p:cNvPicPr>
          <p:nvPr/>
        </p:nvPicPr>
        <p:blipFill>
          <a:blip r:embed="rId3"/>
          <a:stretch>
            <a:fillRect/>
          </a:stretch>
        </p:blipFill>
        <p:spPr>
          <a:xfrm>
            <a:off x="7789224" y="3619500"/>
            <a:ext cx="4648200" cy="3858006"/>
          </a:xfrm>
          <a:prstGeom prst="rect">
            <a:avLst/>
          </a:prstGeom>
        </p:spPr>
      </p:pic>
    </p:spTree>
    <p:extLst>
      <p:ext uri="{BB962C8B-B14F-4D97-AF65-F5344CB8AC3E}">
        <p14:creationId xmlns:p14="http://schemas.microsoft.com/office/powerpoint/2010/main" val="3458467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1458</Words>
  <Application>Microsoft Office PowerPoint</Application>
  <PresentationFormat>Custom</PresentationFormat>
  <Paragraphs>117</Paragraphs>
  <Slides>16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Times New Roman</vt:lpstr>
      <vt:lpstr>Symbol</vt:lpstr>
      <vt:lpstr>Calibri</vt:lpstr>
      <vt:lpstr>Aptos</vt:lpstr>
      <vt:lpstr>SimSun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Green Modern Sustainable Agriculture Presentation</dc:title>
  <dc:creator>user</dc:creator>
  <cp:lastModifiedBy>user</cp:lastModifiedBy>
  <cp:revision>5</cp:revision>
  <dcterms:created xsi:type="dcterms:W3CDTF">2006-08-16T00:00:00Z</dcterms:created>
  <dcterms:modified xsi:type="dcterms:W3CDTF">2026-09-12T06:37:56Z</dcterms:modified>
  <dc:identifier>DAHSzzCRN2A</dc:identifier>
</cp:coreProperties>
</file>