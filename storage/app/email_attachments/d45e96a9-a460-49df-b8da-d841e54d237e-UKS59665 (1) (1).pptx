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70" r:id="rId3"/>
    <p:sldId id="257" r:id="rId4"/>
    <p:sldId id="258" r:id="rId5"/>
    <p:sldId id="275" r:id="rId6"/>
    <p:sldId id="276" r:id="rId7"/>
    <p:sldId id="277" r:id="rId8"/>
    <p:sldId id="278" r:id="rId9"/>
    <p:sldId id="279" r:id="rId10"/>
    <p:sldId id="280" r:id="rId11"/>
    <p:sldId id="260" r:id="rId12"/>
    <p:sldId id="261" r:id="rId13"/>
    <p:sldId id="281" r:id="rId14"/>
    <p:sldId id="263" r:id="rId15"/>
    <p:sldId id="283" r:id="rId16"/>
    <p:sldId id="282" r:id="rId17"/>
    <p:sldId id="274" r:id="rId18"/>
    <p:sldId id="284" r:id="rId19"/>
    <p:sldId id="268" r:id="rId2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rvashi kanwar" initials="uk" lastIdx="2" clrIdx="0"/>
  <p:cmAuthor id="2" name="Taha" initials="authorId_758083493"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71298" autoAdjust="0"/>
  </p:normalViewPr>
  <p:slideViewPr>
    <p:cSldViewPr showGuides="1">
      <p:cViewPr varScale="1">
        <p:scale>
          <a:sx n="32" d="100"/>
          <a:sy n="32" d="100"/>
        </p:scale>
        <p:origin x="48"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9CDF98-6010-4F45-A2F1-22F9019F3316}" type="datetimeFigureOut">
              <a:rPr lang="en-IN" smtClean="0"/>
              <a:t>14-09-2026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06D4A3-7C5B-4FC7-9B09-7A5DE2BF8B9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Eryri National Park is a significant protected tourism site in Wales, providing opportunities to enjoy recreation, the landscape and outdoor activities. Tourism is beneficial economically and socially; however, when tourism grows in numbers and activities, it may exert pressure on the environment (</a:t>
            </a:r>
            <a:r>
              <a:rPr lang="en-IN" sz="1200" kern="1200" dirty="0" err="1">
                <a:solidFill>
                  <a:schemeClr val="tx1"/>
                </a:solidFill>
                <a:effectLst/>
                <a:latin typeface="+mn-lt"/>
                <a:ea typeface="+mn-ea"/>
                <a:cs typeface="+mn-cs"/>
              </a:rPr>
              <a:t>Tsypko</a:t>
            </a:r>
            <a:r>
              <a:rPr lang="en-IN" sz="1200" kern="1200" dirty="0">
                <a:solidFill>
                  <a:schemeClr val="tx1"/>
                </a:solidFill>
                <a:effectLst/>
                <a:latin typeface="+mn-lt"/>
                <a:ea typeface="+mn-ea"/>
                <a:cs typeface="+mn-cs"/>
              </a:rPr>
              <a:t>, 2024). Erosion, congestion, waste, and disturbance of habitats are important issues. Thus, there is a need for a balance between use and protection of the natural environment in the process of sustainable tourism (</a:t>
            </a:r>
            <a:r>
              <a:rPr lang="en-IN" sz="1200" kern="1200" dirty="0" err="1">
                <a:solidFill>
                  <a:schemeClr val="tx1"/>
                </a:solidFill>
                <a:effectLst/>
                <a:latin typeface="+mn-lt"/>
                <a:ea typeface="+mn-ea"/>
                <a:cs typeface="+mn-cs"/>
              </a:rPr>
              <a:t>Walliman</a:t>
            </a:r>
            <a:r>
              <a:rPr lang="en-IN" sz="1200" kern="1200" dirty="0">
                <a:solidFill>
                  <a:schemeClr val="tx1"/>
                </a:solidFill>
                <a:effectLst/>
                <a:latin typeface="+mn-lt"/>
                <a:ea typeface="+mn-ea"/>
                <a:cs typeface="+mn-cs"/>
              </a:rPr>
              <a:t>, 2020). Eryri is also significant as a protected landscape where tourism and conservation are in harmony. The mountains and walking routes and the natural beauty draw visitors in, providing opportunities for local businesses and communities. But, the more visitors the site receives, the more it will stress the natural resources. Thus, it is not only a matter of attracting visitors to an area, but also a matter of managing the activity of visitors so that they do not diminish the environmental quality that makes the destination attractive</a:t>
            </a:r>
          </a:p>
          <a:p>
            <a:pPr marL="0" marR="0" lvl="0" indent="0" algn="l" defTabSz="914400" rtl="0" eaLnBrk="1" fontAlgn="auto" latinLnBrk="0" hangingPunct="1">
              <a:lnSpc>
                <a:spcPct val="100000"/>
              </a:lnSpc>
              <a:spcBef>
                <a:spcPts val="0"/>
              </a:spcBef>
              <a:spcAft>
                <a:spcPts val="0"/>
              </a:spcAft>
              <a:buClrTx/>
              <a:buSzTx/>
              <a:buFontTx/>
              <a:buNone/>
              <a:defRPr/>
            </a:pPr>
            <a:endParaRPr lang="en-IN" dirty="0"/>
          </a:p>
        </p:txBody>
      </p:sp>
      <p:sp>
        <p:nvSpPr>
          <p:cNvPr id="4" name="Slide Number Placeholder 3"/>
          <p:cNvSpPr>
            <a:spLocks noGrp="1"/>
          </p:cNvSpPr>
          <p:nvPr>
            <p:ph type="sldNum" sz="quarter" idx="5"/>
          </p:nvPr>
        </p:nvSpPr>
        <p:spPr/>
        <p:txBody>
          <a:bodyPr/>
          <a:lstStyle/>
          <a:p>
            <a:fld id="{E906D4A3-7C5B-4FC7-9B09-7A5DE2BF8B9C}"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As the number of visitors to Eryri grows, there are challenges to its environmental sustainability as a protected landscape. Waste generation, carbon emissions, traffic congestion, habitat disturbance and path erosion are potential negative effects of high visitor use. Management actions are available, but they may not always be as effective due to resource constraints, visitor behaviour and implementation challenges (Baloch et al. 2023). The research thus fulfils the need for a more integrated understanding of the tourism pressures and their sustainable management. These pressures may also occur together in a way that is different. For instance, many visitors may lead to traffic congestion, waste and greater usage of walking paths at once. Chronic pressure in sensitive areas can lead to a progressive degradation of the environment and more need for conservation resources. This is why integrated approach is crucial. Sustainable management must address how the various environmental pressures are related, and how management responses can address them as a whole.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E906D4A3-7C5B-4FC7-9B09-7A5DE2BF8B9C}"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study sets out to explore how tourism affects sustainable development by studying environmental pressures in Eryri and the sustainable management of this environment. The research has four objectives: the review of relevant literature; identification of major environmental pressures; evaluation of management and conservation strategies; and exploration of the challenges to implementation. The research questions are centred on tourism effects, sustainable development, management effectiveness and obstacles to the implementation of sustainable tourism in the park.</a:t>
            </a: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FF1D2-2AA1-8B89-7DF8-778E2506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5E3FF-08B3-BC1A-63F6-D6D36B438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6E028-1229-5CE3-02D1-3C2C182D020B}"/>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study is important because of the need to balance environmental protection and the economic and recreational benefits of protected tourism destinations. A study of Eryri offers valuable perspectives on the impact of tourism pressures on sustainable development and management responses to those pressures. The research also identifies areas of missing content in the literature and provides evidence for decision-making. Deeper participation of authorities, communities, businesses, visitors and conservation organisations can enhance sustainable destination management (Ali et al.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Another important aspect of the research is its consideration of multiple interests that is important for sustainable tourism. Tourism can be good for local economies, tourists look for interesting natural environments, businesses rely on tourists, and conservation organisations look to preserve natural environments. Not all of these interests prioritize the same things. Therefore, communication and cooperation amongst stakeholders is key to good management. Environmental issues are thus not only at the heart of the study but also the ways in which various segments can have a role in sustainable destination management.</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5C1B53D-400B-E23F-34CF-5EA1C45808B6}"/>
              </a:ext>
            </a:extLst>
          </p:cNvPr>
          <p:cNvSpPr>
            <a:spLocks noGrp="1"/>
          </p:cNvSpPr>
          <p:nvPr>
            <p:ph type="sldNum" sz="quarter" idx="10"/>
          </p:nvPr>
        </p:nvSpPr>
        <p:spPr/>
        <p:txBody>
          <a:bodyPr/>
          <a:lstStyle/>
          <a:p>
            <a:fld id="{E906D4A3-7C5B-4FC7-9B09-7A5DE2BF8B9C}" type="slidenum">
              <a:rPr lang="en-IN" smtClean="0"/>
              <a:t>5</a:t>
            </a:fld>
            <a:endParaRPr lang="en-IN"/>
          </a:p>
        </p:txBody>
      </p:sp>
    </p:spTree>
    <p:extLst>
      <p:ext uri="{BB962C8B-B14F-4D97-AF65-F5344CB8AC3E}">
        <p14:creationId xmlns:p14="http://schemas.microsoft.com/office/powerpoint/2010/main" val="4024618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C6E8-8D9E-BAD3-925C-ACC4662F5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680FC-A155-ABFD-9523-2A35B5479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3FA08-5C48-F67A-3C74-3D0DCEA99501}"/>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There are three theoretical perspectives supporting the research. Sustainable Development Theory emphasises the importance of the balance between environmental, economic and social issues (</a:t>
            </a:r>
            <a:r>
              <a:rPr lang="en-IN" sz="1200" kern="1200" dirty="0" err="1">
                <a:solidFill>
                  <a:schemeClr val="tx1"/>
                </a:solidFill>
                <a:effectLst/>
                <a:latin typeface="+mn-lt"/>
                <a:ea typeface="+mn-ea"/>
                <a:cs typeface="+mn-cs"/>
              </a:rPr>
              <a:t>Haribudiman</a:t>
            </a:r>
            <a:r>
              <a:rPr lang="en-IN" sz="1200" kern="1200" dirty="0">
                <a:solidFill>
                  <a:schemeClr val="tx1"/>
                </a:solidFill>
                <a:effectLst/>
                <a:latin typeface="+mn-lt"/>
                <a:ea typeface="+mn-ea"/>
                <a:cs typeface="+mn-cs"/>
              </a:rPr>
              <a:t> et al. 2023). Tourism Carrying Capacity Theory highlights the ecological and physical capacity of destinations and the need to manage the pressure of tourists. Stakeholder Theory emphasises the mutual accountability of stakeholders: authorities, communities, businesses, tourists and conservation groups. These perspectives combine to offer a lens through which to view tourism impacts and management responses (Greetham, 2019).</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C93DD4F-0538-1919-4311-F5C2545C643C}"/>
              </a:ext>
            </a:extLst>
          </p:cNvPr>
          <p:cNvSpPr>
            <a:spLocks noGrp="1"/>
          </p:cNvSpPr>
          <p:nvPr>
            <p:ph type="sldNum" sz="quarter" idx="10"/>
          </p:nvPr>
        </p:nvSpPr>
        <p:spPr/>
        <p:txBody>
          <a:bodyPr/>
          <a:lstStyle/>
          <a:p>
            <a:fld id="{E906D4A3-7C5B-4FC7-9B09-7A5DE2BF8B9C}" type="slidenum">
              <a:rPr lang="en-IN" smtClean="0"/>
              <a:t>6</a:t>
            </a:fld>
            <a:endParaRPr lang="en-IN"/>
          </a:p>
        </p:txBody>
      </p:sp>
    </p:spTree>
    <p:extLst>
      <p:ext uri="{BB962C8B-B14F-4D97-AF65-F5344CB8AC3E}">
        <p14:creationId xmlns:p14="http://schemas.microsoft.com/office/powerpoint/2010/main" val="315512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078B-26DE-2EE9-512C-C87E96222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13322-CBD1-03E4-A435-FB68DF2A0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61CF4A-D7BD-A3E8-A238-32393D0EA62F}"/>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conceptual framework has been established to connect tourism activities to environmental pressures and sustainable development outcomes (Meera and </a:t>
            </a:r>
            <a:r>
              <a:rPr lang="en-IN" sz="1200" kern="1200" dirty="0" err="1">
                <a:solidFill>
                  <a:schemeClr val="tx1"/>
                </a:solidFill>
                <a:effectLst/>
                <a:latin typeface="+mn-lt"/>
                <a:ea typeface="+mn-ea"/>
                <a:cs typeface="+mn-cs"/>
              </a:rPr>
              <a:t>Vinodan</a:t>
            </a:r>
            <a:r>
              <a:rPr lang="en-IN" sz="1200" kern="1200" dirty="0">
                <a:solidFill>
                  <a:schemeClr val="tx1"/>
                </a:solidFill>
                <a:effectLst/>
                <a:latin typeface="+mn-lt"/>
                <a:ea typeface="+mn-ea"/>
                <a:cs typeface="+mn-cs"/>
              </a:rPr>
              <a:t>, 2023). Erosion, habitat disturbance, traffic and waste are potential impacts from visitor numbers, recreational activities and tourism pressure. These pressures can be lessened by management and interventions like visitor control, conservation, monitoring and stakeholder collaboration. The literature gap relates to the lack of integration of multiple environmental pressures into practical management and implementation issues, particularly in Eryri.</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6C859D2-FA27-79CC-DD74-680C9FFCE26B}"/>
              </a:ext>
            </a:extLst>
          </p:cNvPr>
          <p:cNvSpPr>
            <a:spLocks noGrp="1"/>
          </p:cNvSpPr>
          <p:nvPr>
            <p:ph type="sldNum" sz="quarter" idx="10"/>
          </p:nvPr>
        </p:nvSpPr>
        <p:spPr/>
        <p:txBody>
          <a:bodyPr/>
          <a:lstStyle/>
          <a:p>
            <a:fld id="{E906D4A3-7C5B-4FC7-9B09-7A5DE2BF8B9C}" type="slidenum">
              <a:rPr lang="en-IN" smtClean="0"/>
              <a:t>7</a:t>
            </a:fld>
            <a:endParaRPr lang="en-IN"/>
          </a:p>
        </p:txBody>
      </p:sp>
    </p:spTree>
    <p:extLst>
      <p:ext uri="{BB962C8B-B14F-4D97-AF65-F5344CB8AC3E}">
        <p14:creationId xmlns:p14="http://schemas.microsoft.com/office/powerpoint/2010/main" val="3207306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8D46-D6A7-803E-E659-6092B50B9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FEE9F-3580-F51E-6B6A-3231B130E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6F40E-6B39-C895-7FD5-0DC041D0CD26}"/>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An interpretivist philosophy is employed in this study, as it needs to be interpreted in terms of the available evidence and varying views of the literature. In an inductive approach, one identifies recurring patterns, instead of testing preconceived hypotheses. An exploratory design is suitable for gaining insight into the environmental pressures associated with tourism. Qualitative secondary research was chosen, which involved using evidence from other academic and organisational sources, and thematic analysis was used to identify important patterns (Gamage, 2025). </a:t>
            </a:r>
          </a:p>
        </p:txBody>
      </p:sp>
      <p:sp>
        <p:nvSpPr>
          <p:cNvPr id="4" name="Slide Number Placeholder 3">
            <a:extLst>
              <a:ext uri="{FF2B5EF4-FFF2-40B4-BE49-F238E27FC236}">
                <a16:creationId xmlns:a16="http://schemas.microsoft.com/office/drawing/2014/main" id="{FFB98C34-0E71-9F46-D97D-BCF1E7581C8A}"/>
              </a:ext>
            </a:extLst>
          </p:cNvPr>
          <p:cNvSpPr>
            <a:spLocks noGrp="1"/>
          </p:cNvSpPr>
          <p:nvPr>
            <p:ph type="sldNum" sz="quarter" idx="10"/>
          </p:nvPr>
        </p:nvSpPr>
        <p:spPr/>
        <p:txBody>
          <a:bodyPr/>
          <a:lstStyle/>
          <a:p>
            <a:fld id="{E906D4A3-7C5B-4FC7-9B09-7A5DE2BF8B9C}" type="slidenum">
              <a:rPr lang="en-IN" smtClean="0"/>
              <a:t>8</a:t>
            </a:fld>
            <a:endParaRPr lang="en-IN"/>
          </a:p>
        </p:txBody>
      </p:sp>
    </p:spTree>
    <p:extLst>
      <p:ext uri="{BB962C8B-B14F-4D97-AF65-F5344CB8AC3E}">
        <p14:creationId xmlns:p14="http://schemas.microsoft.com/office/powerpoint/2010/main" val="3165652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1FE3B-8A1B-89E9-FDEE-D3CF8A4A9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146A2-D425-814E-7E2E-279D25FBB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0D741-552D-3F3C-3D64-7CD076E91D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Peer-reviewed journal articles, government publications, </a:t>
            </a:r>
            <a:r>
              <a:rPr lang="en-US" sz="1200" kern="1200" dirty="0" err="1">
                <a:solidFill>
                  <a:schemeClr val="tx1"/>
                </a:solidFill>
                <a:effectLst/>
                <a:latin typeface="+mn-lt"/>
                <a:ea typeface="+mn-ea"/>
                <a:cs typeface="+mn-cs"/>
              </a:rPr>
              <a:t>organisational</a:t>
            </a:r>
            <a:r>
              <a:rPr lang="en-US" sz="1200" kern="1200" dirty="0">
                <a:solidFill>
                  <a:schemeClr val="tx1"/>
                </a:solidFill>
                <a:effectLst/>
                <a:latin typeface="+mn-lt"/>
                <a:ea typeface="+mn-ea"/>
                <a:cs typeface="+mn-cs"/>
              </a:rPr>
              <a:t> publications and academic sources were used to gather secondary data. Relevant keywords and selection criteria were used to search platforms such as Google Scholar, Scopus and ScienceDirect. The analytical process was done by literature selection, coding, theme development and interpretation. Thematic analysis allowed for the identification of recurring patterns with evidence and the </a:t>
            </a:r>
            <a:r>
              <a:rPr lang="en-US" sz="1200" kern="1200" dirty="0" err="1">
                <a:solidFill>
                  <a:schemeClr val="tx1"/>
                </a:solidFill>
                <a:effectLst/>
                <a:latin typeface="+mn-lt"/>
                <a:ea typeface="+mn-ea"/>
                <a:cs typeface="+mn-cs"/>
              </a:rPr>
              <a:t>organisation</a:t>
            </a:r>
            <a:r>
              <a:rPr lang="en-US" sz="1200" kern="1200" dirty="0">
                <a:solidFill>
                  <a:schemeClr val="tx1"/>
                </a:solidFill>
                <a:effectLst/>
                <a:latin typeface="+mn-lt"/>
                <a:ea typeface="+mn-ea"/>
                <a:cs typeface="+mn-cs"/>
              </a:rPr>
              <a:t> of these themes into four primary themes related to the research objectives (</a:t>
            </a:r>
            <a:r>
              <a:rPr lang="en-IN" sz="1200" kern="1200" dirty="0">
                <a:solidFill>
                  <a:schemeClr val="tx1"/>
                </a:solidFill>
                <a:effectLst/>
                <a:latin typeface="+mn-lt"/>
                <a:ea typeface="+mn-ea"/>
                <a:cs typeface="+mn-cs"/>
              </a:rPr>
              <a:t>Saunders et al. 2023</a:t>
            </a:r>
            <a:r>
              <a:rPr lang="en-US" sz="1200"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There are several kinds of secondary sources used in the research to influence a wider evidence base. Academic articles can give an academic point of view and government and organisational publications can give practical and policy related information. Relevant literature is also selected through the use of predetermined keywords and inclusion criteria. In the process of thematic analysis, data from different sources was compared to look for similarities and common issues. Afterwards themes were sorted by the research goals, to keep the findings in relation to the purpose of the study.</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9479C6A-7F23-A22B-6E34-DE94D30CDE16}"/>
              </a:ext>
            </a:extLst>
          </p:cNvPr>
          <p:cNvSpPr>
            <a:spLocks noGrp="1"/>
          </p:cNvSpPr>
          <p:nvPr>
            <p:ph type="sldNum" sz="quarter" idx="10"/>
          </p:nvPr>
        </p:nvSpPr>
        <p:spPr/>
        <p:txBody>
          <a:bodyPr/>
          <a:lstStyle/>
          <a:p>
            <a:fld id="{E906D4A3-7C5B-4FC7-9B09-7A5DE2BF8B9C}" type="slidenum">
              <a:rPr lang="en-IN" smtClean="0"/>
              <a:t>9</a:t>
            </a:fld>
            <a:endParaRPr lang="en-IN"/>
          </a:p>
        </p:txBody>
      </p:sp>
    </p:spTree>
    <p:extLst>
      <p:ext uri="{BB962C8B-B14F-4D97-AF65-F5344CB8AC3E}">
        <p14:creationId xmlns:p14="http://schemas.microsoft.com/office/powerpoint/2010/main" val="620838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8EF95-8143-1C6D-0A04-4F9C10C72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8529-B0CD-6E88-CA35-251BF9A25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06BEB-A71E-59E4-A6AF-D9020661F1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first theme illustrates how tourism benefits destinations economically and recreationally, but also brings environmental pressures to protected destinations. Eryri is a place of social and environmental importance, and therefore any development of tourism must be balanced against conservation. When it comes to sustainable development, the economic aspects must be taken into account along with environmental protection. The literature shows that the right environmental indicators and the right management are fundamental to sustain this equilibrium in the long term (Elgin and </a:t>
            </a:r>
            <a:r>
              <a:rPr lang="en-IN" sz="1200" kern="1200" dirty="0" err="1">
                <a:solidFill>
                  <a:schemeClr val="tx1"/>
                </a:solidFill>
                <a:effectLst/>
                <a:latin typeface="+mn-lt"/>
                <a:ea typeface="+mn-ea"/>
                <a:cs typeface="+mn-cs"/>
              </a:rPr>
              <a:t>Elveren</a:t>
            </a:r>
            <a:r>
              <a:rPr lang="en-IN" sz="1200" kern="1200" dirty="0">
                <a:solidFill>
                  <a:schemeClr val="tx1"/>
                </a:solidFill>
                <a:effectLst/>
                <a:latin typeface="+mn-lt"/>
                <a:ea typeface="+mn-ea"/>
                <a:cs typeface="+mn-cs"/>
              </a:rPr>
              <a:t>, 2024).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results show that tourism is not only a positive or negative phenomenon, in and of itself. Its contribution is dependent on the planning and management of tourism in the destination. Economic and recreational values can be beneficial, contribute to the local economy and enhance the opportunities for visitors, but can become less sustainable if environmental degradation gets worse. Ensuring landscape quality is of special importance in a protected area, like Eryri, where landscape is a key factor in the destination's tourism attractiveness. Use and protection are thus complementary in sustainable development.</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0952399-E09E-E433-DB4D-6E1C2AFE2770}"/>
              </a:ext>
            </a:extLst>
          </p:cNvPr>
          <p:cNvSpPr>
            <a:spLocks noGrp="1"/>
          </p:cNvSpPr>
          <p:nvPr>
            <p:ph type="sldNum" sz="quarter" idx="10"/>
          </p:nvPr>
        </p:nvSpPr>
        <p:spPr/>
        <p:txBody>
          <a:bodyPr/>
          <a:lstStyle/>
          <a:p>
            <a:fld id="{E906D4A3-7C5B-4FC7-9B09-7A5DE2BF8B9C}" type="slidenum">
              <a:rPr lang="en-IN" smtClean="0"/>
              <a:t>10</a:t>
            </a:fld>
            <a:endParaRPr lang="en-IN"/>
          </a:p>
        </p:txBody>
      </p:sp>
    </p:spTree>
    <p:extLst>
      <p:ext uri="{BB962C8B-B14F-4D97-AF65-F5344CB8AC3E}">
        <p14:creationId xmlns:p14="http://schemas.microsoft.com/office/powerpoint/2010/main" val="243871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second theme relates to the major environmental pressures of tourism. Increased visitor use may lead to erosion of paths, disturbance of biodiversity, generation of waste and carbon emissions. Recreational activities can add extra stress to sensitive habitats and highly used areas. The effects illustrate how the pressure of tourism is not just a function of the number of tourists visiting protected areas, but also of the kind of activities undertaken and their intensity (</a:t>
            </a:r>
            <a:r>
              <a:rPr lang="en-IN" sz="1200" kern="1200" dirty="0" err="1">
                <a:solidFill>
                  <a:schemeClr val="tx1"/>
                </a:solidFill>
                <a:effectLst/>
                <a:latin typeface="+mn-lt"/>
                <a:ea typeface="+mn-ea"/>
                <a:cs typeface="+mn-cs"/>
              </a:rPr>
              <a:t>Mejjad</a:t>
            </a:r>
            <a:r>
              <a:rPr lang="en-IN" sz="1200" kern="1200" dirty="0">
                <a:solidFill>
                  <a:schemeClr val="tx1"/>
                </a:solidFill>
                <a:effectLst/>
                <a:latin typeface="+mn-lt"/>
                <a:ea typeface="+mn-ea"/>
                <a:cs typeface="+mn-cs"/>
              </a:rPr>
              <a:t> et al. 2022).</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11</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third theme deals with strategies that can be used to support sustainable tourism and conservation. Use evidence to enhance management decisions and monitor visitors to reduce pressure on sensitive areas. Infrastructure and conservation measures can minimise environmental damage. Stakeholder involvement is also crucial as park stakeholders have varying roles. Long-term sustainability can thus be enhanced by collaboration, knowledge sharing and good governance (Pham et al. 2025). Reliable and accurate information is also essential to good sustainable management. By tracking visitors and environmental conditions, decision makers can get a sense of where pressures are rising and if interventions are having the desired effects. This evidence can be complemented by stakeholder involvement by providing experiential knowledge and other points of view during decision-making processes. Cooperation is thus necessary as no single organisation is empowered to solve all the environmental pressures associated with tourism. Management must be responsive to changes in the way visitors use a site, environmental conditions and tourism trends to be sustainable in the long term.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12</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D01C-E65D-09BC-C5BD-1160AD478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B3368-866B-CC11-1147-27FD21239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DDED1-ADA8-B975-309F-E4FAA3BCFE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fourth theme identifies barriers which can impede sustainable tourism strategies from delivering the desired results. Environmental actions can be affected by visitor actions and perceptions. Financial and organisational resources may limit implementation and may be complicated by conflicting stakeholder interests. The effectiveness can be further decreased by weak coordination and policy implementation. The challenges are proof that sustainable tourism is a topic that needs to be communicated, educated, cooperated on, and well-governed (Hussain et al. 2024). These are a few challenges that show that it is not enough to have a sustainability policy that will lead to successful implementation. People might not always be able to cope with restrictions or environmental advice and there may be financial or operational constraints for organisations. The different stakeholders might also hold different views on the priority they wish to set for tourism development, conservation and access. Coordination is, therefore, necessary. Implementation can be made easier with clear communication, involvement of stakeholders and allocation of appropriate resources. Not just appropriate strategies are needed for sustainable tourism, but the organizational capacity and cooperation to implement these strategies.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21B821A-46DA-FA9B-D639-FD0CA201E972}"/>
              </a:ext>
            </a:extLst>
          </p:cNvPr>
          <p:cNvSpPr>
            <a:spLocks noGrp="1"/>
          </p:cNvSpPr>
          <p:nvPr>
            <p:ph type="sldNum" sz="quarter" idx="10"/>
          </p:nvPr>
        </p:nvSpPr>
        <p:spPr/>
        <p:txBody>
          <a:bodyPr/>
          <a:lstStyle/>
          <a:p>
            <a:fld id="{E906D4A3-7C5B-4FC7-9B09-7A5DE2BF8B9C}" type="slidenum">
              <a:rPr lang="en-IN" smtClean="0"/>
              <a:t>13</a:t>
            </a:fld>
            <a:endParaRPr lang="en-IN"/>
          </a:p>
        </p:txBody>
      </p:sp>
    </p:spTree>
    <p:extLst>
      <p:ext uri="{BB962C8B-B14F-4D97-AF65-F5344CB8AC3E}">
        <p14:creationId xmlns:p14="http://schemas.microsoft.com/office/powerpoint/2010/main" val="878954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400" dirty="0"/>
              <a:t>The findings broadly support the literature review. Theme 1 confirms the need to balance tourism benefits with conservation. Theme 2 highlights activity, behaviour and site conditions as key pressures. Theme 3 supports stakeholder engagement and evidence-based management, while Theme 4 highlights governance, resource and policy barriers affecting implementation (</a:t>
            </a:r>
            <a:r>
              <a:rPr lang="en-IN" sz="1200" kern="1200" dirty="0">
                <a:solidFill>
                  <a:schemeClr val="tx1"/>
                </a:solidFill>
                <a:effectLst/>
                <a:latin typeface="+mn-lt"/>
                <a:ea typeface="+mn-ea"/>
                <a:cs typeface="+mn-cs"/>
              </a:rPr>
              <a:t>Hart, 2018</a:t>
            </a:r>
            <a:r>
              <a:rPr lang="en-IN" sz="1400" dirty="0"/>
              <a:t>). </a:t>
            </a:r>
            <a:r>
              <a:rPr lang="en-IN" sz="1200" kern="1200" dirty="0">
                <a:solidFill>
                  <a:schemeClr val="tx1"/>
                </a:solidFill>
                <a:effectLst/>
                <a:latin typeface="+mn-lt"/>
                <a:ea typeface="+mn-ea"/>
                <a:cs typeface="+mn-cs"/>
              </a:rPr>
              <a:t>The results are compared with other literature, showing that the results are generally comparable to those found in the literature on sustainable tourism and protected areas. The study does reinforce however, the need to look at environmental pressures as a whole rather than one at a time. The results reveal linkages between tourism activity, environmental impacts, and management responses and implementation barriers. This holistic perspective enriches the discussion by creating a clearer link between the need to assess environmental risks and the realities of managing them for the success of sustainable tourism.</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400" dirty="0"/>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14</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B6D9-DEE2-8257-E379-3AA4A7413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9AFDA-3BB6-0DD9-4A53-1FDF9F7B3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8D91B-33B8-B987-44A0-2FCBC88BD8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results are consistent with all three theories of the study. Sustainable Development theory is an explanation of the necessity to balance tourism's benefits with the environment's conservation. The Tourism Carrying Capacity Theory emphasises the need to maintain a level of visitor activity that is not harmful to the environment (</a:t>
            </a:r>
            <a:r>
              <a:rPr lang="en-IN" sz="1200" kern="1200" dirty="0" err="1">
                <a:solidFill>
                  <a:schemeClr val="tx1"/>
                </a:solidFill>
                <a:effectLst/>
                <a:latin typeface="+mn-lt"/>
                <a:ea typeface="+mn-ea"/>
                <a:cs typeface="+mn-cs"/>
              </a:rPr>
              <a:t>Skiniti</a:t>
            </a:r>
            <a:r>
              <a:rPr lang="en-IN" sz="1200" kern="1200" dirty="0">
                <a:solidFill>
                  <a:schemeClr val="tx1"/>
                </a:solidFill>
                <a:effectLst/>
                <a:latin typeface="+mn-lt"/>
                <a:ea typeface="+mn-ea"/>
                <a:cs typeface="+mn-cs"/>
              </a:rPr>
              <a:t> et al. 2024). There is a need for coordinated action among different groups, which is illustrated by Stakeholder Theory. In summary, tourism pressures need effective management intervention to achieve sustainable tourism development within Eryri. The theoretical perspectives also contribute to an understanding of the need for an integrated management approach. But Sustainable Development Theory emphasizes on the importance of balancing the various aspects of development. The concept of Carrying Capacity Theory is a focus on the limits of environmental systems and the need to keep the pressure on tourism within the limits. Cooperation amongst the groups that are involved in the tourism and conservation </a:t>
            </a:r>
            <a:r>
              <a:rPr lang="en-IN" sz="1200" kern="1200" dirty="0" err="1">
                <a:solidFill>
                  <a:schemeClr val="tx1"/>
                </a:solidFill>
                <a:effectLst/>
                <a:latin typeface="+mn-lt"/>
                <a:ea typeface="+mn-ea"/>
                <a:cs typeface="+mn-cs"/>
              </a:rPr>
              <a:t>endeavor</a:t>
            </a:r>
            <a:r>
              <a:rPr lang="en-IN" sz="1200" kern="1200" dirty="0">
                <a:solidFill>
                  <a:schemeClr val="tx1"/>
                </a:solidFill>
                <a:effectLst/>
                <a:latin typeface="+mn-lt"/>
                <a:ea typeface="+mn-ea"/>
                <a:cs typeface="+mn-cs"/>
              </a:rPr>
              <a:t> is emphasized in the Stakeholder Theory. The combined theories indicate that no one intervention is enough to achieve sustainable tourism. It needs proper visitor control, protection of the environment, monitoring and collaboration with relevant parties.</a:t>
            </a:r>
          </a:p>
          <a:p>
            <a:endParaRPr lang="en-IN" sz="1200" kern="1200" dirty="0">
              <a:solidFill>
                <a:schemeClr val="tx1"/>
              </a:solidFill>
              <a:effectLst/>
              <a:latin typeface="+mn-lt"/>
              <a:ea typeface="+mn-ea"/>
              <a:cs typeface="+mn-cs"/>
            </a:endParaRP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63A0EB-395F-CA72-2E15-5B2DCE4F1577}"/>
              </a:ext>
            </a:extLst>
          </p:cNvPr>
          <p:cNvSpPr>
            <a:spLocks noGrp="1"/>
          </p:cNvSpPr>
          <p:nvPr>
            <p:ph type="sldNum" sz="quarter" idx="10"/>
          </p:nvPr>
        </p:nvSpPr>
        <p:spPr/>
        <p:txBody>
          <a:bodyPr/>
          <a:lstStyle/>
          <a:p>
            <a:fld id="{E906D4A3-7C5B-4FC7-9B09-7A5DE2BF8B9C}" type="slidenum">
              <a:rPr lang="en-IN" smtClean="0"/>
              <a:t>15</a:t>
            </a:fld>
            <a:endParaRPr lang="en-IN"/>
          </a:p>
        </p:txBody>
      </p:sp>
    </p:spTree>
    <p:extLst>
      <p:ext uri="{BB962C8B-B14F-4D97-AF65-F5344CB8AC3E}">
        <p14:creationId xmlns:p14="http://schemas.microsoft.com/office/powerpoint/2010/main" val="3026678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8694-C25B-FA2B-550E-B575A0443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AB10B-EE38-4C90-E02D-23DC0FA97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7FD18-4BEE-E016-B93F-B2399EB3CCCE}"/>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Overall, the study provides a comprehensive analysis of the attributes of tourism and their impact on sustainable development in Eryri, concluding that tourism can be beneficial in sustainable development when environmental pressures are managed appropriately. Major recommendations are increasing visitor monitoring, sustainable paths and transport, waste-management infrastructure and visitors' responsibility. There is also a need to improve environmental education and the cooperation between stakeholders. Authorities will need to be adaptive and use evidence-based management to cope with the variations in tourism pressure while protecting the environment and access to it.</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CC3D8E-8758-2064-E5BC-EB4B608937A7}"/>
              </a:ext>
            </a:extLst>
          </p:cNvPr>
          <p:cNvSpPr>
            <a:spLocks noGrp="1"/>
          </p:cNvSpPr>
          <p:nvPr>
            <p:ph type="sldNum" sz="quarter" idx="10"/>
          </p:nvPr>
        </p:nvSpPr>
        <p:spPr/>
        <p:txBody>
          <a:bodyPr/>
          <a:lstStyle/>
          <a:p>
            <a:fld id="{E906D4A3-7C5B-4FC7-9B09-7A5DE2BF8B9C}" type="slidenum">
              <a:rPr lang="en-IN" smtClean="0"/>
              <a:t>16</a:t>
            </a:fld>
            <a:endParaRPr lang="en-IN"/>
          </a:p>
        </p:txBody>
      </p:sp>
    </p:spTree>
    <p:extLst>
      <p:ext uri="{BB962C8B-B14F-4D97-AF65-F5344CB8AC3E}">
        <p14:creationId xmlns:p14="http://schemas.microsoft.com/office/powerpoint/2010/main" val="1213546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47CC-D690-C4E4-7AFB-FFD89D19D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19155-41E9-B206-7705-F739A9361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8F40C-6CB9-7109-0DCE-DA03F809AA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EA21AF-07ED-9C66-A15D-252C74F0E70A}"/>
              </a:ext>
            </a:extLst>
          </p:cNvPr>
          <p:cNvSpPr>
            <a:spLocks noGrp="1"/>
          </p:cNvSpPr>
          <p:nvPr>
            <p:ph type="sldNum" sz="quarter" idx="10"/>
          </p:nvPr>
        </p:nvSpPr>
        <p:spPr/>
        <p:txBody>
          <a:bodyPr/>
          <a:lstStyle/>
          <a:p>
            <a:fld id="{E906D4A3-7C5B-4FC7-9B09-7A5DE2BF8B9C}" type="slidenum">
              <a:rPr lang="en-IN" smtClean="0"/>
              <a:t>17</a:t>
            </a:fld>
            <a:endParaRPr lang="en-IN"/>
          </a:p>
        </p:txBody>
      </p:sp>
    </p:spTree>
    <p:extLst>
      <p:ext uri="{BB962C8B-B14F-4D97-AF65-F5344CB8AC3E}">
        <p14:creationId xmlns:p14="http://schemas.microsoft.com/office/powerpoint/2010/main" val="4205301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F06E2-2F2C-5BEF-EED6-9763B0698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9484B-D1E6-AD12-DE15-8DDD5C767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915B9-B62B-C8C5-62B8-2211DDF06A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9E301C-AF40-1EDD-EEFC-3597F420AB90}"/>
              </a:ext>
            </a:extLst>
          </p:cNvPr>
          <p:cNvSpPr>
            <a:spLocks noGrp="1"/>
          </p:cNvSpPr>
          <p:nvPr>
            <p:ph type="sldNum" sz="quarter" idx="10"/>
          </p:nvPr>
        </p:nvSpPr>
        <p:spPr/>
        <p:txBody>
          <a:bodyPr/>
          <a:lstStyle/>
          <a:p>
            <a:fld id="{E906D4A3-7C5B-4FC7-9B09-7A5DE2BF8B9C}" type="slidenum">
              <a:rPr lang="en-IN" smtClean="0"/>
              <a:t>18</a:t>
            </a:fld>
            <a:endParaRPr lang="en-IN"/>
          </a:p>
        </p:txBody>
      </p:sp>
    </p:spTree>
    <p:extLst>
      <p:ext uri="{BB962C8B-B14F-4D97-AF65-F5344CB8AC3E}">
        <p14:creationId xmlns:p14="http://schemas.microsoft.com/office/powerpoint/2010/main" val="4115931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906D4A3-7C5B-4FC7-9B09-7A5DE2BF8B9C}" type="slidenum">
              <a:rPr lang="en-IN" smtClean="0"/>
              <a:t>19</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hyperlink" Target="https://ejournal.kemenpar.go.id/index.php/jki/article/view/772" TargetMode="External"/><Relationship Id="rId3" Type="http://schemas.openxmlformats.org/officeDocument/2006/relationships/hyperlink" Target="http://thecrsss.com/index.php/Journal/article/view/729" TargetMode="External"/><Relationship Id="rId7" Type="http://schemas.openxmlformats.org/officeDocument/2006/relationships/hyperlink" Target="https://www.academia.edu/download/122341245/SJET_132_91_103c_published_paper.pdf" TargetMode="External"/><Relationship Id="rId12" Type="http://schemas.openxmlformats.org/officeDocument/2006/relationships/hyperlink" Target="https://www.sciencedirect.com/science/article/pii/S2211973622000721"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www.sciencedirect.com/science/article/pii/S0959652624033961" TargetMode="External"/><Relationship Id="rId11" Type="http://schemas.openxmlformats.org/officeDocument/2006/relationships/hyperlink" Target="https://www.emerald.com/sbr/article/18/4/572/347854" TargetMode="External"/><Relationship Id="rId5" Type="http://schemas.openxmlformats.org/officeDocument/2006/relationships/hyperlink" Target="https://www.cell.com/iscience/fulltext/S2589-0042(23)01243-9" TargetMode="External"/><Relationship Id="rId10" Type="http://schemas.openxmlformats.org/officeDocument/2006/relationships/hyperlink" Target="https://doi.org/10.1002/bse.3234" TargetMode="External"/><Relationship Id="rId4" Type="http://schemas.openxmlformats.org/officeDocument/2006/relationships/hyperlink" Target="https://link.springer.com/article/10.1007/s11356-022-22496-w" TargetMode="External"/><Relationship Id="rId9" Type="http://schemas.openxmlformats.org/officeDocument/2006/relationships/hyperlink" Target="https://www.mdpi.com/2071-1050/16/13/5442"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16/j.annale.2024.100151" TargetMode="External"/><Relationship Id="rId3" Type="http://schemas.openxmlformats.org/officeDocument/2006/relationships/hyperlink" Target="https://doi.org/10.3389/frsut.2023.1187402" TargetMode="External"/><Relationship Id="rId7" Type="http://schemas.openxmlformats.org/officeDocument/2006/relationships/hyperlink" Target="https://doi.org/10.3390/su151411013"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link.springer.com/article/10.1007/s10668-024-04805-0" TargetMode="External"/><Relationship Id="rId5" Type="http://schemas.openxmlformats.org/officeDocument/2006/relationships/hyperlink" Target="https://www.tandfonline.com/doi/abs/10.1080/09669582.2023.2259117" TargetMode="External"/><Relationship Id="rId10" Type="http://schemas.openxmlformats.org/officeDocument/2006/relationships/hyperlink" Target="https://www.e3s-conferences.org/articles/e3sconf/abs/2024/117/e3sconf_greenenergy24_05007/e3sconf_greenenergy24_05007.html" TargetMode="External"/><Relationship Id="rId4" Type="http://schemas.openxmlformats.org/officeDocument/2006/relationships/hyperlink" Target="https://doi.org/10.1080/13683500.2024.2443776" TargetMode="External"/><Relationship Id="rId9" Type="http://schemas.openxmlformats.org/officeDocument/2006/relationships/hyperlink" Target="https://doi.org/10.3390/su15065148"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838823" cy="10287000"/>
            <a:chOff x="0" y="0"/>
            <a:chExt cx="3381418" cy="2709333"/>
          </a:xfrm>
        </p:grpSpPr>
        <p:sp>
          <p:nvSpPr>
            <p:cNvPr id="5" name="Freeform 5"/>
            <p:cNvSpPr/>
            <p:nvPr/>
          </p:nvSpPr>
          <p:spPr>
            <a:xfrm>
              <a:off x="0" y="0"/>
              <a:ext cx="3381418" cy="2709333"/>
            </a:xfrm>
            <a:custGeom>
              <a:avLst/>
              <a:gdLst/>
              <a:ahLst/>
              <a:cxnLst/>
              <a:rect l="l" t="t" r="r" b="b"/>
              <a:pathLst>
                <a:path w="3381418" h="2709333">
                  <a:moveTo>
                    <a:pt x="0" y="0"/>
                  </a:moveTo>
                  <a:lnTo>
                    <a:pt x="3381418" y="0"/>
                  </a:lnTo>
                  <a:lnTo>
                    <a:pt x="3381418" y="2709333"/>
                  </a:lnTo>
                  <a:lnTo>
                    <a:pt x="0" y="2709333"/>
                  </a:lnTo>
                  <a:close/>
                </a:path>
              </a:pathLst>
            </a:custGeom>
            <a:gradFill rotWithShape="1">
              <a:gsLst>
                <a:gs pos="0">
                  <a:srgbClr val="E9EFEC">
                    <a:alpha val="100000"/>
                  </a:srgbClr>
                </a:gs>
                <a:gs pos="50000">
                  <a:srgbClr val="E9EFEC">
                    <a:alpha val="100000"/>
                  </a:srgbClr>
                </a:gs>
                <a:gs pos="100000">
                  <a:srgbClr val="E9EFEC">
                    <a:alpha val="0"/>
                  </a:srgbClr>
                </a:gs>
              </a:gsLst>
              <a:lin ang="0"/>
            </a:gradFill>
          </p:spPr>
        </p:sp>
        <p:sp>
          <p:nvSpPr>
            <p:cNvPr id="6" name="TextBox 6"/>
            <p:cNvSpPr txBox="1"/>
            <p:nvPr/>
          </p:nvSpPr>
          <p:spPr>
            <a:xfrm>
              <a:off x="0" y="-38100"/>
              <a:ext cx="3381418" cy="2747433"/>
            </a:xfrm>
            <a:prstGeom prst="rect">
              <a:avLst/>
            </a:prstGeom>
          </p:spPr>
          <p:txBody>
            <a:bodyPr lIns="50800" tIns="50800" rIns="50800" bIns="50800" rtlCol="0" anchor="ctr"/>
            <a:lstStyle/>
            <a:p>
              <a:pPr algn="ctr">
                <a:lnSpc>
                  <a:spcPts val="2660"/>
                </a:lnSpc>
                <a:spcBef>
                  <a:spcPct val="0"/>
                </a:spcBef>
              </a:pPr>
              <a:endParaRPr/>
            </a:p>
          </p:txBody>
        </p:sp>
      </p:grpSp>
      <p:sp>
        <p:nvSpPr>
          <p:cNvPr id="16" name="TextBox 16"/>
          <p:cNvSpPr txBox="1"/>
          <p:nvPr/>
        </p:nvSpPr>
        <p:spPr>
          <a:xfrm>
            <a:off x="1259248" y="3858753"/>
            <a:ext cx="15769504" cy="2205732"/>
          </a:xfrm>
          <a:prstGeom prst="rect">
            <a:avLst/>
          </a:prstGeom>
        </p:spPr>
        <p:txBody>
          <a:bodyPr wrap="square" lIns="0" tIns="0" rIns="0" bIns="0" rtlCol="0" anchor="t">
            <a:spAutoFit/>
          </a:bodyPr>
          <a:lstStyle/>
          <a:p>
            <a:pPr algn="ctr">
              <a:lnSpc>
                <a:spcPts val="8640"/>
              </a:lnSpc>
            </a:pPr>
            <a:r>
              <a:rPr lang="en-US" sz="8800" b="1" dirty="0">
                <a:solidFill>
                  <a:srgbClr val="16423C"/>
                </a:solidFill>
                <a:latin typeface="Times New Roman" panose="02020603050405020304" pitchFamily="18" charset="0"/>
                <a:ea typeface="Garet Bold"/>
                <a:cs typeface="Times New Roman" panose="02020603050405020304" pitchFamily="18" charset="0"/>
                <a:sym typeface="Garet Bold"/>
              </a:rPr>
              <a:t>Tourism Impacts and Sustainable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6"/>
          <p:cNvSpPr txBox="1"/>
          <p:nvPr/>
        </p:nvSpPr>
        <p:spPr>
          <a:xfrm>
            <a:off x="2796964" y="134237"/>
            <a:ext cx="12430658" cy="2205732"/>
          </a:xfrm>
          <a:prstGeom prst="rect">
            <a:avLst/>
          </a:prstGeom>
        </p:spPr>
        <p:txBody>
          <a:bodyPr wrap="square" lIns="0" tIns="0" rIns="0" bIns="0" rtlCol="0" anchor="t">
            <a:spAutoFit/>
          </a:bodyPr>
          <a:lstStyle/>
          <a:p>
            <a:pPr algn="ctr">
              <a:lnSpc>
                <a:spcPts val="8640"/>
              </a:lnSpc>
            </a:pPr>
            <a:r>
              <a:rPr lang="en-US" sz="7200" b="1" dirty="0">
                <a:solidFill>
                  <a:srgbClr val="16423C"/>
                </a:solidFill>
                <a:latin typeface="Times New Roman" panose="02020603050405020304" pitchFamily="18" charset="0"/>
                <a:ea typeface="Garet Bold"/>
                <a:cs typeface="Times New Roman" panose="02020603050405020304" pitchFamily="18" charset="0"/>
                <a:sym typeface="Garet Bold"/>
              </a:rPr>
              <a:t>Research Background &amp; Context</a:t>
            </a:r>
          </a:p>
        </p:txBody>
      </p:sp>
      <p:grpSp>
        <p:nvGrpSpPr>
          <p:cNvPr id="8" name="Group 11">
            <a:extLst>
              <a:ext uri="{FF2B5EF4-FFF2-40B4-BE49-F238E27FC236}">
                <a16:creationId xmlns:a16="http://schemas.microsoft.com/office/drawing/2014/main" id="{ABFB1359-5839-EB54-CA34-D9F396EFAEFC}"/>
              </a:ext>
            </a:extLst>
          </p:cNvPr>
          <p:cNvGrpSpPr/>
          <p:nvPr/>
        </p:nvGrpSpPr>
        <p:grpSpPr>
          <a:xfrm>
            <a:off x="1" y="2412299"/>
            <a:ext cx="10515599" cy="7740464"/>
            <a:chOff x="0" y="0"/>
            <a:chExt cx="2375799" cy="601595"/>
          </a:xfrm>
        </p:grpSpPr>
        <p:sp>
          <p:nvSpPr>
            <p:cNvPr id="9" name="Freeform 12">
              <a:extLst>
                <a:ext uri="{FF2B5EF4-FFF2-40B4-BE49-F238E27FC236}">
                  <a16:creationId xmlns:a16="http://schemas.microsoft.com/office/drawing/2014/main" id="{302CF44F-D6D8-6D40-86F7-5362EDB83792}"/>
                </a:ext>
              </a:extLst>
            </p:cNvPr>
            <p:cNvSpPr/>
            <p:nvPr/>
          </p:nvSpPr>
          <p:spPr>
            <a:xfrm>
              <a:off x="0" y="0"/>
              <a:ext cx="2375799" cy="601595"/>
            </a:xfrm>
            <a:custGeom>
              <a:avLst/>
              <a:gdLst/>
              <a:ahLst/>
              <a:cxnLst/>
              <a:rect l="l" t="t" r="r" b="b"/>
              <a:pathLst>
                <a:path w="2375799" h="601595">
                  <a:moveTo>
                    <a:pt x="17165" y="0"/>
                  </a:moveTo>
                  <a:lnTo>
                    <a:pt x="2358634" y="0"/>
                  </a:lnTo>
                  <a:cubicBezTo>
                    <a:pt x="2363186" y="0"/>
                    <a:pt x="2367552" y="1808"/>
                    <a:pt x="2370772" y="5027"/>
                  </a:cubicBezTo>
                  <a:cubicBezTo>
                    <a:pt x="2373991" y="8247"/>
                    <a:pt x="2375799" y="12613"/>
                    <a:pt x="2375799" y="17165"/>
                  </a:cubicBezTo>
                  <a:lnTo>
                    <a:pt x="2375799" y="584430"/>
                  </a:lnTo>
                  <a:cubicBezTo>
                    <a:pt x="2375799" y="588983"/>
                    <a:pt x="2373991" y="593349"/>
                    <a:pt x="2370772" y="596568"/>
                  </a:cubicBezTo>
                  <a:cubicBezTo>
                    <a:pt x="2367552" y="599787"/>
                    <a:pt x="2363186" y="601595"/>
                    <a:pt x="2358634" y="601595"/>
                  </a:cubicBezTo>
                  <a:lnTo>
                    <a:pt x="17165" y="601595"/>
                  </a:lnTo>
                  <a:cubicBezTo>
                    <a:pt x="12613" y="601595"/>
                    <a:pt x="8247" y="599787"/>
                    <a:pt x="5027" y="596568"/>
                  </a:cubicBezTo>
                  <a:cubicBezTo>
                    <a:pt x="1808" y="593349"/>
                    <a:pt x="0" y="588983"/>
                    <a:pt x="0" y="58443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10" name="TextBox 13">
              <a:extLst>
                <a:ext uri="{FF2B5EF4-FFF2-40B4-BE49-F238E27FC236}">
                  <a16:creationId xmlns:a16="http://schemas.microsoft.com/office/drawing/2014/main" id="{F8A76ED0-2FA4-A376-BA5C-C85259E44CB2}"/>
                </a:ext>
              </a:extLst>
            </p:cNvPr>
            <p:cNvSpPr txBox="1"/>
            <p:nvPr/>
          </p:nvSpPr>
          <p:spPr>
            <a:xfrm>
              <a:off x="0" y="-38100"/>
              <a:ext cx="2375799" cy="639695"/>
            </a:xfrm>
            <a:prstGeom prst="rect">
              <a:avLst/>
            </a:prstGeom>
          </p:spPr>
          <p:txBody>
            <a:bodyPr lIns="50800" tIns="50800" rIns="50800" bIns="50800" rtlCol="0" anchor="ctr"/>
            <a:lstStyle/>
            <a:p>
              <a:pPr algn="ctr">
                <a:lnSpc>
                  <a:spcPts val="2660"/>
                </a:lnSpc>
                <a:spcBef>
                  <a:spcPct val="0"/>
                </a:spcBef>
              </a:pPr>
              <a:endParaRPr sz="2800"/>
            </a:p>
          </p:txBody>
        </p:sp>
      </p:grpSp>
      <p:sp>
        <p:nvSpPr>
          <p:cNvPr id="12" name="TextBox 11">
            <a:extLst>
              <a:ext uri="{FF2B5EF4-FFF2-40B4-BE49-F238E27FC236}">
                <a16:creationId xmlns:a16="http://schemas.microsoft.com/office/drawing/2014/main" id="{EAB496C7-2680-1A7C-6F79-54BAC6E2403F}"/>
              </a:ext>
            </a:extLst>
          </p:cNvPr>
          <p:cNvSpPr txBox="1"/>
          <p:nvPr/>
        </p:nvSpPr>
        <p:spPr>
          <a:xfrm>
            <a:off x="621120" y="2735617"/>
            <a:ext cx="9589680" cy="6651821"/>
          </a:xfrm>
          <a:prstGeom prst="rect">
            <a:avLst/>
          </a:prstGeom>
          <a:noFill/>
        </p:spPr>
        <p:txBody>
          <a:bodyPr wrap="square" rtlCol="0">
            <a:spAutoFit/>
          </a:bodyPr>
          <a:lstStyle/>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Eryri is a major protected tourism destination in Wales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Tourism generates economic and recreational benefits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Rising visitation increases environmental pressures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Sensitive landscapes face growing sustainability challenges (</a:t>
            </a:r>
            <a:r>
              <a:rPr lang="en-US" sz="3200" dirty="0" err="1">
                <a:latin typeface="Times New Roman" panose="02020603050405020304" pitchFamily="18" charset="0"/>
                <a:cs typeface="Times New Roman" panose="02020603050405020304" pitchFamily="18" charset="0"/>
              </a:rPr>
              <a:t>Tsypko</a:t>
            </a:r>
            <a:r>
              <a:rPr lang="en-US" sz="3200" dirty="0">
                <a:latin typeface="Times New Roman" panose="02020603050405020304" pitchFamily="18" charset="0"/>
                <a:cs typeface="Times New Roman" panose="02020603050405020304" pitchFamily="18" charset="0"/>
              </a:rPr>
              <a:t>, 2024)</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Key pressures include erosion, congestion and waste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Sustainable tourism requires conservation alongside visitor access</a:t>
            </a:r>
          </a:p>
        </p:txBody>
      </p:sp>
      <p:pic>
        <p:nvPicPr>
          <p:cNvPr id="2" name="Picture 1" descr="An adventure in Snowdonia National Park - Sugar &amp; Loaf">
            <a:extLst>
              <a:ext uri="{FF2B5EF4-FFF2-40B4-BE49-F238E27FC236}">
                <a16:creationId xmlns:a16="http://schemas.microsoft.com/office/drawing/2014/main" id="{C973F2AE-996C-0404-CE9D-26A2F4B25B4F}"/>
              </a:ext>
            </a:extLst>
          </p:cNvPr>
          <p:cNvPicPr>
            <a:picLocks noChangeAspect="1"/>
          </p:cNvPicPr>
          <p:nvPr/>
        </p:nvPicPr>
        <p:blipFill>
          <a:blip r:embed="rId3"/>
          <a:stretch>
            <a:fillRect/>
          </a:stretch>
        </p:blipFill>
        <p:spPr>
          <a:xfrm>
            <a:off x="10668000" y="3314700"/>
            <a:ext cx="7409885" cy="49399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11" name="Group 11"/>
          <p:cNvGrpSpPr/>
          <p:nvPr/>
        </p:nvGrpSpPr>
        <p:grpSpPr>
          <a:xfrm>
            <a:off x="7355686" y="2496750"/>
            <a:ext cx="10627514" cy="7390485"/>
            <a:chOff x="0" y="0"/>
            <a:chExt cx="2375799" cy="601595"/>
          </a:xfrm>
        </p:grpSpPr>
        <p:sp>
          <p:nvSpPr>
            <p:cNvPr id="12" name="Freeform 12"/>
            <p:cNvSpPr/>
            <p:nvPr/>
          </p:nvSpPr>
          <p:spPr>
            <a:xfrm>
              <a:off x="0" y="0"/>
              <a:ext cx="2375799" cy="601595"/>
            </a:xfrm>
            <a:custGeom>
              <a:avLst/>
              <a:gdLst/>
              <a:ahLst/>
              <a:cxnLst/>
              <a:rect l="l" t="t" r="r" b="b"/>
              <a:pathLst>
                <a:path w="2375799" h="601595">
                  <a:moveTo>
                    <a:pt x="17165" y="0"/>
                  </a:moveTo>
                  <a:lnTo>
                    <a:pt x="2358634" y="0"/>
                  </a:lnTo>
                  <a:cubicBezTo>
                    <a:pt x="2363186" y="0"/>
                    <a:pt x="2367552" y="1808"/>
                    <a:pt x="2370772" y="5027"/>
                  </a:cubicBezTo>
                  <a:cubicBezTo>
                    <a:pt x="2373991" y="8247"/>
                    <a:pt x="2375799" y="12613"/>
                    <a:pt x="2375799" y="17165"/>
                  </a:cubicBezTo>
                  <a:lnTo>
                    <a:pt x="2375799" y="584430"/>
                  </a:lnTo>
                  <a:cubicBezTo>
                    <a:pt x="2375799" y="588983"/>
                    <a:pt x="2373991" y="593349"/>
                    <a:pt x="2370772" y="596568"/>
                  </a:cubicBezTo>
                  <a:cubicBezTo>
                    <a:pt x="2367552" y="599787"/>
                    <a:pt x="2363186" y="601595"/>
                    <a:pt x="2358634" y="601595"/>
                  </a:cubicBezTo>
                  <a:lnTo>
                    <a:pt x="17165" y="601595"/>
                  </a:lnTo>
                  <a:cubicBezTo>
                    <a:pt x="12613" y="601595"/>
                    <a:pt x="8247" y="599787"/>
                    <a:pt x="5027" y="596568"/>
                  </a:cubicBezTo>
                  <a:cubicBezTo>
                    <a:pt x="1808" y="593349"/>
                    <a:pt x="0" y="588983"/>
                    <a:pt x="0" y="58443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13" name="TextBox 13"/>
            <p:cNvSpPr txBox="1"/>
            <p:nvPr/>
          </p:nvSpPr>
          <p:spPr>
            <a:xfrm>
              <a:off x="0" y="-38100"/>
              <a:ext cx="2375799" cy="639695"/>
            </a:xfrm>
            <a:prstGeom prst="rect">
              <a:avLst/>
            </a:prstGeom>
          </p:spPr>
          <p:txBody>
            <a:bodyPr lIns="50800" tIns="50800" rIns="50800" bIns="50800" rtlCol="0" anchor="ctr"/>
            <a:lstStyle/>
            <a:p>
              <a:pPr algn="ctr">
                <a:lnSpc>
                  <a:spcPts val="2660"/>
                </a:lnSpc>
                <a:spcBef>
                  <a:spcPct val="0"/>
                </a:spcBef>
              </a:pPr>
              <a:endParaRPr sz="2800"/>
            </a:p>
          </p:txBody>
        </p:sp>
      </p:grpSp>
      <p:sp>
        <p:nvSpPr>
          <p:cNvPr id="18" name="TextBox 18"/>
          <p:cNvSpPr txBox="1"/>
          <p:nvPr/>
        </p:nvSpPr>
        <p:spPr>
          <a:xfrm>
            <a:off x="7543800" y="717847"/>
            <a:ext cx="10330864" cy="932948"/>
          </a:xfrm>
          <a:prstGeom prst="rect">
            <a:avLst/>
          </a:prstGeom>
        </p:spPr>
        <p:txBody>
          <a:bodyPr wrap="square" lIns="0" tIns="0" rIns="0" bIns="0" rtlCol="0" anchor="t">
            <a:spAutoFit/>
          </a:bodyPr>
          <a:lstStyle/>
          <a:p>
            <a:pPr algn="l">
              <a:lnSpc>
                <a:spcPts val="7680"/>
              </a:lnSpc>
            </a:pPr>
            <a:r>
              <a:rPr lang="en-US" sz="6400" b="1" dirty="0">
                <a:solidFill>
                  <a:srgbClr val="16423C"/>
                </a:solidFill>
                <a:latin typeface="Times New Roman" panose="02020603050405020304" pitchFamily="18" charset="0"/>
                <a:ea typeface="Garet Bold"/>
                <a:cs typeface="Times New Roman" panose="02020603050405020304" pitchFamily="18" charset="0"/>
                <a:sym typeface="Garet Bold"/>
              </a:rPr>
              <a:t>Research Problem</a:t>
            </a:r>
          </a:p>
        </p:txBody>
      </p:sp>
      <p:sp>
        <p:nvSpPr>
          <p:cNvPr id="21" name="Rectangle 20"/>
          <p:cNvSpPr/>
          <p:nvPr/>
        </p:nvSpPr>
        <p:spPr>
          <a:xfrm>
            <a:off x="7543800" y="2496750"/>
            <a:ext cx="9797464" cy="7390485"/>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Increasing tourism creates pressure on protected environments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Popular routes experience significant path erosion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Habitat disturbance and traffic congestion are concerns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Waste and carbon emissions increase environmental pressure (Baloch et al. 2023)</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research integrates multiple pressures in Eryri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Research gap: Limited integrated analysis of environmental pressures, management strategies and implementation challenges</a:t>
            </a:r>
          </a:p>
        </p:txBody>
      </p:sp>
      <p:pic>
        <p:nvPicPr>
          <p:cNvPr id="3" name="Picture 2" descr="Tourism Industry: Everything You Need to Know About Tourism">
            <a:extLst>
              <a:ext uri="{FF2B5EF4-FFF2-40B4-BE49-F238E27FC236}">
                <a16:creationId xmlns:a16="http://schemas.microsoft.com/office/drawing/2014/main" id="{E7290405-7820-3BC5-045B-B24812DD3B2A}"/>
              </a:ext>
            </a:extLst>
          </p:cNvPr>
          <p:cNvPicPr>
            <a:picLocks noChangeAspect="1"/>
          </p:cNvPicPr>
          <p:nvPr/>
        </p:nvPicPr>
        <p:blipFill>
          <a:blip r:embed="rId3"/>
          <a:stretch>
            <a:fillRect/>
          </a:stretch>
        </p:blipFill>
        <p:spPr>
          <a:xfrm>
            <a:off x="20053" y="3314700"/>
            <a:ext cx="7225608" cy="47183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321036" y="1485900"/>
            <a:ext cx="17585964" cy="8590945"/>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p:cNvSpPr txBox="1"/>
          <p:nvPr/>
        </p:nvSpPr>
        <p:spPr>
          <a:xfrm>
            <a:off x="1559884" y="210155"/>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Aim, Objectives &amp; Research Questions</a:t>
            </a:r>
          </a:p>
        </p:txBody>
      </p:sp>
      <p:sp>
        <p:nvSpPr>
          <p:cNvPr id="6" name="TextBox 5">
            <a:extLst>
              <a:ext uri="{FF2B5EF4-FFF2-40B4-BE49-F238E27FC236}">
                <a16:creationId xmlns:a16="http://schemas.microsoft.com/office/drawing/2014/main" id="{150A2F1E-A11E-B25B-7FAA-349F8F41A93D}"/>
              </a:ext>
            </a:extLst>
          </p:cNvPr>
          <p:cNvSpPr txBox="1"/>
          <p:nvPr/>
        </p:nvSpPr>
        <p:spPr>
          <a:xfrm>
            <a:off x="685800" y="1485900"/>
            <a:ext cx="12353340" cy="8417176"/>
          </a:xfrm>
          <a:prstGeom prst="rect">
            <a:avLst/>
          </a:prstGeom>
          <a:noFill/>
        </p:spPr>
        <p:txBody>
          <a:bodyPr wrap="square">
            <a:spAutoFit/>
          </a:bodyPr>
          <a:lstStyle/>
          <a:p>
            <a:pPr>
              <a:lnSpc>
                <a:spcPct val="150000"/>
              </a:lnSpc>
              <a:buNone/>
            </a:pPr>
            <a:r>
              <a:rPr lang="en-IN" sz="2800" b="1" dirty="0">
                <a:latin typeface="Times New Roman" panose="02020603050405020304" pitchFamily="18" charset="0"/>
                <a:cs typeface="Times New Roman" panose="02020603050405020304" pitchFamily="18" charset="0"/>
              </a:rPr>
              <a:t>Research Aim</a:t>
            </a:r>
          </a:p>
          <a:p>
            <a:pPr>
              <a:lnSpc>
                <a:spcPct val="150000"/>
              </a:lnSpc>
              <a:buNone/>
            </a:pPr>
            <a:r>
              <a:rPr lang="en-IN" sz="2800" dirty="0">
                <a:latin typeface="Times New Roman" panose="02020603050405020304" pitchFamily="18" charset="0"/>
                <a:cs typeface="Times New Roman" panose="02020603050405020304" pitchFamily="18" charset="0"/>
              </a:rPr>
              <a:t>To investigate tourism impacts on sustainable development by analysing environmental pressures in Eryri and evaluating sustainable management strategies.</a:t>
            </a:r>
          </a:p>
          <a:p>
            <a:pPr>
              <a:lnSpc>
                <a:spcPct val="150000"/>
              </a:lnSpc>
              <a:buNone/>
            </a:pPr>
            <a:r>
              <a:rPr lang="en-IN" sz="2800" b="1" dirty="0">
                <a:latin typeface="Times New Roman" panose="02020603050405020304" pitchFamily="18" charset="0"/>
                <a:cs typeface="Times New Roman" panose="02020603050405020304" pitchFamily="18" charset="0"/>
              </a:rPr>
              <a:t>Objectives</a:t>
            </a:r>
          </a:p>
          <a:p>
            <a:pPr marL="342900" lvl="0" indent="-342900">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Examine tourism, environmental impacts and sustainability literature </a:t>
            </a:r>
          </a:p>
          <a:p>
            <a:pPr marL="342900" lvl="0" indent="-342900">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Identify major tourism-related environmental pressures </a:t>
            </a:r>
          </a:p>
          <a:p>
            <a:pPr marL="342900" lvl="0" indent="-342900">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Assess sustainable tourism and conservation strategies </a:t>
            </a:r>
          </a:p>
          <a:p>
            <a:pPr marL="342900" lvl="0" indent="-342900">
              <a:lnSpc>
                <a:spcPct val="150000"/>
              </a:lnSpc>
              <a:buFont typeface="+mj-lt"/>
              <a:buAutoNum type="arabicPeriod"/>
            </a:pPr>
            <a:r>
              <a:rPr lang="en-IN" sz="2800" dirty="0">
                <a:latin typeface="Times New Roman" panose="02020603050405020304" pitchFamily="18" charset="0"/>
                <a:cs typeface="Times New Roman" panose="02020603050405020304" pitchFamily="18" charset="0"/>
              </a:rPr>
              <a:t>.Examine challenges affecting implementation </a:t>
            </a:r>
          </a:p>
          <a:p>
            <a:pPr>
              <a:lnSpc>
                <a:spcPct val="150000"/>
              </a:lnSpc>
              <a:buNone/>
            </a:pPr>
            <a:r>
              <a:rPr lang="en-IN" sz="2800" b="1" dirty="0">
                <a:latin typeface="Times New Roman" panose="02020603050405020304" pitchFamily="18" charset="0"/>
                <a:cs typeface="Times New Roman" panose="02020603050405020304" pitchFamily="18" charset="0"/>
              </a:rPr>
              <a:t>Research Questions</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What are the major environmental impacts of tourism?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How do tourism activities affect sustainable development?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How effective are current management practices?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What barriers affect sustainable tourism implementation?</a:t>
            </a:r>
          </a:p>
        </p:txBody>
      </p:sp>
      <p:pic>
        <p:nvPicPr>
          <p:cNvPr id="7" name="Picture 6" descr="Conceptual model of Sustainable Tourism Development | Download Scientific  Diagram">
            <a:extLst>
              <a:ext uri="{FF2B5EF4-FFF2-40B4-BE49-F238E27FC236}">
                <a16:creationId xmlns:a16="http://schemas.microsoft.com/office/drawing/2014/main" id="{AED27D40-7D30-FCDD-4810-5C5811F946F9}"/>
              </a:ext>
            </a:extLst>
          </p:cNvPr>
          <p:cNvPicPr>
            <a:picLocks noChangeAspect="1"/>
          </p:cNvPicPr>
          <p:nvPr/>
        </p:nvPicPr>
        <p:blipFill>
          <a:blip r:embed="rId3"/>
          <a:stretch>
            <a:fillRect/>
          </a:stretch>
        </p:blipFill>
        <p:spPr>
          <a:xfrm>
            <a:off x="11492145" y="3619500"/>
            <a:ext cx="6110055" cy="55781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2BC88D96-1518-7F2B-7815-4387398E4A4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FC7D83-020A-3AB2-A83A-6E0144844E78}"/>
              </a:ext>
            </a:extLst>
          </p:cNvPr>
          <p:cNvGrpSpPr/>
          <p:nvPr/>
        </p:nvGrpSpPr>
        <p:grpSpPr>
          <a:xfrm>
            <a:off x="304800" y="2324100"/>
            <a:ext cx="10896600" cy="7213677"/>
            <a:chOff x="0" y="0"/>
            <a:chExt cx="3255608" cy="433237"/>
          </a:xfrm>
        </p:grpSpPr>
        <p:sp>
          <p:nvSpPr>
            <p:cNvPr id="3" name="Freeform 3">
              <a:extLst>
                <a:ext uri="{FF2B5EF4-FFF2-40B4-BE49-F238E27FC236}">
                  <a16:creationId xmlns:a16="http://schemas.microsoft.com/office/drawing/2014/main" id="{89D4FBF9-0CEC-D73F-5545-221C7E52FA20}"/>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136C7157-4DA2-4A83-92E1-A2CC1ADED48C}"/>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5C28D82D-0EC2-CB93-93A9-AC5E001526B9}"/>
              </a:ext>
            </a:extLst>
          </p:cNvPr>
          <p:cNvSpPr txBox="1"/>
          <p:nvPr/>
        </p:nvSpPr>
        <p:spPr>
          <a:xfrm>
            <a:off x="1643933" y="749223"/>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Significance of the Study</a:t>
            </a:r>
          </a:p>
        </p:txBody>
      </p:sp>
      <p:sp>
        <p:nvSpPr>
          <p:cNvPr id="6" name="TextBox 5">
            <a:extLst>
              <a:ext uri="{FF2B5EF4-FFF2-40B4-BE49-F238E27FC236}">
                <a16:creationId xmlns:a16="http://schemas.microsoft.com/office/drawing/2014/main" id="{6614FA9F-6435-567C-8B80-206A91932EF1}"/>
              </a:ext>
            </a:extLst>
          </p:cNvPr>
          <p:cNvSpPr txBox="1"/>
          <p:nvPr/>
        </p:nvSpPr>
        <p:spPr>
          <a:xfrm>
            <a:off x="1066800" y="2705100"/>
            <a:ext cx="11044988" cy="5913157"/>
          </a:xfrm>
          <a:prstGeom prst="rect">
            <a:avLst/>
          </a:prstGeom>
          <a:noFill/>
        </p:spPr>
        <p:txBody>
          <a:bodyPr wrap="square">
            <a:spAutoFit/>
          </a:bodyPr>
          <a:lstStyle/>
          <a:p>
            <a:pPr>
              <a:lnSpc>
                <a:spcPct val="150000"/>
              </a:lnSpc>
              <a:buNone/>
            </a:pPr>
            <a:r>
              <a:rPr lang="en-IN" sz="3200" b="1" dirty="0">
                <a:latin typeface="Times New Roman" panose="02020603050405020304" pitchFamily="18" charset="0"/>
                <a:cs typeface="Times New Roman" panose="02020603050405020304" pitchFamily="18" charset="0"/>
              </a:rPr>
              <a:t>Why This Research Matters</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Connects tourism with environmental sustainability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Highlights pressures affecting protected landscapes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Supports improved tourism management decisions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Identifies gaps in existing research (Ali et al. 2025)</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Provides practical direction for sustainable management </a:t>
            </a:r>
          </a:p>
          <a:p>
            <a:pPr>
              <a:lnSpc>
                <a:spcPct val="150000"/>
              </a:lnSpc>
              <a:buNone/>
            </a:pPr>
            <a:r>
              <a:rPr lang="en-IN" sz="3200" b="1" dirty="0">
                <a:latin typeface="Times New Roman" panose="02020603050405020304" pitchFamily="18" charset="0"/>
                <a:cs typeface="Times New Roman" panose="02020603050405020304" pitchFamily="18" charset="0"/>
              </a:rPr>
              <a:t>Contribution: </a:t>
            </a:r>
            <a:r>
              <a:rPr lang="en-IN" sz="3200" dirty="0">
                <a:latin typeface="Times New Roman" panose="02020603050405020304" pitchFamily="18" charset="0"/>
                <a:cs typeface="Times New Roman" panose="02020603050405020304" pitchFamily="18" charset="0"/>
              </a:rPr>
              <a:t>Supports evidence-based and collaborative management of protected tourism destinations.</a:t>
            </a:r>
          </a:p>
        </p:txBody>
      </p:sp>
      <p:pic>
        <p:nvPicPr>
          <p:cNvPr id="5" name="Picture 4" descr="Snowdonia, North Wales, and Chester from Manchester - 2026 (Verified  Reviews)">
            <a:extLst>
              <a:ext uri="{FF2B5EF4-FFF2-40B4-BE49-F238E27FC236}">
                <a16:creationId xmlns:a16="http://schemas.microsoft.com/office/drawing/2014/main" id="{4C2EB4A0-E6E5-5BF8-D9DE-669C4FB3E3B6}"/>
              </a:ext>
            </a:extLst>
          </p:cNvPr>
          <p:cNvPicPr>
            <a:picLocks noChangeAspect="1"/>
          </p:cNvPicPr>
          <p:nvPr/>
        </p:nvPicPr>
        <p:blipFill>
          <a:blip r:embed="rId3"/>
          <a:stretch>
            <a:fillRect/>
          </a:stretch>
        </p:blipFill>
        <p:spPr>
          <a:xfrm>
            <a:off x="11359832" y="2476499"/>
            <a:ext cx="6908877" cy="6908877"/>
          </a:xfrm>
          <a:prstGeom prst="rect">
            <a:avLst/>
          </a:prstGeom>
        </p:spPr>
      </p:pic>
    </p:spTree>
    <p:extLst>
      <p:ext uri="{BB962C8B-B14F-4D97-AF65-F5344CB8AC3E}">
        <p14:creationId xmlns:p14="http://schemas.microsoft.com/office/powerpoint/2010/main" val="363016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71C0D64A-514D-FB8E-8C83-E5B67717A2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668198-6451-2CAA-109F-67C68A61647E}"/>
              </a:ext>
            </a:extLst>
          </p:cNvPr>
          <p:cNvGrpSpPr/>
          <p:nvPr/>
        </p:nvGrpSpPr>
        <p:grpSpPr>
          <a:xfrm>
            <a:off x="304800" y="2324100"/>
            <a:ext cx="10896600" cy="7962900"/>
            <a:chOff x="0" y="0"/>
            <a:chExt cx="3255608" cy="433237"/>
          </a:xfrm>
        </p:grpSpPr>
        <p:sp>
          <p:nvSpPr>
            <p:cNvPr id="3" name="Freeform 3">
              <a:extLst>
                <a:ext uri="{FF2B5EF4-FFF2-40B4-BE49-F238E27FC236}">
                  <a16:creationId xmlns:a16="http://schemas.microsoft.com/office/drawing/2014/main" id="{CD0EC49D-8B47-CBED-437A-0386498561E5}"/>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ADCB64B5-1973-A603-01A9-A6D13E0A69B8}"/>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44889750-79A6-2043-4866-FC366AF8AFE8}"/>
              </a:ext>
            </a:extLst>
          </p:cNvPr>
          <p:cNvSpPr txBox="1"/>
          <p:nvPr/>
        </p:nvSpPr>
        <p:spPr>
          <a:xfrm>
            <a:off x="1643933" y="749223"/>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Key Literature &amp; Theoretical Perspectives</a:t>
            </a:r>
          </a:p>
        </p:txBody>
      </p:sp>
      <p:sp>
        <p:nvSpPr>
          <p:cNvPr id="7" name="TextBox 6">
            <a:extLst>
              <a:ext uri="{FF2B5EF4-FFF2-40B4-BE49-F238E27FC236}">
                <a16:creationId xmlns:a16="http://schemas.microsoft.com/office/drawing/2014/main" id="{AA0B9EBA-DADC-6FE7-F101-6EA721B5776D}"/>
              </a:ext>
            </a:extLst>
          </p:cNvPr>
          <p:cNvSpPr txBox="1"/>
          <p:nvPr/>
        </p:nvSpPr>
        <p:spPr>
          <a:xfrm>
            <a:off x="818572" y="2544780"/>
            <a:ext cx="8763000" cy="7124514"/>
          </a:xfrm>
          <a:prstGeom prst="rect">
            <a:avLst/>
          </a:prstGeom>
          <a:noFill/>
        </p:spPr>
        <p:txBody>
          <a:bodyPr wrap="square">
            <a:spAutoFit/>
          </a:bodyPr>
          <a:lstStyle/>
          <a:p>
            <a:pPr>
              <a:lnSpc>
                <a:spcPct val="150000"/>
              </a:lnSpc>
              <a:buNone/>
            </a:pPr>
            <a:r>
              <a:rPr lang="en-IN" sz="2800" b="1" dirty="0">
                <a:latin typeface="Times New Roman" panose="02020603050405020304" pitchFamily="18" charset="0"/>
                <a:cs typeface="Times New Roman" panose="02020603050405020304" pitchFamily="18" charset="0"/>
              </a:rPr>
              <a:t>Theoretical Foundation</a:t>
            </a:r>
          </a:p>
          <a:p>
            <a:pPr>
              <a:lnSpc>
                <a:spcPct val="150000"/>
              </a:lnSpc>
              <a:buNone/>
            </a:pPr>
            <a:r>
              <a:rPr lang="en-IN" sz="2800" b="1" dirty="0">
                <a:latin typeface="Times New Roman" panose="02020603050405020304" pitchFamily="18" charset="0"/>
                <a:cs typeface="Times New Roman" panose="02020603050405020304" pitchFamily="18" charset="0"/>
              </a:rPr>
              <a:t>Sustainable Development Theory</a:t>
            </a:r>
            <a:endParaRPr lang="en-IN" sz="28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Balances environmental, economic and social needs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Protects resources for future generations  (</a:t>
            </a:r>
            <a:r>
              <a:rPr lang="en-IN" sz="2800" dirty="0" err="1">
                <a:latin typeface="Times New Roman" panose="02020603050405020304" pitchFamily="18" charset="0"/>
                <a:cs typeface="Times New Roman" panose="02020603050405020304" pitchFamily="18" charset="0"/>
              </a:rPr>
              <a:t>Haribudiman</a:t>
            </a:r>
            <a:r>
              <a:rPr lang="en-IN" sz="2800" dirty="0">
                <a:latin typeface="Times New Roman" panose="02020603050405020304" pitchFamily="18" charset="0"/>
                <a:cs typeface="Times New Roman" panose="02020603050405020304" pitchFamily="18" charset="0"/>
              </a:rPr>
              <a:t> et al. 2023)</a:t>
            </a:r>
          </a:p>
          <a:p>
            <a:pPr>
              <a:lnSpc>
                <a:spcPct val="150000"/>
              </a:lnSpc>
              <a:buNone/>
            </a:pPr>
            <a:r>
              <a:rPr lang="en-IN" sz="2800" b="1" dirty="0">
                <a:latin typeface="Times New Roman" panose="02020603050405020304" pitchFamily="18" charset="0"/>
                <a:cs typeface="Times New Roman" panose="02020603050405020304" pitchFamily="18" charset="0"/>
              </a:rPr>
              <a:t>Tourism Carrying Capacity Theory</a:t>
            </a:r>
            <a:endParaRPr lang="en-IN" sz="28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Recognises ecological and physical limits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Supports visitor and resource management </a:t>
            </a:r>
          </a:p>
          <a:p>
            <a:pPr>
              <a:lnSpc>
                <a:spcPct val="150000"/>
              </a:lnSpc>
              <a:buNone/>
            </a:pPr>
            <a:r>
              <a:rPr lang="en-IN" sz="2800" b="1" dirty="0">
                <a:latin typeface="Times New Roman" panose="02020603050405020304" pitchFamily="18" charset="0"/>
                <a:cs typeface="Times New Roman" panose="02020603050405020304" pitchFamily="18" charset="0"/>
              </a:rPr>
              <a:t>Stakeholder Theory</a:t>
            </a:r>
            <a:endParaRPr lang="en-IN" sz="28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Emphasises shared responsibility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Supports collaboration among key stakeholders</a:t>
            </a:r>
          </a:p>
        </p:txBody>
      </p:sp>
      <p:pic>
        <p:nvPicPr>
          <p:cNvPr id="8" name="Picture 7" descr="1. Theoretical Model of Sustainable Development | Download Scientific  Diagram">
            <a:extLst>
              <a:ext uri="{FF2B5EF4-FFF2-40B4-BE49-F238E27FC236}">
                <a16:creationId xmlns:a16="http://schemas.microsoft.com/office/drawing/2014/main" id="{D9D2B751-DB92-7150-3FA6-0670E8E6C4B9}"/>
              </a:ext>
            </a:extLst>
          </p:cNvPr>
          <p:cNvPicPr>
            <a:picLocks noChangeAspect="1"/>
          </p:cNvPicPr>
          <p:nvPr/>
        </p:nvPicPr>
        <p:blipFill>
          <a:blip r:embed="rId3"/>
          <a:srcRect r="12836"/>
          <a:stretch>
            <a:fillRect/>
          </a:stretch>
        </p:blipFill>
        <p:spPr>
          <a:xfrm>
            <a:off x="11540067" y="3238500"/>
            <a:ext cx="6214534" cy="5678594"/>
          </a:xfrm>
          <a:prstGeom prst="rect">
            <a:avLst/>
          </a:prstGeom>
        </p:spPr>
      </p:pic>
    </p:spTree>
    <p:extLst>
      <p:ext uri="{BB962C8B-B14F-4D97-AF65-F5344CB8AC3E}">
        <p14:creationId xmlns:p14="http://schemas.microsoft.com/office/powerpoint/2010/main" val="3210240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BFDD9AB6-BD77-AF3A-C0CC-B166CD60CC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4A678A7-0AE0-52E7-C7A6-7F86135C2598}"/>
              </a:ext>
            </a:extLst>
          </p:cNvPr>
          <p:cNvGrpSpPr/>
          <p:nvPr/>
        </p:nvGrpSpPr>
        <p:grpSpPr>
          <a:xfrm>
            <a:off x="304800" y="2324100"/>
            <a:ext cx="17297402" cy="7213677"/>
            <a:chOff x="0" y="0"/>
            <a:chExt cx="3255608" cy="433237"/>
          </a:xfrm>
        </p:grpSpPr>
        <p:sp>
          <p:nvSpPr>
            <p:cNvPr id="3" name="Freeform 3">
              <a:extLst>
                <a:ext uri="{FF2B5EF4-FFF2-40B4-BE49-F238E27FC236}">
                  <a16:creationId xmlns:a16="http://schemas.microsoft.com/office/drawing/2014/main" id="{FB73A713-0CF9-1213-879F-325609E55F22}"/>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B9553B33-E272-F86C-049E-6623864D93DF}"/>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6BBE4EFF-B38F-7B9A-0FB4-A0F9DB875551}"/>
              </a:ext>
            </a:extLst>
          </p:cNvPr>
          <p:cNvSpPr txBox="1"/>
          <p:nvPr/>
        </p:nvSpPr>
        <p:spPr>
          <a:xfrm>
            <a:off x="1643933" y="749223"/>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Conceptual Framework &amp; Literature Gap</a:t>
            </a:r>
          </a:p>
        </p:txBody>
      </p:sp>
      <p:pic>
        <p:nvPicPr>
          <p:cNvPr id="5" name="Picture 4">
            <a:extLst>
              <a:ext uri="{FF2B5EF4-FFF2-40B4-BE49-F238E27FC236}">
                <a16:creationId xmlns:a16="http://schemas.microsoft.com/office/drawing/2014/main" id="{D2B1DC1F-AC6A-B83E-C107-D7C0153DD486}"/>
              </a:ext>
            </a:extLst>
          </p:cNvPr>
          <p:cNvPicPr>
            <a:picLocks noChangeAspect="1"/>
          </p:cNvPicPr>
          <p:nvPr/>
        </p:nvPicPr>
        <p:blipFill>
          <a:blip r:embed="rId3"/>
          <a:stretch>
            <a:fillRect/>
          </a:stretch>
        </p:blipFill>
        <p:spPr>
          <a:xfrm>
            <a:off x="8977564" y="2427065"/>
            <a:ext cx="8434970" cy="6317974"/>
          </a:xfrm>
          <a:prstGeom prst="rect">
            <a:avLst/>
          </a:prstGeom>
        </p:spPr>
      </p:pic>
      <p:sp>
        <p:nvSpPr>
          <p:cNvPr id="8" name="TextBox 7">
            <a:extLst>
              <a:ext uri="{FF2B5EF4-FFF2-40B4-BE49-F238E27FC236}">
                <a16:creationId xmlns:a16="http://schemas.microsoft.com/office/drawing/2014/main" id="{9C86C970-F221-B238-F484-BBF718823CA3}"/>
              </a:ext>
            </a:extLst>
          </p:cNvPr>
          <p:cNvSpPr txBox="1"/>
          <p:nvPr/>
        </p:nvSpPr>
        <p:spPr>
          <a:xfrm>
            <a:off x="1011269" y="2711116"/>
            <a:ext cx="7834331" cy="5913157"/>
          </a:xfrm>
          <a:prstGeom prst="rect">
            <a:avLst/>
          </a:prstGeom>
          <a:noFill/>
        </p:spPr>
        <p:txBody>
          <a:bodyPr wrap="square">
            <a:spAutoFit/>
          </a:bodyPr>
          <a:lstStyle/>
          <a:p>
            <a:pPr>
              <a:lnSpc>
                <a:spcPct val="150000"/>
              </a:lnSpc>
              <a:buNone/>
            </a:pPr>
            <a:r>
              <a:rPr lang="en-IN" sz="3200" b="1" dirty="0">
                <a:latin typeface="Times New Roman" panose="02020603050405020304" pitchFamily="18" charset="0"/>
                <a:cs typeface="Times New Roman" panose="02020603050405020304" pitchFamily="18" charset="0"/>
              </a:rPr>
              <a:t>Literature Gap</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Studies often examine individual environmental pressures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Limited integration of multiple pressures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Practical implementation challenges receive less attention (Meera and </a:t>
            </a:r>
            <a:r>
              <a:rPr lang="en-IN" sz="3200" dirty="0" err="1">
                <a:latin typeface="Times New Roman" panose="02020603050405020304" pitchFamily="18" charset="0"/>
                <a:cs typeface="Times New Roman" panose="02020603050405020304" pitchFamily="18" charset="0"/>
              </a:rPr>
              <a:t>Vinodan</a:t>
            </a:r>
            <a:r>
              <a:rPr lang="en-IN" sz="3200" dirty="0">
                <a:latin typeface="Times New Roman" panose="02020603050405020304" pitchFamily="18" charset="0"/>
                <a:cs typeface="Times New Roman" panose="02020603050405020304" pitchFamily="18" charset="0"/>
              </a:rPr>
              <a:t>, 2023)</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Limited focus on their combined effect in Eryri</a:t>
            </a:r>
          </a:p>
        </p:txBody>
      </p:sp>
      <p:sp>
        <p:nvSpPr>
          <p:cNvPr id="12" name="TextBox 11">
            <a:extLst>
              <a:ext uri="{FF2B5EF4-FFF2-40B4-BE49-F238E27FC236}">
                <a16:creationId xmlns:a16="http://schemas.microsoft.com/office/drawing/2014/main" id="{CA2C419F-337E-1001-C93A-AE7F86C2282C}"/>
              </a:ext>
            </a:extLst>
          </p:cNvPr>
          <p:cNvSpPr txBox="1"/>
          <p:nvPr/>
        </p:nvSpPr>
        <p:spPr>
          <a:xfrm>
            <a:off x="11537728" y="8745039"/>
            <a:ext cx="4481465"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Conceptual Framework </a:t>
            </a:r>
          </a:p>
        </p:txBody>
      </p:sp>
    </p:spTree>
    <p:extLst>
      <p:ext uri="{BB962C8B-B14F-4D97-AF65-F5344CB8AC3E}">
        <p14:creationId xmlns:p14="http://schemas.microsoft.com/office/powerpoint/2010/main" val="2166578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5A634C42-5369-2EC8-9C77-1896BCC917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2A6859-FD96-B508-3EB7-37E5A4693DBE}"/>
              </a:ext>
            </a:extLst>
          </p:cNvPr>
          <p:cNvGrpSpPr/>
          <p:nvPr/>
        </p:nvGrpSpPr>
        <p:grpSpPr>
          <a:xfrm>
            <a:off x="304800" y="2324100"/>
            <a:ext cx="17297402" cy="7213677"/>
            <a:chOff x="0" y="0"/>
            <a:chExt cx="3255608" cy="433237"/>
          </a:xfrm>
        </p:grpSpPr>
        <p:sp>
          <p:nvSpPr>
            <p:cNvPr id="3" name="Freeform 3">
              <a:extLst>
                <a:ext uri="{FF2B5EF4-FFF2-40B4-BE49-F238E27FC236}">
                  <a16:creationId xmlns:a16="http://schemas.microsoft.com/office/drawing/2014/main" id="{9156BBE0-72CB-07D0-7831-166971AC28CA}"/>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A73D8493-543A-3AA1-1216-B173FE57F174}"/>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2C8191E9-57E9-67A3-AB14-63C74A24FE85}"/>
              </a:ext>
            </a:extLst>
          </p:cNvPr>
          <p:cNvSpPr txBox="1"/>
          <p:nvPr/>
        </p:nvSpPr>
        <p:spPr>
          <a:xfrm>
            <a:off x="1643933" y="749223"/>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Research Methodology</a:t>
            </a:r>
          </a:p>
        </p:txBody>
      </p:sp>
      <p:graphicFrame>
        <p:nvGraphicFramePr>
          <p:cNvPr id="6" name="Table 5">
            <a:extLst>
              <a:ext uri="{FF2B5EF4-FFF2-40B4-BE49-F238E27FC236}">
                <a16:creationId xmlns:a16="http://schemas.microsoft.com/office/drawing/2014/main" id="{A16E2E08-FB9D-A757-15E2-F4B7F552B787}"/>
              </a:ext>
            </a:extLst>
          </p:cNvPr>
          <p:cNvGraphicFramePr>
            <a:graphicFrameLocks noGrp="1"/>
          </p:cNvGraphicFramePr>
          <p:nvPr>
            <p:extLst>
              <p:ext uri="{D42A27DB-BD31-4B8C-83A1-F6EECF244321}">
                <p14:modId xmlns:p14="http://schemas.microsoft.com/office/powerpoint/2010/main" val="1137638404"/>
              </p:ext>
            </p:extLst>
          </p:nvPr>
        </p:nvGraphicFramePr>
        <p:xfrm>
          <a:off x="723901" y="2583180"/>
          <a:ext cx="16578450" cy="6294120"/>
        </p:xfrm>
        <a:graphic>
          <a:graphicData uri="http://schemas.openxmlformats.org/drawingml/2006/table">
            <a:tbl>
              <a:tblPr>
                <a:tableStyleId>{5940675A-B579-460E-94D1-54222C63F5DA}</a:tableStyleId>
              </a:tblPr>
              <a:tblGrid>
                <a:gridCol w="8289225">
                  <a:extLst>
                    <a:ext uri="{9D8B030D-6E8A-4147-A177-3AD203B41FA5}">
                      <a16:colId xmlns:a16="http://schemas.microsoft.com/office/drawing/2014/main" val="4264049503"/>
                    </a:ext>
                  </a:extLst>
                </a:gridCol>
                <a:gridCol w="8289225">
                  <a:extLst>
                    <a:ext uri="{9D8B030D-6E8A-4147-A177-3AD203B41FA5}">
                      <a16:colId xmlns:a16="http://schemas.microsoft.com/office/drawing/2014/main" val="999667751"/>
                    </a:ext>
                  </a:extLst>
                </a:gridCol>
              </a:tblGrid>
              <a:tr h="899160">
                <a:tc>
                  <a:txBody>
                    <a:bodyPr/>
                    <a:lstStyle/>
                    <a:p>
                      <a:pPr algn="ctr">
                        <a:buNone/>
                      </a:pPr>
                      <a:r>
                        <a:rPr lang="en-IN" sz="3200" b="1" dirty="0"/>
                        <a:t>Element</a:t>
                      </a:r>
                      <a:endParaRPr lang="en-IN" sz="32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3200" b="1" dirty="0"/>
                        <a:t>Selected Approach</a:t>
                      </a:r>
                      <a:endParaRPr lang="en-IN" sz="3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59156070"/>
                  </a:ext>
                </a:extLst>
              </a:tr>
              <a:tr h="899160">
                <a:tc>
                  <a:txBody>
                    <a:bodyPr/>
                    <a:lstStyle/>
                    <a:p>
                      <a:pPr>
                        <a:buNone/>
                      </a:pPr>
                      <a:r>
                        <a:rPr lang="en-IN" sz="3200"/>
                        <a:t>Philosophy</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a:t>Interpretivism</a:t>
                      </a:r>
                      <a:endParaRPr lang="en-IN" sz="3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0602646"/>
                  </a:ext>
                </a:extLst>
              </a:tr>
              <a:tr h="899160">
                <a:tc>
                  <a:txBody>
                    <a:bodyPr/>
                    <a:lstStyle/>
                    <a:p>
                      <a:pPr>
                        <a:buNone/>
                      </a:pPr>
                      <a:r>
                        <a:rPr lang="en-IN" sz="3200"/>
                        <a:t>Approach</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a:t>Inductive</a:t>
                      </a:r>
                      <a:endParaRPr lang="en-IN" sz="3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71371389"/>
                  </a:ext>
                </a:extLst>
              </a:tr>
              <a:tr h="899160">
                <a:tc>
                  <a:txBody>
                    <a:bodyPr/>
                    <a:lstStyle/>
                    <a:p>
                      <a:pPr>
                        <a:buNone/>
                      </a:pPr>
                      <a:r>
                        <a:rPr lang="en-IN" sz="3200"/>
                        <a:t>Design</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a:t>Exploratory</a:t>
                      </a:r>
                      <a:endParaRPr lang="en-IN" sz="3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5829961"/>
                  </a:ext>
                </a:extLst>
              </a:tr>
              <a:tr h="899160">
                <a:tc>
                  <a:txBody>
                    <a:bodyPr/>
                    <a:lstStyle/>
                    <a:p>
                      <a:pPr>
                        <a:buNone/>
                      </a:pPr>
                      <a:r>
                        <a:rPr lang="en-IN" sz="3200"/>
                        <a:t>Research Choice</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dirty="0"/>
                        <a:t>Qualitative secondary research</a:t>
                      </a:r>
                      <a:endParaRPr lang="en-IN" sz="3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56684232"/>
                  </a:ext>
                </a:extLst>
              </a:tr>
              <a:tr h="899160">
                <a:tc>
                  <a:txBody>
                    <a:bodyPr/>
                    <a:lstStyle/>
                    <a:p>
                      <a:pPr>
                        <a:buNone/>
                      </a:pPr>
                      <a:r>
                        <a:rPr lang="en-IN" sz="3200"/>
                        <a:t>Time Horizon</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a:t>Cross-sectional</a:t>
                      </a:r>
                      <a:endParaRPr lang="en-IN" sz="3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47166935"/>
                  </a:ext>
                </a:extLst>
              </a:tr>
              <a:tr h="899160">
                <a:tc>
                  <a:txBody>
                    <a:bodyPr/>
                    <a:lstStyle/>
                    <a:p>
                      <a:pPr>
                        <a:buNone/>
                      </a:pPr>
                      <a:r>
                        <a:rPr lang="en-IN" sz="3200"/>
                        <a:t>Analysis</a:t>
                      </a:r>
                      <a:endParaRPr lang="en-IN" sz="3200">
                        <a:latin typeface="Times New Roman" panose="02020603050405020304" pitchFamily="18" charset="0"/>
                        <a:cs typeface="Times New Roman" panose="02020603050405020304" pitchFamily="18" charset="0"/>
                      </a:endParaRPr>
                    </a:p>
                  </a:txBody>
                  <a:tcPr anchor="ctr"/>
                </a:tc>
                <a:tc>
                  <a:txBody>
                    <a:bodyPr/>
                    <a:lstStyle/>
                    <a:p>
                      <a:pPr>
                        <a:buNone/>
                      </a:pPr>
                      <a:r>
                        <a:rPr lang="en-IN" sz="3200" dirty="0"/>
                        <a:t>Thematic analysis</a:t>
                      </a:r>
                      <a:endParaRPr lang="en-IN" sz="3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8312503"/>
                  </a:ext>
                </a:extLst>
              </a:tr>
            </a:tbl>
          </a:graphicData>
        </a:graphic>
      </p:graphicFrame>
    </p:spTree>
    <p:extLst>
      <p:ext uri="{BB962C8B-B14F-4D97-AF65-F5344CB8AC3E}">
        <p14:creationId xmlns:p14="http://schemas.microsoft.com/office/powerpoint/2010/main" val="2237124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A81FF81B-1E30-C27B-ABB0-1E1400183D5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6D407D-24AA-4F04-7D49-7DB6C4F858B5}"/>
              </a:ext>
            </a:extLst>
          </p:cNvPr>
          <p:cNvGrpSpPr/>
          <p:nvPr/>
        </p:nvGrpSpPr>
        <p:grpSpPr>
          <a:xfrm>
            <a:off x="304800" y="2324100"/>
            <a:ext cx="17373600" cy="7213677"/>
            <a:chOff x="0" y="0"/>
            <a:chExt cx="3255608" cy="433237"/>
          </a:xfrm>
        </p:grpSpPr>
        <p:sp>
          <p:nvSpPr>
            <p:cNvPr id="3" name="Freeform 3">
              <a:extLst>
                <a:ext uri="{FF2B5EF4-FFF2-40B4-BE49-F238E27FC236}">
                  <a16:creationId xmlns:a16="http://schemas.microsoft.com/office/drawing/2014/main" id="{43080508-1BF1-4865-26A2-4B53EF0538D8}"/>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DE75AE56-2913-789A-DD2F-27CD4C1F297F}"/>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31C90B7F-28B0-F5EB-2BC6-70206A04E074}"/>
              </a:ext>
            </a:extLst>
          </p:cNvPr>
          <p:cNvSpPr txBox="1"/>
          <p:nvPr/>
        </p:nvSpPr>
        <p:spPr>
          <a:xfrm>
            <a:off x="1643933" y="723900"/>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Data Collection &amp; Analysis</a:t>
            </a:r>
          </a:p>
        </p:txBody>
      </p:sp>
      <p:sp>
        <p:nvSpPr>
          <p:cNvPr id="7" name="TextBox 6">
            <a:extLst>
              <a:ext uri="{FF2B5EF4-FFF2-40B4-BE49-F238E27FC236}">
                <a16:creationId xmlns:a16="http://schemas.microsoft.com/office/drawing/2014/main" id="{3B411940-7918-7FEA-BD53-B2F976A9BF4F}"/>
              </a:ext>
            </a:extLst>
          </p:cNvPr>
          <p:cNvSpPr txBox="1"/>
          <p:nvPr/>
        </p:nvSpPr>
        <p:spPr>
          <a:xfrm>
            <a:off x="1219199" y="2705100"/>
            <a:ext cx="16230601" cy="6478184"/>
          </a:xfrm>
          <a:prstGeom prst="rect">
            <a:avLst/>
          </a:prstGeom>
          <a:noFill/>
        </p:spPr>
        <p:txBody>
          <a:bodyPr wrap="square">
            <a:spAutoFit/>
          </a:bodyPr>
          <a:lstStyle/>
          <a:p>
            <a:pPr>
              <a:lnSpc>
                <a:spcPct val="150000"/>
              </a:lnSpc>
              <a:buNone/>
            </a:pPr>
            <a:r>
              <a:rPr lang="en-IN" sz="2800" b="1" dirty="0">
                <a:latin typeface="Times New Roman" panose="02020603050405020304" pitchFamily="18" charset="0"/>
                <a:cs typeface="Times New Roman" panose="02020603050405020304" pitchFamily="18" charset="0"/>
              </a:rPr>
              <a:t>Data Collection:</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Peer-reviewed journal articles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Government publications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Organisational reports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Academic literature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Google Scholar, Scopus and ScienceDirect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Predetermined keywords and inclusion criteria </a:t>
            </a:r>
          </a:p>
          <a:p>
            <a:pPr>
              <a:lnSpc>
                <a:spcPct val="150000"/>
              </a:lnSpc>
              <a:buNone/>
            </a:pPr>
            <a:r>
              <a:rPr lang="en-IN" sz="2800" b="1" dirty="0">
                <a:latin typeface="Times New Roman" panose="02020603050405020304" pitchFamily="18" charset="0"/>
                <a:cs typeface="Times New Roman" panose="02020603050405020304" pitchFamily="18" charset="0"/>
              </a:rPr>
              <a:t>Analysis Process:</a:t>
            </a:r>
          </a:p>
          <a:p>
            <a:pPr>
              <a:lnSpc>
                <a:spcPct val="150000"/>
              </a:lnSpc>
              <a:buNone/>
            </a:pPr>
            <a:r>
              <a:rPr lang="en-IN" sz="2800" b="1" dirty="0">
                <a:latin typeface="Times New Roman" panose="02020603050405020304" pitchFamily="18" charset="0"/>
                <a:cs typeface="Times New Roman" panose="02020603050405020304" pitchFamily="18" charset="0"/>
              </a:rPr>
              <a:t>Literature selection → Coding → Theme development → Interpretation</a:t>
            </a:r>
            <a:endParaRPr lang="en-IN" sz="2800" dirty="0">
              <a:latin typeface="Times New Roman" panose="02020603050405020304" pitchFamily="18" charset="0"/>
              <a:cs typeface="Times New Roman" panose="02020603050405020304" pitchFamily="18" charset="0"/>
            </a:endParaRPr>
          </a:p>
          <a:p>
            <a:pPr>
              <a:lnSpc>
                <a:spcPct val="150000"/>
              </a:lnSpc>
              <a:buNone/>
            </a:pPr>
            <a:r>
              <a:rPr lang="en-IN" sz="2800" b="1" dirty="0">
                <a:latin typeface="Times New Roman" panose="02020603050405020304" pitchFamily="18" charset="0"/>
                <a:cs typeface="Times New Roman" panose="02020603050405020304" pitchFamily="18" charset="0"/>
              </a:rPr>
              <a:t>Thematic analysis</a:t>
            </a:r>
            <a:r>
              <a:rPr lang="en-IN" sz="2800" dirty="0">
                <a:latin typeface="Times New Roman" panose="02020603050405020304" pitchFamily="18" charset="0"/>
                <a:cs typeface="Times New Roman" panose="02020603050405020304" pitchFamily="18" charset="0"/>
              </a:rPr>
              <a:t> identified recurring patterns across the evidence.</a:t>
            </a:r>
          </a:p>
        </p:txBody>
      </p:sp>
      <p:pic>
        <p:nvPicPr>
          <p:cNvPr id="8" name="Picture 7" descr="Analyze Qualitative Data: Thematic Analysis - NN/G">
            <a:extLst>
              <a:ext uri="{FF2B5EF4-FFF2-40B4-BE49-F238E27FC236}">
                <a16:creationId xmlns:a16="http://schemas.microsoft.com/office/drawing/2014/main" id="{7990F85F-0063-9102-2A2A-86590F3151D3}"/>
              </a:ext>
            </a:extLst>
          </p:cNvPr>
          <p:cNvPicPr>
            <a:picLocks noChangeAspect="1"/>
          </p:cNvPicPr>
          <p:nvPr/>
        </p:nvPicPr>
        <p:blipFill>
          <a:blip r:embed="rId3"/>
          <a:stretch>
            <a:fillRect/>
          </a:stretch>
        </p:blipFill>
        <p:spPr>
          <a:xfrm>
            <a:off x="10504091" y="2671011"/>
            <a:ext cx="6925656" cy="4804064"/>
          </a:xfrm>
          <a:prstGeom prst="rect">
            <a:avLst/>
          </a:prstGeom>
        </p:spPr>
      </p:pic>
    </p:spTree>
    <p:extLst>
      <p:ext uri="{BB962C8B-B14F-4D97-AF65-F5344CB8AC3E}">
        <p14:creationId xmlns:p14="http://schemas.microsoft.com/office/powerpoint/2010/main" val="3185862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8F584979-D37B-F12C-4518-5AE813E98C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A73BE3-C36A-611B-3BBE-352650BC75AB}"/>
              </a:ext>
            </a:extLst>
          </p:cNvPr>
          <p:cNvGrpSpPr/>
          <p:nvPr/>
        </p:nvGrpSpPr>
        <p:grpSpPr>
          <a:xfrm>
            <a:off x="304800" y="2324100"/>
            <a:ext cx="17297402" cy="7213677"/>
            <a:chOff x="0" y="0"/>
            <a:chExt cx="3255608" cy="433237"/>
          </a:xfrm>
        </p:grpSpPr>
        <p:sp>
          <p:nvSpPr>
            <p:cNvPr id="3" name="Freeform 3">
              <a:extLst>
                <a:ext uri="{FF2B5EF4-FFF2-40B4-BE49-F238E27FC236}">
                  <a16:creationId xmlns:a16="http://schemas.microsoft.com/office/drawing/2014/main" id="{615049C2-9688-CE1E-6499-E19DD3290CD3}"/>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BD219E4D-35AC-2A2E-94E3-E2671887A886}"/>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8" name="TextBox 18">
            <a:extLst>
              <a:ext uri="{FF2B5EF4-FFF2-40B4-BE49-F238E27FC236}">
                <a16:creationId xmlns:a16="http://schemas.microsoft.com/office/drawing/2014/main" id="{F6BEF2AC-9729-EFA8-A25D-873C44E5734B}"/>
              </a:ext>
            </a:extLst>
          </p:cNvPr>
          <p:cNvSpPr txBox="1"/>
          <p:nvPr/>
        </p:nvSpPr>
        <p:spPr>
          <a:xfrm>
            <a:off x="304800" y="1015376"/>
            <a:ext cx="16916404"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Findings: Tourism &amp; Environmental Sustainability</a:t>
            </a:r>
          </a:p>
        </p:txBody>
      </p:sp>
      <p:sp>
        <p:nvSpPr>
          <p:cNvPr id="7" name="TextBox 6">
            <a:extLst>
              <a:ext uri="{FF2B5EF4-FFF2-40B4-BE49-F238E27FC236}">
                <a16:creationId xmlns:a16="http://schemas.microsoft.com/office/drawing/2014/main" id="{B068D22D-9D1B-FC62-8B12-7347BF3E2B39}"/>
              </a:ext>
            </a:extLst>
          </p:cNvPr>
          <p:cNvSpPr txBox="1"/>
          <p:nvPr/>
        </p:nvSpPr>
        <p:spPr>
          <a:xfrm>
            <a:off x="685798" y="2680408"/>
            <a:ext cx="11044988" cy="5185522"/>
          </a:xfrm>
          <a:prstGeom prst="rect">
            <a:avLst/>
          </a:prstGeom>
          <a:noFill/>
        </p:spPr>
        <p:txBody>
          <a:bodyPr wrap="square">
            <a:spAutoFit/>
          </a:bodyPr>
          <a:lstStyle/>
          <a:p>
            <a:pPr>
              <a:lnSpc>
                <a:spcPct val="150000"/>
              </a:lnSpc>
              <a:buNone/>
            </a:pPr>
            <a:r>
              <a:rPr lang="en-IN" sz="2800" b="1" dirty="0">
                <a:latin typeface="Times New Roman" panose="02020603050405020304" pitchFamily="18" charset="0"/>
                <a:cs typeface="Times New Roman" panose="02020603050405020304" pitchFamily="18" charset="0"/>
              </a:rPr>
              <a:t>Theme 1: Tourism, Environmental Impacts &amp; Sustainable Development</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Tourism provides economic and recreational benefits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Protected landscapes have strong social value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Tourism must balance access with conservation (Elgin and </a:t>
            </a:r>
            <a:r>
              <a:rPr lang="en-IN" sz="2800" dirty="0" err="1">
                <a:latin typeface="Times New Roman" panose="02020603050405020304" pitchFamily="18" charset="0"/>
                <a:cs typeface="Times New Roman" panose="02020603050405020304" pitchFamily="18" charset="0"/>
              </a:rPr>
              <a:t>Elveren</a:t>
            </a:r>
            <a:r>
              <a:rPr lang="en-IN" sz="2800" dirty="0">
                <a:latin typeface="Times New Roman" panose="02020603050405020304" pitchFamily="18" charset="0"/>
                <a:cs typeface="Times New Roman" panose="02020603050405020304" pitchFamily="18" charset="0"/>
              </a:rPr>
              <a:t>, 2024)</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Environmental indicators support sustainability evaluation </a:t>
            </a:r>
          </a:p>
          <a:p>
            <a:pPr marL="342900" lvl="0"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Economic benefits should not dominate environmental priorities</a:t>
            </a:r>
          </a:p>
        </p:txBody>
      </p:sp>
      <p:pic>
        <p:nvPicPr>
          <p:cNvPr id="9" name="Picture 8" descr="Sustainable Tourism: A Challenge Within Reach - Sustainable Schools Network">
            <a:extLst>
              <a:ext uri="{FF2B5EF4-FFF2-40B4-BE49-F238E27FC236}">
                <a16:creationId xmlns:a16="http://schemas.microsoft.com/office/drawing/2014/main" id="{2DF6E457-540C-05F1-6D99-59A5DDA36491}"/>
              </a:ext>
            </a:extLst>
          </p:cNvPr>
          <p:cNvPicPr>
            <a:picLocks noChangeAspect="1"/>
          </p:cNvPicPr>
          <p:nvPr/>
        </p:nvPicPr>
        <p:blipFill>
          <a:blip r:embed="rId3"/>
          <a:stretch>
            <a:fillRect/>
          </a:stretch>
        </p:blipFill>
        <p:spPr>
          <a:xfrm>
            <a:off x="11004138" y="3333474"/>
            <a:ext cx="6439231" cy="5143764"/>
          </a:xfrm>
          <a:prstGeom prst="rect">
            <a:avLst/>
          </a:prstGeom>
        </p:spPr>
      </p:pic>
    </p:spTree>
    <p:extLst>
      <p:ext uri="{BB962C8B-B14F-4D97-AF65-F5344CB8AC3E}">
        <p14:creationId xmlns:p14="http://schemas.microsoft.com/office/powerpoint/2010/main" val="42265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9" name="Group 9"/>
          <p:cNvGrpSpPr/>
          <p:nvPr/>
        </p:nvGrpSpPr>
        <p:grpSpPr>
          <a:xfrm>
            <a:off x="0" y="1943100"/>
            <a:ext cx="8382000" cy="8001000"/>
            <a:chOff x="0" y="0"/>
            <a:chExt cx="2375799" cy="601595"/>
          </a:xfrm>
        </p:grpSpPr>
        <p:sp>
          <p:nvSpPr>
            <p:cNvPr id="10" name="Freeform 10"/>
            <p:cNvSpPr/>
            <p:nvPr/>
          </p:nvSpPr>
          <p:spPr>
            <a:xfrm>
              <a:off x="0" y="0"/>
              <a:ext cx="2375799" cy="601595"/>
            </a:xfrm>
            <a:custGeom>
              <a:avLst/>
              <a:gdLst/>
              <a:ahLst/>
              <a:cxnLst/>
              <a:rect l="l" t="t" r="r" b="b"/>
              <a:pathLst>
                <a:path w="2375799" h="601595">
                  <a:moveTo>
                    <a:pt x="17165" y="0"/>
                  </a:moveTo>
                  <a:lnTo>
                    <a:pt x="2358634" y="0"/>
                  </a:lnTo>
                  <a:cubicBezTo>
                    <a:pt x="2363186" y="0"/>
                    <a:pt x="2367552" y="1808"/>
                    <a:pt x="2370772" y="5027"/>
                  </a:cubicBezTo>
                  <a:cubicBezTo>
                    <a:pt x="2373991" y="8247"/>
                    <a:pt x="2375799" y="12613"/>
                    <a:pt x="2375799" y="17165"/>
                  </a:cubicBezTo>
                  <a:lnTo>
                    <a:pt x="2375799" y="584430"/>
                  </a:lnTo>
                  <a:cubicBezTo>
                    <a:pt x="2375799" y="588983"/>
                    <a:pt x="2373991" y="593349"/>
                    <a:pt x="2370772" y="596568"/>
                  </a:cubicBezTo>
                  <a:cubicBezTo>
                    <a:pt x="2367552" y="599787"/>
                    <a:pt x="2363186" y="601595"/>
                    <a:pt x="2358634" y="601595"/>
                  </a:cubicBezTo>
                  <a:lnTo>
                    <a:pt x="17165" y="601595"/>
                  </a:lnTo>
                  <a:cubicBezTo>
                    <a:pt x="12613" y="601595"/>
                    <a:pt x="8247" y="599787"/>
                    <a:pt x="5027" y="596568"/>
                  </a:cubicBezTo>
                  <a:cubicBezTo>
                    <a:pt x="1808" y="593349"/>
                    <a:pt x="0" y="588983"/>
                    <a:pt x="0" y="584430"/>
                  </a:cubicBezTo>
                  <a:lnTo>
                    <a:pt x="0" y="17165"/>
                  </a:lnTo>
                  <a:cubicBezTo>
                    <a:pt x="0" y="12613"/>
                    <a:pt x="1808" y="8247"/>
                    <a:pt x="5027" y="5027"/>
                  </a:cubicBezTo>
                  <a:cubicBezTo>
                    <a:pt x="8247" y="1808"/>
                    <a:pt x="12613" y="0"/>
                    <a:pt x="17165" y="0"/>
                  </a:cubicBezTo>
                  <a:close/>
                </a:path>
              </a:pathLst>
            </a:custGeom>
            <a:gradFill rotWithShape="1">
              <a:gsLst>
                <a:gs pos="0">
                  <a:srgbClr val="E9EFEC">
                    <a:alpha val="100000"/>
                  </a:srgbClr>
                </a:gs>
                <a:gs pos="100000">
                  <a:srgbClr val="C4DAD2">
                    <a:alpha val="100000"/>
                  </a:srgbClr>
                </a:gs>
              </a:gsLst>
              <a:lin ang="0"/>
            </a:gradFill>
          </p:spPr>
        </p:sp>
        <p:sp>
          <p:nvSpPr>
            <p:cNvPr id="11" name="TextBox 11"/>
            <p:cNvSpPr txBox="1"/>
            <p:nvPr/>
          </p:nvSpPr>
          <p:spPr>
            <a:xfrm>
              <a:off x="0" y="-38100"/>
              <a:ext cx="2375799" cy="639695"/>
            </a:xfrm>
            <a:prstGeom prst="rect">
              <a:avLst/>
            </a:prstGeom>
          </p:spPr>
          <p:txBody>
            <a:bodyPr lIns="50800" tIns="50800" rIns="50800" bIns="50800" rtlCol="0" anchor="ctr"/>
            <a:lstStyle/>
            <a:p>
              <a:pPr algn="ctr">
                <a:lnSpc>
                  <a:spcPts val="2660"/>
                </a:lnSpc>
                <a:spcBef>
                  <a:spcPct val="0"/>
                </a:spcBef>
              </a:pPr>
              <a:endParaRPr/>
            </a:p>
          </p:txBody>
        </p:sp>
      </p:grpSp>
      <p:sp>
        <p:nvSpPr>
          <p:cNvPr id="17" name="TextBox 17"/>
          <p:cNvSpPr txBox="1"/>
          <p:nvPr/>
        </p:nvSpPr>
        <p:spPr>
          <a:xfrm>
            <a:off x="813546" y="654539"/>
            <a:ext cx="14274054" cy="920958"/>
          </a:xfrm>
          <a:prstGeom prst="rect">
            <a:avLst/>
          </a:prstGeom>
        </p:spPr>
        <p:txBody>
          <a:bodyPr wrap="square" lIns="0" tIns="0" rIns="0" bIns="0" rtlCol="0" anchor="t">
            <a:spAutoFit/>
          </a:bodyPr>
          <a:lstStyle/>
          <a:p>
            <a:pPr algn="l">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Findings: Environmental Pressures</a:t>
            </a:r>
          </a:p>
        </p:txBody>
      </p:sp>
      <p:sp>
        <p:nvSpPr>
          <p:cNvPr id="20" name="Rectangle 19"/>
          <p:cNvSpPr/>
          <p:nvPr/>
        </p:nvSpPr>
        <p:spPr>
          <a:xfrm>
            <a:off x="457200" y="2082213"/>
            <a:ext cx="7620000" cy="6478184"/>
          </a:xfrm>
          <a:prstGeom prst="rect">
            <a:avLst/>
          </a:prstGeom>
        </p:spPr>
        <p:txBody>
          <a:bodyPr wrap="square">
            <a:spAutoFit/>
          </a:bodyPr>
          <a:lstStyle/>
          <a:p>
            <a:pPr lvl="0" algn="just">
              <a:lnSpc>
                <a:spcPct val="150000"/>
              </a:lnSpc>
            </a:pPr>
            <a:r>
              <a:rPr lang="en-US" sz="2800" b="1" dirty="0">
                <a:latin typeface="Times New Roman" panose="02020603050405020304" pitchFamily="18" charset="0"/>
                <a:cs typeface="Times New Roman" panose="02020603050405020304" pitchFamily="18" charset="0"/>
              </a:rPr>
              <a:t>Theme 2: Environmental Pressures from Tourism</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Recreational activity can disturb biodiversity </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visitor use increases environmental pressure </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Path erosion affects sensitive locations </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Tourism contributes to carbon emissions (</a:t>
            </a:r>
            <a:r>
              <a:rPr lang="en-US" sz="2800" dirty="0" err="1">
                <a:latin typeface="Times New Roman" panose="02020603050405020304" pitchFamily="18" charset="0"/>
                <a:cs typeface="Times New Roman" panose="02020603050405020304" pitchFamily="18" charset="0"/>
              </a:rPr>
              <a:t>Mejjad</a:t>
            </a:r>
            <a:r>
              <a:rPr lang="en-US" sz="2800" dirty="0">
                <a:latin typeface="Times New Roman" panose="02020603050405020304" pitchFamily="18" charset="0"/>
                <a:cs typeface="Times New Roman" panose="02020603050405020304" pitchFamily="18" charset="0"/>
              </a:rPr>
              <a:t> et al. 2022)</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Waste and habitat disturbance remain concerns </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Impacts occur locally and beyond destinations</a:t>
            </a:r>
          </a:p>
        </p:txBody>
      </p:sp>
      <p:pic>
        <p:nvPicPr>
          <p:cNvPr id="4" name="Picture 3">
            <a:extLst>
              <a:ext uri="{FF2B5EF4-FFF2-40B4-BE49-F238E27FC236}">
                <a16:creationId xmlns:a16="http://schemas.microsoft.com/office/drawing/2014/main" id="{8BB87AE8-542D-3039-9B74-155F35F3F076}"/>
              </a:ext>
            </a:extLst>
          </p:cNvPr>
          <p:cNvPicPr>
            <a:picLocks noChangeAspect="1"/>
          </p:cNvPicPr>
          <p:nvPr/>
        </p:nvPicPr>
        <p:blipFill>
          <a:blip r:embed="rId3"/>
          <a:stretch>
            <a:fillRect/>
          </a:stretch>
        </p:blipFill>
        <p:spPr>
          <a:xfrm>
            <a:off x="9179628" y="2082213"/>
            <a:ext cx="7391400" cy="7200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7924800" y="2583488"/>
            <a:ext cx="10363200" cy="7055812"/>
            <a:chOff x="0" y="0"/>
            <a:chExt cx="2375799" cy="584885"/>
          </a:xfrm>
        </p:grpSpPr>
        <p:sp>
          <p:nvSpPr>
            <p:cNvPr id="3" name="Freeform 3"/>
            <p:cNvSpPr/>
            <p:nvPr/>
          </p:nvSpPr>
          <p:spPr>
            <a:xfrm>
              <a:off x="0" y="0"/>
              <a:ext cx="2375799" cy="584885"/>
            </a:xfrm>
            <a:custGeom>
              <a:avLst/>
              <a:gdLst/>
              <a:ahLst/>
              <a:cxnLst/>
              <a:rect l="l" t="t" r="r" b="b"/>
              <a:pathLst>
                <a:path w="2375799" h="584885">
                  <a:moveTo>
                    <a:pt x="17165" y="0"/>
                  </a:moveTo>
                  <a:lnTo>
                    <a:pt x="2358634" y="0"/>
                  </a:lnTo>
                  <a:cubicBezTo>
                    <a:pt x="2363186" y="0"/>
                    <a:pt x="2367552" y="1808"/>
                    <a:pt x="2370772" y="5027"/>
                  </a:cubicBezTo>
                  <a:cubicBezTo>
                    <a:pt x="2373991" y="8247"/>
                    <a:pt x="2375799" y="12613"/>
                    <a:pt x="2375799" y="17165"/>
                  </a:cubicBezTo>
                  <a:lnTo>
                    <a:pt x="2375799" y="567720"/>
                  </a:lnTo>
                  <a:cubicBezTo>
                    <a:pt x="2375799" y="572273"/>
                    <a:pt x="2373991" y="576639"/>
                    <a:pt x="2370772" y="579858"/>
                  </a:cubicBezTo>
                  <a:cubicBezTo>
                    <a:pt x="2367552" y="583077"/>
                    <a:pt x="2363186" y="584885"/>
                    <a:pt x="2358634" y="584885"/>
                  </a:cubicBezTo>
                  <a:lnTo>
                    <a:pt x="17165" y="584885"/>
                  </a:lnTo>
                  <a:cubicBezTo>
                    <a:pt x="12613" y="584885"/>
                    <a:pt x="8247" y="583077"/>
                    <a:pt x="5027" y="579858"/>
                  </a:cubicBezTo>
                  <a:cubicBezTo>
                    <a:pt x="1808" y="576639"/>
                    <a:pt x="0" y="572273"/>
                    <a:pt x="0" y="56772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4" name="TextBox 4"/>
            <p:cNvSpPr txBox="1"/>
            <p:nvPr/>
          </p:nvSpPr>
          <p:spPr>
            <a:xfrm>
              <a:off x="0" y="-38100"/>
              <a:ext cx="2375799" cy="622985"/>
            </a:xfrm>
            <a:prstGeom prst="rect">
              <a:avLst/>
            </a:prstGeom>
          </p:spPr>
          <p:txBody>
            <a:bodyPr lIns="50800" tIns="50800" rIns="50800" bIns="50800" rtlCol="0" anchor="ctr"/>
            <a:lstStyle/>
            <a:p>
              <a:pPr algn="ctr">
                <a:lnSpc>
                  <a:spcPts val="2660"/>
                </a:lnSpc>
                <a:spcBef>
                  <a:spcPct val="0"/>
                </a:spcBef>
              </a:pPr>
              <a:endParaRPr/>
            </a:p>
          </p:txBody>
        </p:sp>
      </p:grpSp>
      <p:sp>
        <p:nvSpPr>
          <p:cNvPr id="14" name="TextBox 14"/>
          <p:cNvSpPr txBox="1"/>
          <p:nvPr/>
        </p:nvSpPr>
        <p:spPr>
          <a:xfrm>
            <a:off x="13168176" y="292015"/>
            <a:ext cx="5879212" cy="1328709"/>
          </a:xfrm>
          <a:prstGeom prst="rect">
            <a:avLst/>
          </a:prstGeom>
        </p:spPr>
        <p:txBody>
          <a:bodyPr lIns="50800" tIns="50800" rIns="50800" bIns="50800" rtlCol="0" anchor="ctr"/>
          <a:lstStyle/>
          <a:p>
            <a:pPr algn="ctr">
              <a:lnSpc>
                <a:spcPts val="2660"/>
              </a:lnSpc>
              <a:spcBef>
                <a:spcPct val="0"/>
              </a:spcBef>
            </a:pPr>
            <a:endParaRPr/>
          </a:p>
        </p:txBody>
      </p:sp>
      <p:sp>
        <p:nvSpPr>
          <p:cNvPr id="17" name="TextBox 17"/>
          <p:cNvSpPr txBox="1"/>
          <p:nvPr/>
        </p:nvSpPr>
        <p:spPr>
          <a:xfrm>
            <a:off x="8270632" y="291604"/>
            <a:ext cx="9159684" cy="1908408"/>
          </a:xfrm>
          <a:prstGeom prst="rect">
            <a:avLst/>
          </a:prstGeom>
        </p:spPr>
        <p:txBody>
          <a:bodyPr wrap="square" lIns="0" tIns="0" rIns="0" bIns="0" rtlCol="0" anchor="t">
            <a:spAutoFit/>
          </a:bodyPr>
          <a:lstStyle/>
          <a:p>
            <a:pPr algn="l">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Findings: Sustainable Management</a:t>
            </a:r>
          </a:p>
        </p:txBody>
      </p:sp>
      <p:sp>
        <p:nvSpPr>
          <p:cNvPr id="20" name="Rectangle 19"/>
          <p:cNvSpPr/>
          <p:nvPr/>
        </p:nvSpPr>
        <p:spPr>
          <a:xfrm>
            <a:off x="8270631" y="2604003"/>
            <a:ext cx="9007284" cy="6651821"/>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3: Management &amp; Conservation Strategies</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Evidence-based planning improves decision-making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Stakeholder participation strengthens conservation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Open science supports knowledge sharing (Pham et al. 2025)</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Governance enables stronger climate action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Visitor management reduces environmental pressure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Collaboration supports long-term sustainability</a:t>
            </a:r>
          </a:p>
        </p:txBody>
      </p:sp>
      <p:pic>
        <p:nvPicPr>
          <p:cNvPr id="6" name="Picture 5" descr="Decision-making for ecosystem service management. | Download Scientific  Diagram">
            <a:extLst>
              <a:ext uri="{FF2B5EF4-FFF2-40B4-BE49-F238E27FC236}">
                <a16:creationId xmlns:a16="http://schemas.microsoft.com/office/drawing/2014/main" id="{37B67281-E6DD-8C07-7198-46C9992F633B}"/>
              </a:ext>
            </a:extLst>
          </p:cNvPr>
          <p:cNvPicPr>
            <a:picLocks noChangeAspect="1"/>
          </p:cNvPicPr>
          <p:nvPr/>
        </p:nvPicPr>
        <p:blipFill>
          <a:blip r:embed="rId3"/>
          <a:stretch>
            <a:fillRect/>
          </a:stretch>
        </p:blipFill>
        <p:spPr>
          <a:xfrm>
            <a:off x="609599" y="2604002"/>
            <a:ext cx="6651821" cy="665182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C8C62683-1559-A5C1-77E9-F676BCE348F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C25ABB-B094-7003-2357-083FFEDFD08E}"/>
              </a:ext>
            </a:extLst>
          </p:cNvPr>
          <p:cNvGrpSpPr/>
          <p:nvPr/>
        </p:nvGrpSpPr>
        <p:grpSpPr>
          <a:xfrm>
            <a:off x="7924800" y="2583488"/>
            <a:ext cx="10363200" cy="7055812"/>
            <a:chOff x="0" y="0"/>
            <a:chExt cx="2375799" cy="584885"/>
          </a:xfrm>
        </p:grpSpPr>
        <p:sp>
          <p:nvSpPr>
            <p:cNvPr id="3" name="Freeform 3">
              <a:extLst>
                <a:ext uri="{FF2B5EF4-FFF2-40B4-BE49-F238E27FC236}">
                  <a16:creationId xmlns:a16="http://schemas.microsoft.com/office/drawing/2014/main" id="{B6A96189-7C2A-0E99-E8E9-3958252AC8E4}"/>
                </a:ext>
              </a:extLst>
            </p:cNvPr>
            <p:cNvSpPr/>
            <p:nvPr/>
          </p:nvSpPr>
          <p:spPr>
            <a:xfrm>
              <a:off x="0" y="0"/>
              <a:ext cx="2375799" cy="584885"/>
            </a:xfrm>
            <a:custGeom>
              <a:avLst/>
              <a:gdLst/>
              <a:ahLst/>
              <a:cxnLst/>
              <a:rect l="l" t="t" r="r" b="b"/>
              <a:pathLst>
                <a:path w="2375799" h="584885">
                  <a:moveTo>
                    <a:pt x="17165" y="0"/>
                  </a:moveTo>
                  <a:lnTo>
                    <a:pt x="2358634" y="0"/>
                  </a:lnTo>
                  <a:cubicBezTo>
                    <a:pt x="2363186" y="0"/>
                    <a:pt x="2367552" y="1808"/>
                    <a:pt x="2370772" y="5027"/>
                  </a:cubicBezTo>
                  <a:cubicBezTo>
                    <a:pt x="2373991" y="8247"/>
                    <a:pt x="2375799" y="12613"/>
                    <a:pt x="2375799" y="17165"/>
                  </a:cubicBezTo>
                  <a:lnTo>
                    <a:pt x="2375799" y="567720"/>
                  </a:lnTo>
                  <a:cubicBezTo>
                    <a:pt x="2375799" y="572273"/>
                    <a:pt x="2373991" y="576639"/>
                    <a:pt x="2370772" y="579858"/>
                  </a:cubicBezTo>
                  <a:cubicBezTo>
                    <a:pt x="2367552" y="583077"/>
                    <a:pt x="2363186" y="584885"/>
                    <a:pt x="2358634" y="584885"/>
                  </a:cubicBezTo>
                  <a:lnTo>
                    <a:pt x="17165" y="584885"/>
                  </a:lnTo>
                  <a:cubicBezTo>
                    <a:pt x="12613" y="584885"/>
                    <a:pt x="8247" y="583077"/>
                    <a:pt x="5027" y="579858"/>
                  </a:cubicBezTo>
                  <a:cubicBezTo>
                    <a:pt x="1808" y="576639"/>
                    <a:pt x="0" y="572273"/>
                    <a:pt x="0" y="56772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4" name="TextBox 4">
              <a:extLst>
                <a:ext uri="{FF2B5EF4-FFF2-40B4-BE49-F238E27FC236}">
                  <a16:creationId xmlns:a16="http://schemas.microsoft.com/office/drawing/2014/main" id="{F75BE10C-3819-4F72-05CB-80C1D0441BAD}"/>
                </a:ext>
              </a:extLst>
            </p:cNvPr>
            <p:cNvSpPr txBox="1"/>
            <p:nvPr/>
          </p:nvSpPr>
          <p:spPr>
            <a:xfrm>
              <a:off x="0" y="-38100"/>
              <a:ext cx="2375799" cy="622985"/>
            </a:xfrm>
            <a:prstGeom prst="rect">
              <a:avLst/>
            </a:prstGeom>
          </p:spPr>
          <p:txBody>
            <a:bodyPr lIns="50800" tIns="50800" rIns="50800" bIns="50800" rtlCol="0" anchor="ctr"/>
            <a:lstStyle/>
            <a:p>
              <a:pPr algn="ctr">
                <a:lnSpc>
                  <a:spcPts val="2660"/>
                </a:lnSpc>
                <a:spcBef>
                  <a:spcPct val="0"/>
                </a:spcBef>
              </a:pPr>
              <a:endParaRPr/>
            </a:p>
          </p:txBody>
        </p:sp>
      </p:grpSp>
      <p:sp>
        <p:nvSpPr>
          <p:cNvPr id="14" name="TextBox 14">
            <a:extLst>
              <a:ext uri="{FF2B5EF4-FFF2-40B4-BE49-F238E27FC236}">
                <a16:creationId xmlns:a16="http://schemas.microsoft.com/office/drawing/2014/main" id="{E694F189-B413-B514-822E-1F52373E3265}"/>
              </a:ext>
            </a:extLst>
          </p:cNvPr>
          <p:cNvSpPr txBox="1"/>
          <p:nvPr/>
        </p:nvSpPr>
        <p:spPr>
          <a:xfrm>
            <a:off x="13168176" y="292015"/>
            <a:ext cx="5879212" cy="1328709"/>
          </a:xfrm>
          <a:prstGeom prst="rect">
            <a:avLst/>
          </a:prstGeom>
        </p:spPr>
        <p:txBody>
          <a:bodyPr lIns="50800" tIns="50800" rIns="50800" bIns="50800" rtlCol="0" anchor="ctr"/>
          <a:lstStyle/>
          <a:p>
            <a:pPr algn="ctr">
              <a:lnSpc>
                <a:spcPts val="2660"/>
              </a:lnSpc>
              <a:spcBef>
                <a:spcPct val="0"/>
              </a:spcBef>
            </a:pPr>
            <a:endParaRPr/>
          </a:p>
        </p:txBody>
      </p:sp>
      <p:sp>
        <p:nvSpPr>
          <p:cNvPr id="17" name="TextBox 17">
            <a:extLst>
              <a:ext uri="{FF2B5EF4-FFF2-40B4-BE49-F238E27FC236}">
                <a16:creationId xmlns:a16="http://schemas.microsoft.com/office/drawing/2014/main" id="{08F1351F-FE52-64A8-A849-4A2F4A1DC462}"/>
              </a:ext>
            </a:extLst>
          </p:cNvPr>
          <p:cNvSpPr txBox="1"/>
          <p:nvPr/>
        </p:nvSpPr>
        <p:spPr>
          <a:xfrm>
            <a:off x="8270632" y="291604"/>
            <a:ext cx="9159684" cy="1908408"/>
          </a:xfrm>
          <a:prstGeom prst="rect">
            <a:avLst/>
          </a:prstGeom>
        </p:spPr>
        <p:txBody>
          <a:bodyPr wrap="square" lIns="0" tIns="0" rIns="0" bIns="0" rtlCol="0" anchor="t">
            <a:spAutoFit/>
          </a:bodyPr>
          <a:lstStyle/>
          <a:p>
            <a:pPr algn="l">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Findings: Implementation Challenges</a:t>
            </a:r>
          </a:p>
        </p:txBody>
      </p:sp>
      <p:sp>
        <p:nvSpPr>
          <p:cNvPr id="20" name="Rectangle 19">
            <a:extLst>
              <a:ext uri="{FF2B5EF4-FFF2-40B4-BE49-F238E27FC236}">
                <a16:creationId xmlns:a16="http://schemas.microsoft.com/office/drawing/2014/main" id="{60397A53-84D3-B953-DD96-0699A9DB79D1}"/>
              </a:ext>
            </a:extLst>
          </p:cNvPr>
          <p:cNvSpPr/>
          <p:nvPr/>
        </p:nvSpPr>
        <p:spPr>
          <a:xfrm>
            <a:off x="8270631" y="2604003"/>
            <a:ext cx="9007284" cy="5913157"/>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4: Implementation Challenges</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Visitor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can limit policy effectiveness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Planning creates practical sustainability barriers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Tourist perceptions affect acceptance of change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resources constrain implementation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Stakeholder interests may conflict (Hussain et al. 2024)</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Weak coordination reduces policy effectiveness</a:t>
            </a:r>
          </a:p>
        </p:txBody>
      </p:sp>
      <p:pic>
        <p:nvPicPr>
          <p:cNvPr id="6" name="Picture 5" descr="Business Risk Management | Associated Advisors">
            <a:extLst>
              <a:ext uri="{FF2B5EF4-FFF2-40B4-BE49-F238E27FC236}">
                <a16:creationId xmlns:a16="http://schemas.microsoft.com/office/drawing/2014/main" id="{ADC9542F-663F-9DEB-CCEC-4D1F6B65BF1C}"/>
              </a:ext>
            </a:extLst>
          </p:cNvPr>
          <p:cNvPicPr>
            <a:picLocks noChangeAspect="1"/>
          </p:cNvPicPr>
          <p:nvPr/>
        </p:nvPicPr>
        <p:blipFill>
          <a:blip r:embed="rId3"/>
          <a:stretch>
            <a:fillRect/>
          </a:stretch>
        </p:blipFill>
        <p:spPr>
          <a:xfrm>
            <a:off x="1010085" y="2553409"/>
            <a:ext cx="6240413" cy="6229088"/>
          </a:xfrm>
          <a:prstGeom prst="rect">
            <a:avLst/>
          </a:prstGeom>
        </p:spPr>
      </p:pic>
    </p:spTree>
    <p:extLst>
      <p:ext uri="{BB962C8B-B14F-4D97-AF65-F5344CB8AC3E}">
        <p14:creationId xmlns:p14="http://schemas.microsoft.com/office/powerpoint/2010/main" val="270140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609600" y="1745176"/>
            <a:ext cx="17678400" cy="8001000"/>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8" name="TextBox 18"/>
          <p:cNvSpPr txBox="1"/>
          <p:nvPr/>
        </p:nvSpPr>
        <p:spPr>
          <a:xfrm>
            <a:off x="2590800" y="791767"/>
            <a:ext cx="14706600" cy="923330"/>
          </a:xfrm>
          <a:prstGeom prst="rect">
            <a:avLst/>
          </a:prstGeom>
        </p:spPr>
        <p:txBody>
          <a:bodyPr wrap="square"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Discussion: Findings vs Literature</a:t>
            </a:r>
          </a:p>
        </p:txBody>
      </p:sp>
      <p:sp>
        <p:nvSpPr>
          <p:cNvPr id="20" name="Rectangle 19"/>
          <p:cNvSpPr/>
          <p:nvPr/>
        </p:nvSpPr>
        <p:spPr>
          <a:xfrm>
            <a:off x="1658506" y="2411848"/>
            <a:ext cx="13412310" cy="5913157"/>
          </a:xfrm>
          <a:prstGeom prst="rect">
            <a:avLst/>
          </a:prstGeom>
        </p:spPr>
        <p:txBody>
          <a:bodyPr wrap="square">
            <a:spAutoFit/>
          </a:bodyPr>
          <a:lstStyle/>
          <a:p>
            <a:pPr marL="457200" lvl="0" indent="-45720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1: </a:t>
            </a:r>
            <a:r>
              <a:rPr lang="en-US" sz="3200" dirty="0">
                <a:latin typeface="Times New Roman" panose="02020603050405020304" pitchFamily="18" charset="0"/>
                <a:cs typeface="Times New Roman" panose="02020603050405020304" pitchFamily="18" charset="0"/>
              </a:rPr>
              <a:t>Supports </a:t>
            </a:r>
            <a:r>
              <a:rPr lang="en-US" sz="3200" dirty="0" err="1">
                <a:latin typeface="Times New Roman" panose="02020603050405020304" pitchFamily="18" charset="0"/>
                <a:cs typeface="Times New Roman" panose="02020603050405020304" pitchFamily="18" charset="0"/>
              </a:rPr>
              <a:t>Trišić</a:t>
            </a:r>
            <a:r>
              <a:rPr lang="en-US" sz="3200" dirty="0">
                <a:latin typeface="Times New Roman" panose="02020603050405020304" pitchFamily="18" charset="0"/>
                <a:cs typeface="Times New Roman" panose="02020603050405020304" pitchFamily="18" charset="0"/>
              </a:rPr>
              <a:t> et al. (2023) and Thapa et al. (2024) — tourism benefits require a balance with conservation. </a:t>
            </a:r>
          </a:p>
          <a:p>
            <a:pPr marL="457200" lvl="0" indent="-45720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2: </a:t>
            </a:r>
            <a:r>
              <a:rPr lang="en-US" sz="3200" dirty="0">
                <a:latin typeface="Times New Roman" panose="02020603050405020304" pitchFamily="18" charset="0"/>
                <a:cs typeface="Times New Roman" panose="02020603050405020304" pitchFamily="18" charset="0"/>
              </a:rPr>
              <a:t>Supports Morse (2023) — impacts depend on activities,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and site conditions. </a:t>
            </a:r>
          </a:p>
          <a:p>
            <a:pPr marL="457200" lvl="0" indent="-45720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3: </a:t>
            </a:r>
            <a:r>
              <a:rPr lang="en-US" sz="3200" dirty="0">
                <a:latin typeface="Times New Roman" panose="02020603050405020304" pitchFamily="18" charset="0"/>
                <a:cs typeface="Times New Roman" panose="02020603050405020304" pitchFamily="18" charset="0"/>
              </a:rPr>
              <a:t>Supports Sobhani et al. (2023) — evidence-based planning and stakeholder engagement improve management. </a:t>
            </a:r>
          </a:p>
          <a:p>
            <a:pPr marL="457200" lvl="0" indent="-45720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Theme 4: </a:t>
            </a:r>
            <a:r>
              <a:rPr lang="en-US" sz="3200" dirty="0">
                <a:latin typeface="Times New Roman" panose="02020603050405020304" pitchFamily="18" charset="0"/>
                <a:cs typeface="Times New Roman" panose="02020603050405020304" pitchFamily="18" charset="0"/>
              </a:rPr>
              <a:t>Supports Pai et al. (2026) and Khan et al. (2023) — governance, resources and policy barriers affect implementation.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FA8AF69D-2B69-E9BC-F2EC-882119A647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CED6CB-19FF-E064-5D71-92A73BDD9D72}"/>
              </a:ext>
            </a:extLst>
          </p:cNvPr>
          <p:cNvGrpSpPr/>
          <p:nvPr/>
        </p:nvGrpSpPr>
        <p:grpSpPr>
          <a:xfrm>
            <a:off x="609600" y="1943101"/>
            <a:ext cx="17373600" cy="7772996"/>
            <a:chOff x="0" y="0"/>
            <a:chExt cx="3255608" cy="433237"/>
          </a:xfrm>
        </p:grpSpPr>
        <p:sp>
          <p:nvSpPr>
            <p:cNvPr id="3" name="Freeform 3">
              <a:extLst>
                <a:ext uri="{FF2B5EF4-FFF2-40B4-BE49-F238E27FC236}">
                  <a16:creationId xmlns:a16="http://schemas.microsoft.com/office/drawing/2014/main" id="{7C475A1E-13D5-FA0D-BB70-D9F17B36D7DC}"/>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31F14CD0-66DE-5D06-09FD-71764C38EDD2}"/>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8" name="TextBox 18">
            <a:extLst>
              <a:ext uri="{FF2B5EF4-FFF2-40B4-BE49-F238E27FC236}">
                <a16:creationId xmlns:a16="http://schemas.microsoft.com/office/drawing/2014/main" id="{26D58971-D2EF-75A0-61A7-81CC3A79EBD2}"/>
              </a:ext>
            </a:extLst>
          </p:cNvPr>
          <p:cNvSpPr txBox="1"/>
          <p:nvPr/>
        </p:nvSpPr>
        <p:spPr>
          <a:xfrm>
            <a:off x="2590800" y="791767"/>
            <a:ext cx="14706600" cy="923330"/>
          </a:xfrm>
          <a:prstGeom prst="rect">
            <a:avLst/>
          </a:prstGeom>
        </p:spPr>
        <p:txBody>
          <a:bodyPr wrap="square"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Discussion &amp; Theoretical Link</a:t>
            </a:r>
          </a:p>
        </p:txBody>
      </p:sp>
      <p:sp>
        <p:nvSpPr>
          <p:cNvPr id="20" name="Rectangle 19">
            <a:extLst>
              <a:ext uri="{FF2B5EF4-FFF2-40B4-BE49-F238E27FC236}">
                <a16:creationId xmlns:a16="http://schemas.microsoft.com/office/drawing/2014/main" id="{1F2A4AA5-0502-5A3E-34DC-012E708A6FCA}"/>
              </a:ext>
            </a:extLst>
          </p:cNvPr>
          <p:cNvSpPr/>
          <p:nvPr/>
        </p:nvSpPr>
        <p:spPr>
          <a:xfrm>
            <a:off x="1091498" y="2182853"/>
            <a:ext cx="10553547" cy="7390485"/>
          </a:xfrm>
          <a:prstGeom prst="rect">
            <a:avLst/>
          </a:prstGeom>
        </p:spPr>
        <p:txBody>
          <a:bodyPr wrap="square">
            <a:spAutoFit/>
          </a:bodyPr>
          <a:lstStyle/>
          <a:p>
            <a:pPr lvl="0" algn="just">
              <a:lnSpc>
                <a:spcPct val="150000"/>
              </a:lnSpc>
            </a:pPr>
            <a:r>
              <a:rPr lang="en-US" sz="3200" b="1" dirty="0">
                <a:latin typeface="Times New Roman" panose="02020603050405020304" pitchFamily="18" charset="0"/>
                <a:cs typeface="Times New Roman" panose="02020603050405020304" pitchFamily="18" charset="0"/>
              </a:rPr>
              <a:t>Sustainable Development Theory</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Balances tourism benefits with environmental conservation. </a:t>
            </a:r>
          </a:p>
          <a:p>
            <a:pPr lvl="0" algn="just">
              <a:lnSpc>
                <a:spcPct val="150000"/>
              </a:lnSpc>
            </a:pPr>
            <a:r>
              <a:rPr lang="en-US" sz="3200" b="1" dirty="0">
                <a:latin typeface="Times New Roman" panose="02020603050405020304" pitchFamily="18" charset="0"/>
                <a:cs typeface="Times New Roman" panose="02020603050405020304" pitchFamily="18" charset="0"/>
              </a:rPr>
              <a:t>Tourism Carrying Capacity Theory</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Tourism pressure should remain within ecological limits. </a:t>
            </a:r>
          </a:p>
          <a:p>
            <a:pPr lvl="0" algn="just">
              <a:lnSpc>
                <a:spcPct val="150000"/>
              </a:lnSpc>
            </a:pPr>
            <a:r>
              <a:rPr lang="en-US" sz="3200" b="1" dirty="0">
                <a:latin typeface="Times New Roman" panose="02020603050405020304" pitchFamily="18" charset="0"/>
                <a:cs typeface="Times New Roman" panose="02020603050405020304" pitchFamily="18" charset="0"/>
              </a:rPr>
              <a:t>Stakeholder Theory</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Collaboration and shared responsibility support effective management. </a:t>
            </a:r>
          </a:p>
          <a:p>
            <a:pPr marL="457200" lvl="0" indent="-45720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Overall Finding: </a:t>
            </a:r>
            <a:r>
              <a:rPr lang="en-US" sz="3200" dirty="0">
                <a:latin typeface="Times New Roman" panose="02020603050405020304" pitchFamily="18" charset="0"/>
                <a:cs typeface="Times New Roman" panose="02020603050405020304" pitchFamily="18" charset="0"/>
              </a:rPr>
              <a:t>Sustainable tourism in Eryri requires integrated visitor management, conservation and stakeholder collaboration.</a:t>
            </a:r>
          </a:p>
        </p:txBody>
      </p:sp>
      <p:pic>
        <p:nvPicPr>
          <p:cNvPr id="5" name="Picture 4" descr="Principles of Sustainable Development - GeeksforGeeks">
            <a:extLst>
              <a:ext uri="{FF2B5EF4-FFF2-40B4-BE49-F238E27FC236}">
                <a16:creationId xmlns:a16="http://schemas.microsoft.com/office/drawing/2014/main" id="{5B43A529-DDDB-89D5-F22C-F94E938E7C07}"/>
              </a:ext>
            </a:extLst>
          </p:cNvPr>
          <p:cNvPicPr>
            <a:picLocks noChangeAspect="1"/>
          </p:cNvPicPr>
          <p:nvPr/>
        </p:nvPicPr>
        <p:blipFill>
          <a:blip r:embed="rId3"/>
          <a:stretch>
            <a:fillRect/>
          </a:stretch>
        </p:blipFill>
        <p:spPr>
          <a:xfrm>
            <a:off x="11919729" y="3622258"/>
            <a:ext cx="6019800" cy="4476750"/>
          </a:xfrm>
          <a:prstGeom prst="rect">
            <a:avLst/>
          </a:prstGeom>
        </p:spPr>
      </p:pic>
    </p:spTree>
    <p:extLst>
      <p:ext uri="{BB962C8B-B14F-4D97-AF65-F5344CB8AC3E}">
        <p14:creationId xmlns:p14="http://schemas.microsoft.com/office/powerpoint/2010/main" val="3996499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73762590-548B-8F59-15C7-A7E3807674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86BA0C-705E-71EA-D111-7BB6B43EB0CA}"/>
              </a:ext>
            </a:extLst>
          </p:cNvPr>
          <p:cNvGrpSpPr/>
          <p:nvPr/>
        </p:nvGrpSpPr>
        <p:grpSpPr>
          <a:xfrm>
            <a:off x="0" y="2171701"/>
            <a:ext cx="16235574" cy="7848600"/>
            <a:chOff x="0" y="0"/>
            <a:chExt cx="3255608" cy="433237"/>
          </a:xfrm>
        </p:grpSpPr>
        <p:sp>
          <p:nvSpPr>
            <p:cNvPr id="3" name="Freeform 3">
              <a:extLst>
                <a:ext uri="{FF2B5EF4-FFF2-40B4-BE49-F238E27FC236}">
                  <a16:creationId xmlns:a16="http://schemas.microsoft.com/office/drawing/2014/main" id="{71929B16-647F-AAF8-F0EA-6242B21DD417}"/>
                </a:ext>
              </a:extLst>
            </p:cNvPr>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a:extLst>
                <a:ext uri="{FF2B5EF4-FFF2-40B4-BE49-F238E27FC236}">
                  <a16:creationId xmlns:a16="http://schemas.microsoft.com/office/drawing/2014/main" id="{F661ECA1-BF5D-4502-380F-A60AC94AB3C4}"/>
                </a:ext>
              </a:extLst>
            </p:cNvPr>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8" name="TextBox 18">
            <a:extLst>
              <a:ext uri="{FF2B5EF4-FFF2-40B4-BE49-F238E27FC236}">
                <a16:creationId xmlns:a16="http://schemas.microsoft.com/office/drawing/2014/main" id="{E59E478D-546A-8C4B-9897-DAE836B73DC6}"/>
              </a:ext>
            </a:extLst>
          </p:cNvPr>
          <p:cNvSpPr txBox="1"/>
          <p:nvPr/>
        </p:nvSpPr>
        <p:spPr>
          <a:xfrm>
            <a:off x="2590800" y="791767"/>
            <a:ext cx="14706600" cy="923330"/>
          </a:xfrm>
          <a:prstGeom prst="rect">
            <a:avLst/>
          </a:prstGeom>
        </p:spPr>
        <p:txBody>
          <a:bodyPr wrap="square"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Conclusions &amp; Recommendations</a:t>
            </a:r>
          </a:p>
        </p:txBody>
      </p:sp>
      <p:sp>
        <p:nvSpPr>
          <p:cNvPr id="20" name="Rectangle 19">
            <a:extLst>
              <a:ext uri="{FF2B5EF4-FFF2-40B4-BE49-F238E27FC236}">
                <a16:creationId xmlns:a16="http://schemas.microsoft.com/office/drawing/2014/main" id="{3472EB80-32B2-44FD-4A12-2B3E2FAF8587}"/>
              </a:ext>
            </a:extLst>
          </p:cNvPr>
          <p:cNvSpPr/>
          <p:nvPr/>
        </p:nvSpPr>
        <p:spPr>
          <a:xfrm>
            <a:off x="2035975" y="2181727"/>
            <a:ext cx="12044574" cy="7390485"/>
          </a:xfrm>
          <a:prstGeom prst="rect">
            <a:avLst/>
          </a:prstGeom>
        </p:spPr>
        <p:txBody>
          <a:bodyPr wrap="square">
            <a:spAutoFit/>
          </a:bodyPr>
          <a:lstStyle/>
          <a:p>
            <a:pPr lvl="0" algn="just">
              <a:lnSpc>
                <a:spcPct val="150000"/>
              </a:lnSpc>
            </a:pPr>
            <a:r>
              <a:rPr lang="en-US" sz="3200" b="1" dirty="0">
                <a:latin typeface="Times New Roman" panose="02020603050405020304" pitchFamily="18" charset="0"/>
                <a:cs typeface="Times New Roman" panose="02020603050405020304" pitchFamily="18" charset="0"/>
              </a:rPr>
              <a:t>Key Conclusion</a:t>
            </a:r>
          </a:p>
          <a:p>
            <a:pPr lvl="0" algn="just">
              <a:lnSpc>
                <a:spcPct val="150000"/>
              </a:lnSpc>
            </a:pPr>
            <a:r>
              <a:rPr lang="en-US" sz="3200" dirty="0">
                <a:latin typeface="Times New Roman" panose="02020603050405020304" pitchFamily="18" charset="0"/>
                <a:cs typeface="Times New Roman" panose="02020603050405020304" pitchFamily="18" charset="0"/>
              </a:rPr>
              <a:t>Tourism can support sustainable development in Eryri only when environmental pressures are effectively managed.</a:t>
            </a:r>
          </a:p>
          <a:p>
            <a:pPr lvl="0" algn="just">
              <a:lnSpc>
                <a:spcPct val="150000"/>
              </a:lnSpc>
            </a:pPr>
            <a:r>
              <a:rPr lang="en-US" sz="3200" b="1" dirty="0">
                <a:latin typeface="Times New Roman" panose="02020603050405020304" pitchFamily="18" charset="0"/>
                <a:cs typeface="Times New Roman" panose="02020603050405020304" pitchFamily="18" charset="0"/>
              </a:rPr>
              <a:t>Recommendations</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Strengthen visitor monitoring and control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Improve sustainable paths and transport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Enhance waste-management infrastructure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Promote responsible visitor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Increase environmental education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Strengthen stakeholder collaboration</a:t>
            </a:r>
          </a:p>
        </p:txBody>
      </p:sp>
    </p:spTree>
    <p:extLst>
      <p:ext uri="{BB962C8B-B14F-4D97-AF65-F5344CB8AC3E}">
        <p14:creationId xmlns:p14="http://schemas.microsoft.com/office/powerpoint/2010/main" val="3900617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A2354E28-5E4C-BC43-6844-7E942F325961}"/>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B61A442F-6C97-8630-EA2E-95520E748B2B}"/>
              </a:ext>
            </a:extLst>
          </p:cNvPr>
          <p:cNvSpPr txBox="1"/>
          <p:nvPr/>
        </p:nvSpPr>
        <p:spPr>
          <a:xfrm>
            <a:off x="3852199" y="240067"/>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References</a:t>
            </a:r>
          </a:p>
        </p:txBody>
      </p:sp>
      <p:sp>
        <p:nvSpPr>
          <p:cNvPr id="6" name="Rectangle 5">
            <a:extLst>
              <a:ext uri="{FF2B5EF4-FFF2-40B4-BE49-F238E27FC236}">
                <a16:creationId xmlns:a16="http://schemas.microsoft.com/office/drawing/2014/main" id="{7BB06B38-F9D4-B05C-FB8A-5B5165883CDA}"/>
              </a:ext>
            </a:extLst>
          </p:cNvPr>
          <p:cNvSpPr/>
          <p:nvPr/>
        </p:nvSpPr>
        <p:spPr>
          <a:xfrm>
            <a:off x="0" y="1472729"/>
            <a:ext cx="17907000" cy="8664680"/>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Ali, B., Khan, A.N. and Noreen, N., (2025). Analysing the Adverse Socio-Environmental Impacts of Tourism: Legal Gaps and Sustainable Solutions. </a:t>
            </a:r>
            <a:r>
              <a:rPr lang="en-IN" sz="2200" i="1" dirty="0">
                <a:latin typeface="Times New Roman" panose="02020603050405020304" pitchFamily="18" charset="0"/>
                <a:cs typeface="Times New Roman" panose="02020603050405020304" pitchFamily="18" charset="0"/>
              </a:rPr>
              <a:t>The Critical Review of Social Sciences Studies</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(3), pp.830-837.  </a:t>
            </a:r>
            <a:r>
              <a:rPr lang="en-IN" sz="2200" u="sng" dirty="0">
                <a:latin typeface="Times New Roman" panose="02020603050405020304" pitchFamily="18" charset="0"/>
                <a:cs typeface="Times New Roman" panose="02020603050405020304" pitchFamily="18" charset="0"/>
                <a:hlinkClick r:id="rId3"/>
              </a:rPr>
              <a:t>http://thecrsss.com/index.php/Journal/article/view/729</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Baloch, Q.B., Shah, S.N., Iqbal, N., </a:t>
            </a:r>
            <a:r>
              <a:rPr lang="en-IN" sz="2200" dirty="0" err="1">
                <a:latin typeface="Times New Roman" panose="02020603050405020304" pitchFamily="18" charset="0"/>
                <a:cs typeface="Times New Roman" panose="02020603050405020304" pitchFamily="18" charset="0"/>
              </a:rPr>
              <a:t>Sheeraz</a:t>
            </a:r>
            <a:r>
              <a:rPr lang="en-IN" sz="2200" dirty="0">
                <a:latin typeface="Times New Roman" panose="02020603050405020304" pitchFamily="18" charset="0"/>
                <a:cs typeface="Times New Roman" panose="02020603050405020304" pitchFamily="18" charset="0"/>
              </a:rPr>
              <a:t>, M., Asadullah, M., Mahar, S. and Khan, A.U., (2023). Impact of tourism development upon environmental sustainability: a suggested framework for sustainable ecotourism. </a:t>
            </a:r>
            <a:r>
              <a:rPr lang="en-IN" sz="2200" i="1" dirty="0">
                <a:latin typeface="Times New Roman" panose="02020603050405020304" pitchFamily="18" charset="0"/>
                <a:cs typeface="Times New Roman" panose="02020603050405020304" pitchFamily="18" charset="0"/>
              </a:rPr>
              <a:t>Environmental Science and Pollution Research</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30</a:t>
            </a:r>
            <a:r>
              <a:rPr lang="en-IN" sz="2200" dirty="0">
                <a:latin typeface="Times New Roman" panose="02020603050405020304" pitchFamily="18" charset="0"/>
                <a:cs typeface="Times New Roman" panose="02020603050405020304" pitchFamily="18" charset="0"/>
              </a:rPr>
              <a:t>(3), pp.5917-5930. </a:t>
            </a:r>
            <a:r>
              <a:rPr lang="en-IN" sz="2200" u="sng" dirty="0">
                <a:latin typeface="Times New Roman" panose="02020603050405020304" pitchFamily="18" charset="0"/>
                <a:cs typeface="Times New Roman" panose="02020603050405020304" pitchFamily="18" charset="0"/>
                <a:hlinkClick r:id="rId4"/>
              </a:rPr>
              <a:t>https://link.springer.com/article/10.1007/s11356-022-22496-w</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Bowers, E.C., Stephenson, J., Furlong, M. and Ramos, K.S., (2023). Scope and financial impact of unpublished data and unused samples among US academic and government researchers. </a:t>
            </a:r>
            <a:r>
              <a:rPr lang="en-IN" sz="2200" i="1" dirty="0" err="1">
                <a:latin typeface="Times New Roman" panose="02020603050405020304" pitchFamily="18" charset="0"/>
                <a:cs typeface="Times New Roman" panose="02020603050405020304" pitchFamily="18" charset="0"/>
              </a:rPr>
              <a:t>Iscience</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26</a:t>
            </a:r>
            <a:r>
              <a:rPr lang="en-IN" sz="2200" dirty="0">
                <a:latin typeface="Times New Roman" panose="02020603050405020304" pitchFamily="18" charset="0"/>
                <a:cs typeface="Times New Roman" panose="02020603050405020304" pitchFamily="18" charset="0"/>
              </a:rPr>
              <a:t>(7). </a:t>
            </a:r>
            <a:r>
              <a:rPr lang="en-IN" sz="2200" u="sng" dirty="0">
                <a:latin typeface="Times New Roman" panose="02020603050405020304" pitchFamily="18" charset="0"/>
                <a:cs typeface="Times New Roman" panose="02020603050405020304" pitchFamily="18" charset="0"/>
                <a:hlinkClick r:id="rId5"/>
              </a:rPr>
              <a:t>https://www.cell.com/iscience/fulltext/S2589-0042(23)01243-9</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Elgin, C. and </a:t>
            </a:r>
            <a:r>
              <a:rPr lang="en-IN" sz="2200" dirty="0" err="1">
                <a:latin typeface="Times New Roman" panose="02020603050405020304" pitchFamily="18" charset="0"/>
                <a:cs typeface="Times New Roman" panose="02020603050405020304" pitchFamily="18" charset="0"/>
              </a:rPr>
              <a:t>Elveren</a:t>
            </a:r>
            <a:r>
              <a:rPr lang="en-IN" sz="2200" dirty="0">
                <a:latin typeface="Times New Roman" panose="02020603050405020304" pitchFamily="18" charset="0"/>
                <a:cs typeface="Times New Roman" panose="02020603050405020304" pitchFamily="18" charset="0"/>
              </a:rPr>
              <a:t>, A.Y., (2024). Unpacking the economic impact of tourism: A multidimensional approach to sustainable development. </a:t>
            </a:r>
            <a:r>
              <a:rPr lang="en-IN" sz="2200" i="1" dirty="0">
                <a:latin typeface="Times New Roman" panose="02020603050405020304" pitchFamily="18" charset="0"/>
                <a:cs typeface="Times New Roman" panose="02020603050405020304" pitchFamily="18" charset="0"/>
              </a:rPr>
              <a:t>Journal of Cleaner Production</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478</a:t>
            </a:r>
            <a:r>
              <a:rPr lang="en-IN" sz="2200" dirty="0">
                <a:latin typeface="Times New Roman" panose="02020603050405020304" pitchFamily="18" charset="0"/>
                <a:cs typeface="Times New Roman" panose="02020603050405020304" pitchFamily="18" charset="0"/>
              </a:rPr>
              <a:t>, p.143947. </a:t>
            </a:r>
            <a:r>
              <a:rPr lang="en-IN" sz="2200" u="sng" dirty="0">
                <a:latin typeface="Times New Roman" panose="02020603050405020304" pitchFamily="18" charset="0"/>
                <a:cs typeface="Times New Roman" panose="02020603050405020304" pitchFamily="18" charset="0"/>
                <a:hlinkClick r:id="rId6"/>
              </a:rPr>
              <a:t>https://www.sciencedirect.com/science/article/pii/S0959652624033961</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Gamage, A., (2025). Research design, philosophy, and quantitative approaches in scientific research methodology. </a:t>
            </a:r>
            <a:r>
              <a:rPr lang="en-IN" sz="2200" i="1" dirty="0">
                <a:latin typeface="Times New Roman" panose="02020603050405020304" pitchFamily="18" charset="0"/>
                <a:cs typeface="Times New Roman" panose="02020603050405020304" pitchFamily="18" charset="0"/>
              </a:rPr>
              <a:t>Scholars Journal of Engineering and Technology</a:t>
            </a:r>
            <a:r>
              <a:rPr lang="en-IN" sz="2200" dirty="0">
                <a:latin typeface="Times New Roman" panose="02020603050405020304" pitchFamily="18" charset="0"/>
                <a:cs typeface="Times New Roman" panose="02020603050405020304" pitchFamily="18" charset="0"/>
              </a:rPr>
              <a:t>. </a:t>
            </a:r>
            <a:r>
              <a:rPr lang="en-IN" sz="2200" u="sng" dirty="0">
                <a:latin typeface="Times New Roman" panose="02020603050405020304" pitchFamily="18" charset="0"/>
                <a:cs typeface="Times New Roman" panose="02020603050405020304" pitchFamily="18" charset="0"/>
                <a:hlinkClick r:id="rId7"/>
              </a:rPr>
              <a:t>https://www.academia.edu/download/122341245/SJET_132_91_103c_published_paper.pdf</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Greetham, B. (2019) How to Write Your Undergraduate Dissertation. 3rd </a:t>
            </a:r>
            <a:r>
              <a:rPr lang="en-IN" sz="2200" dirty="0" err="1">
                <a:latin typeface="Times New Roman" panose="02020603050405020304" pitchFamily="18" charset="0"/>
                <a:cs typeface="Times New Roman" panose="02020603050405020304" pitchFamily="18" charset="0"/>
              </a:rPr>
              <a:t>edn</a:t>
            </a:r>
            <a:r>
              <a:rPr lang="en-IN" sz="2200" dirty="0">
                <a:latin typeface="Times New Roman" panose="02020603050405020304" pitchFamily="18" charset="0"/>
                <a:cs typeface="Times New Roman" panose="02020603050405020304" pitchFamily="18" charset="0"/>
              </a:rPr>
              <a:t>. Basingstoke: Palgrave.</a:t>
            </a:r>
          </a:p>
          <a:p>
            <a:pPr algn="just"/>
            <a:r>
              <a:rPr lang="en-IN" sz="2200" dirty="0" err="1">
                <a:latin typeface="Times New Roman" panose="02020603050405020304" pitchFamily="18" charset="0"/>
                <a:cs typeface="Times New Roman" panose="02020603050405020304" pitchFamily="18" charset="0"/>
              </a:rPr>
              <a:t>Haribudiman</a:t>
            </a:r>
            <a:r>
              <a:rPr lang="en-IN" sz="2200" dirty="0">
                <a:latin typeface="Times New Roman" panose="02020603050405020304" pitchFamily="18" charset="0"/>
                <a:cs typeface="Times New Roman" panose="02020603050405020304" pitchFamily="18" charset="0"/>
              </a:rPr>
              <a:t>, I., </a:t>
            </a:r>
            <a:r>
              <a:rPr lang="en-IN" sz="2200" dirty="0" err="1">
                <a:latin typeface="Times New Roman" panose="02020603050405020304" pitchFamily="18" charset="0"/>
                <a:cs typeface="Times New Roman" panose="02020603050405020304" pitchFamily="18" charset="0"/>
              </a:rPr>
              <a:t>Berliandaldo</a:t>
            </a:r>
            <a:r>
              <a:rPr lang="en-IN" sz="2200" dirty="0">
                <a:latin typeface="Times New Roman" panose="02020603050405020304" pitchFamily="18" charset="0"/>
                <a:cs typeface="Times New Roman" panose="02020603050405020304" pitchFamily="18" charset="0"/>
              </a:rPr>
              <a:t>, M. and </a:t>
            </a:r>
            <a:r>
              <a:rPr lang="en-IN" sz="2200" dirty="0" err="1">
                <a:latin typeface="Times New Roman" panose="02020603050405020304" pitchFamily="18" charset="0"/>
                <a:cs typeface="Times New Roman" panose="02020603050405020304" pitchFamily="18" charset="0"/>
              </a:rPr>
              <a:t>Fasa</a:t>
            </a:r>
            <a:r>
              <a:rPr lang="en-IN" sz="2200" dirty="0">
                <a:latin typeface="Times New Roman" panose="02020603050405020304" pitchFamily="18" charset="0"/>
                <a:cs typeface="Times New Roman" panose="02020603050405020304" pitchFamily="18" charset="0"/>
              </a:rPr>
              <a:t>, A.W.H., (2023). Implications of the role of tourism carrying capacity in the development of sustainable tourism destinations. </a:t>
            </a:r>
            <a:r>
              <a:rPr lang="en-IN" sz="2200" i="1" dirty="0" err="1">
                <a:latin typeface="Times New Roman" panose="02020603050405020304" pitchFamily="18" charset="0"/>
                <a:cs typeface="Times New Roman" panose="02020603050405020304" pitchFamily="18" charset="0"/>
              </a:rPr>
              <a:t>Jurnal</a:t>
            </a:r>
            <a:r>
              <a:rPr lang="en-IN" sz="2200" i="1" dirty="0">
                <a:latin typeface="Times New Roman" panose="02020603050405020304" pitchFamily="18" charset="0"/>
                <a:cs typeface="Times New Roman" panose="02020603050405020304" pitchFamily="18" charset="0"/>
              </a:rPr>
              <a:t> </a:t>
            </a:r>
            <a:r>
              <a:rPr lang="en-IN" sz="2200" i="1" dirty="0" err="1">
                <a:latin typeface="Times New Roman" panose="02020603050405020304" pitchFamily="18" charset="0"/>
                <a:cs typeface="Times New Roman" panose="02020603050405020304" pitchFamily="18" charset="0"/>
              </a:rPr>
              <a:t>Kepariwisataan</a:t>
            </a:r>
            <a:r>
              <a:rPr lang="en-IN" sz="2200" i="1" dirty="0">
                <a:latin typeface="Times New Roman" panose="02020603050405020304" pitchFamily="18" charset="0"/>
                <a:cs typeface="Times New Roman" panose="02020603050405020304" pitchFamily="18" charset="0"/>
              </a:rPr>
              <a:t> Indonesia: </a:t>
            </a:r>
            <a:r>
              <a:rPr lang="en-IN" sz="2200" i="1" dirty="0" err="1">
                <a:latin typeface="Times New Roman" panose="02020603050405020304" pitchFamily="18" charset="0"/>
                <a:cs typeface="Times New Roman" panose="02020603050405020304" pitchFamily="18" charset="0"/>
              </a:rPr>
              <a:t>Jurnal</a:t>
            </a:r>
            <a:r>
              <a:rPr lang="en-IN" sz="2200" i="1" dirty="0">
                <a:latin typeface="Times New Roman" panose="02020603050405020304" pitchFamily="18" charset="0"/>
                <a:cs typeface="Times New Roman" panose="02020603050405020304" pitchFamily="18" charset="0"/>
              </a:rPr>
              <a:t> </a:t>
            </a:r>
            <a:r>
              <a:rPr lang="en-IN" sz="2200" i="1" dirty="0" err="1">
                <a:latin typeface="Times New Roman" panose="02020603050405020304" pitchFamily="18" charset="0"/>
                <a:cs typeface="Times New Roman" panose="02020603050405020304" pitchFamily="18" charset="0"/>
              </a:rPr>
              <a:t>Penelitian</a:t>
            </a:r>
            <a:r>
              <a:rPr lang="en-IN" sz="2200" i="1" dirty="0">
                <a:latin typeface="Times New Roman" panose="02020603050405020304" pitchFamily="18" charset="0"/>
                <a:cs typeface="Times New Roman" panose="02020603050405020304" pitchFamily="18" charset="0"/>
              </a:rPr>
              <a:t> dan </a:t>
            </a:r>
            <a:r>
              <a:rPr lang="en-IN" sz="2200" i="1" dirty="0" err="1">
                <a:latin typeface="Times New Roman" panose="02020603050405020304" pitchFamily="18" charset="0"/>
                <a:cs typeface="Times New Roman" panose="02020603050405020304" pitchFamily="18" charset="0"/>
              </a:rPr>
              <a:t>Pengembangan</a:t>
            </a:r>
            <a:r>
              <a:rPr lang="en-IN" sz="2200" i="1" dirty="0">
                <a:latin typeface="Times New Roman" panose="02020603050405020304" pitchFamily="18" charset="0"/>
                <a:cs typeface="Times New Roman" panose="02020603050405020304" pitchFamily="18" charset="0"/>
              </a:rPr>
              <a:t> </a:t>
            </a:r>
            <a:r>
              <a:rPr lang="en-IN" sz="2200" i="1" dirty="0" err="1">
                <a:latin typeface="Times New Roman" panose="02020603050405020304" pitchFamily="18" charset="0"/>
                <a:cs typeface="Times New Roman" panose="02020603050405020304" pitchFamily="18" charset="0"/>
              </a:rPr>
              <a:t>Kepariwisataan</a:t>
            </a:r>
            <a:r>
              <a:rPr lang="en-IN" sz="2200" i="1" dirty="0">
                <a:latin typeface="Times New Roman" panose="02020603050405020304" pitchFamily="18" charset="0"/>
                <a:cs typeface="Times New Roman" panose="02020603050405020304" pitchFamily="18" charset="0"/>
              </a:rPr>
              <a:t> Indonesia</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17</a:t>
            </a:r>
            <a:r>
              <a:rPr lang="en-IN" sz="2200" dirty="0">
                <a:latin typeface="Times New Roman" panose="02020603050405020304" pitchFamily="18" charset="0"/>
                <a:cs typeface="Times New Roman" panose="02020603050405020304" pitchFamily="18" charset="0"/>
              </a:rPr>
              <a:t>(2), pp. 272–292. </a:t>
            </a:r>
            <a:r>
              <a:rPr lang="en-IN" sz="2200" u="sng" dirty="0">
                <a:latin typeface="Times New Roman" panose="02020603050405020304" pitchFamily="18" charset="0"/>
                <a:cs typeface="Times New Roman" panose="02020603050405020304" pitchFamily="18" charset="0"/>
                <a:hlinkClick r:id="rId8"/>
              </a:rPr>
              <a:t>https://ejournal.kemenpar.go.id/index.php/jki/article/view/772</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Hart, C. (2018) Doing a Literature Review: releasing the research imagination. 2nd </a:t>
            </a:r>
            <a:r>
              <a:rPr lang="en-IN" sz="2200" dirty="0" err="1">
                <a:latin typeface="Times New Roman" panose="02020603050405020304" pitchFamily="18" charset="0"/>
                <a:cs typeface="Times New Roman" panose="02020603050405020304" pitchFamily="18" charset="0"/>
              </a:rPr>
              <a:t>edn</a:t>
            </a:r>
            <a:r>
              <a:rPr lang="en-IN" sz="2200" dirty="0">
                <a:latin typeface="Times New Roman" panose="02020603050405020304" pitchFamily="18" charset="0"/>
                <a:cs typeface="Times New Roman" panose="02020603050405020304" pitchFamily="18" charset="0"/>
              </a:rPr>
              <a:t>. London: Sage.</a:t>
            </a:r>
          </a:p>
          <a:p>
            <a:pPr algn="just"/>
            <a:r>
              <a:rPr lang="en-IN" sz="2200" dirty="0">
                <a:latin typeface="Times New Roman" panose="02020603050405020304" pitchFamily="18" charset="0"/>
                <a:cs typeface="Times New Roman" panose="02020603050405020304" pitchFamily="18" charset="0"/>
              </a:rPr>
              <a:t>Hussain, K., Sun, H., Ramzan, M., Mahmood, S. and Zubair Saeed, M., (2024). Interpretive structural modelling of barriers to sustainable tourism development: A developing economy perspective. </a:t>
            </a:r>
            <a:r>
              <a:rPr lang="en-IN" sz="2200" i="1" dirty="0">
                <a:latin typeface="Times New Roman" panose="02020603050405020304" pitchFamily="18" charset="0"/>
                <a:cs typeface="Times New Roman" panose="02020603050405020304" pitchFamily="18" charset="0"/>
              </a:rPr>
              <a:t>Sustainability</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16</a:t>
            </a:r>
            <a:r>
              <a:rPr lang="en-IN" sz="2200" dirty="0">
                <a:latin typeface="Times New Roman" panose="02020603050405020304" pitchFamily="18" charset="0"/>
                <a:cs typeface="Times New Roman" panose="02020603050405020304" pitchFamily="18" charset="0"/>
              </a:rPr>
              <a:t>(13), p.5442. </a:t>
            </a:r>
            <a:r>
              <a:rPr lang="en-IN" sz="2200" u="sng" dirty="0">
                <a:latin typeface="Times New Roman" panose="02020603050405020304" pitchFamily="18" charset="0"/>
                <a:cs typeface="Times New Roman" panose="02020603050405020304" pitchFamily="18" charset="0"/>
                <a:hlinkClick r:id="rId9"/>
              </a:rPr>
              <a:t>https://www.mdpi.com/2071-1050/16/13/5442</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Khan, S.A.R., Yu, Z. and Farooq, K. (2023) Green capabilities, green purchasing, and triple bottom line performance: Leading toward environmental sustainability. Business strategy and the environment, 32(4), pp.2022-2034. </a:t>
            </a:r>
            <a:r>
              <a:rPr lang="en-IN" sz="2200" u="sng" dirty="0">
                <a:latin typeface="Times New Roman" panose="02020603050405020304" pitchFamily="18" charset="0"/>
                <a:cs typeface="Times New Roman" panose="02020603050405020304" pitchFamily="18" charset="0"/>
                <a:hlinkClick r:id="rId10"/>
              </a:rPr>
              <a:t>https://doi.org/10.1002/bse.3234</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Meera, S. and </a:t>
            </a:r>
            <a:r>
              <a:rPr lang="en-IN" sz="2200" dirty="0" err="1">
                <a:latin typeface="Times New Roman" panose="02020603050405020304" pitchFamily="18" charset="0"/>
                <a:cs typeface="Times New Roman" panose="02020603050405020304" pitchFamily="18" charset="0"/>
              </a:rPr>
              <a:t>Vinodan</a:t>
            </a:r>
            <a:r>
              <a:rPr lang="en-IN" sz="2200" dirty="0">
                <a:latin typeface="Times New Roman" panose="02020603050405020304" pitchFamily="18" charset="0"/>
                <a:cs typeface="Times New Roman" panose="02020603050405020304" pitchFamily="18" charset="0"/>
              </a:rPr>
              <a:t>, A., (2023). Sustainability initiatives, development and well-being: understanding linkages in tourism. </a:t>
            </a:r>
            <a:r>
              <a:rPr lang="en-IN" sz="2200" i="1" dirty="0">
                <a:latin typeface="Times New Roman" panose="02020603050405020304" pitchFamily="18" charset="0"/>
                <a:cs typeface="Times New Roman" panose="02020603050405020304" pitchFamily="18" charset="0"/>
              </a:rPr>
              <a:t>Society and Business Review</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18</a:t>
            </a:r>
            <a:r>
              <a:rPr lang="en-IN" sz="2200" dirty="0">
                <a:latin typeface="Times New Roman" panose="02020603050405020304" pitchFamily="18" charset="0"/>
                <a:cs typeface="Times New Roman" panose="02020603050405020304" pitchFamily="18" charset="0"/>
              </a:rPr>
              <a:t>(4), pp.572-591. </a:t>
            </a:r>
            <a:r>
              <a:rPr lang="en-IN" sz="2200" u="sng" dirty="0">
                <a:latin typeface="Times New Roman" panose="02020603050405020304" pitchFamily="18" charset="0"/>
                <a:cs typeface="Times New Roman" panose="02020603050405020304" pitchFamily="18" charset="0"/>
                <a:hlinkClick r:id="rId11"/>
              </a:rPr>
              <a:t>https://www.emerald.com/sbr/article/18/4/572/347854</a:t>
            </a:r>
            <a:r>
              <a:rPr lang="en-IN" sz="2200" dirty="0">
                <a:latin typeface="Times New Roman" panose="02020603050405020304" pitchFamily="18" charset="0"/>
                <a:cs typeface="Times New Roman" panose="02020603050405020304" pitchFamily="18" charset="0"/>
              </a:rPr>
              <a:t> </a:t>
            </a:r>
          </a:p>
          <a:p>
            <a:pPr algn="just"/>
            <a:r>
              <a:rPr lang="en-IN" sz="2200" dirty="0" err="1">
                <a:latin typeface="Times New Roman" panose="02020603050405020304" pitchFamily="18" charset="0"/>
                <a:cs typeface="Times New Roman" panose="02020603050405020304" pitchFamily="18" charset="0"/>
              </a:rPr>
              <a:t>Mejjad</a:t>
            </a:r>
            <a:r>
              <a:rPr lang="en-IN" sz="2200" dirty="0">
                <a:latin typeface="Times New Roman" panose="02020603050405020304" pitchFamily="18" charset="0"/>
                <a:cs typeface="Times New Roman" panose="02020603050405020304" pitchFamily="18" charset="0"/>
              </a:rPr>
              <a:t>, N., Rossi, A. and Pavel, A.B., (2022). The coastal tourism industry in the Mediterranean: A critical review of the socio-economic and environmental pressures &amp; impacts. </a:t>
            </a:r>
            <a:r>
              <a:rPr lang="en-IN" sz="2200" i="1" dirty="0">
                <a:latin typeface="Times New Roman" panose="02020603050405020304" pitchFamily="18" charset="0"/>
                <a:cs typeface="Times New Roman" panose="02020603050405020304" pitchFamily="18" charset="0"/>
              </a:rPr>
              <a:t>Tourism Management Perspectives</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44</a:t>
            </a:r>
            <a:r>
              <a:rPr lang="en-IN" sz="2200" dirty="0">
                <a:latin typeface="Times New Roman" panose="02020603050405020304" pitchFamily="18" charset="0"/>
                <a:cs typeface="Times New Roman" panose="02020603050405020304" pitchFamily="18" charset="0"/>
              </a:rPr>
              <a:t>, p.101007. </a:t>
            </a:r>
            <a:r>
              <a:rPr lang="en-IN" sz="2200" u="sng" dirty="0">
                <a:latin typeface="Times New Roman" panose="02020603050405020304" pitchFamily="18" charset="0"/>
                <a:cs typeface="Times New Roman" panose="02020603050405020304" pitchFamily="18" charset="0"/>
                <a:hlinkClick r:id="rId12"/>
              </a:rPr>
              <a:t>https://www.sciencedirect.com/science/article/pii/S2211973622000721</a:t>
            </a:r>
            <a:r>
              <a:rPr lang="en-IN" sz="22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387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A8341650-AF9E-68F3-A345-C16D84C20F52}"/>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271173C1-FF35-2FF2-1A03-BEEDD64926C8}"/>
              </a:ext>
            </a:extLst>
          </p:cNvPr>
          <p:cNvSpPr txBox="1"/>
          <p:nvPr/>
        </p:nvSpPr>
        <p:spPr>
          <a:xfrm>
            <a:off x="3852199" y="240067"/>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References</a:t>
            </a:r>
          </a:p>
        </p:txBody>
      </p:sp>
      <p:sp>
        <p:nvSpPr>
          <p:cNvPr id="6" name="Rectangle 5">
            <a:extLst>
              <a:ext uri="{FF2B5EF4-FFF2-40B4-BE49-F238E27FC236}">
                <a16:creationId xmlns:a16="http://schemas.microsoft.com/office/drawing/2014/main" id="{725DCF28-6CAD-22E4-8952-B7BD8AA4E589}"/>
              </a:ext>
            </a:extLst>
          </p:cNvPr>
          <p:cNvSpPr/>
          <p:nvPr/>
        </p:nvSpPr>
        <p:spPr>
          <a:xfrm>
            <a:off x="0" y="1472729"/>
            <a:ext cx="17907000" cy="6971909"/>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Morse, W.C. (2023) ‘Protected area tourism and management as a social-ecological complex adaptive system’, Frontiers in Sustainable Tourism, 2, 1187402. </a:t>
            </a:r>
            <a:r>
              <a:rPr lang="en-IN" sz="2200" u="sng" dirty="0">
                <a:latin typeface="Times New Roman" panose="02020603050405020304" pitchFamily="18" charset="0"/>
                <a:cs typeface="Times New Roman" panose="02020603050405020304" pitchFamily="18" charset="0"/>
                <a:hlinkClick r:id="rId3"/>
              </a:rPr>
              <a:t>https://doi.org/10.3389/frsut.2023.1187402</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Pai, C.H., Zhang, Y., Wang, Y.L., Li, K. and Shang, Y. (2026) Current challenges and opportunities in cultural heritage preservation through sustainable tourism practices. Current Issues in Tourism, 29(5), pp.1016-1034. </a:t>
            </a:r>
            <a:r>
              <a:rPr lang="en-IN" sz="2200" u="sng" dirty="0">
                <a:latin typeface="Times New Roman" panose="02020603050405020304" pitchFamily="18" charset="0"/>
                <a:cs typeface="Times New Roman" panose="02020603050405020304" pitchFamily="18" charset="0"/>
                <a:hlinkClick r:id="rId4"/>
              </a:rPr>
              <a:t>https://doi.org/10.1080/13683500.2024.2443776</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Pham, K., Andereck, K.L. and Vogt, C.A., (2025). Stakeholders’ involvement in an evidence-based sustainable tourism plan. </a:t>
            </a:r>
            <a:r>
              <a:rPr lang="en-IN" sz="2200" i="1" dirty="0">
                <a:latin typeface="Times New Roman" panose="02020603050405020304" pitchFamily="18" charset="0"/>
                <a:cs typeface="Times New Roman" panose="02020603050405020304" pitchFamily="18" charset="0"/>
              </a:rPr>
              <a:t>Journal of Sustainable Tourism</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33</a:t>
            </a:r>
            <a:r>
              <a:rPr lang="en-IN" sz="2200" dirty="0">
                <a:latin typeface="Times New Roman" panose="02020603050405020304" pitchFamily="18" charset="0"/>
                <a:cs typeface="Times New Roman" panose="02020603050405020304" pitchFamily="18" charset="0"/>
              </a:rPr>
              <a:t>(4), pp.673-696. </a:t>
            </a:r>
            <a:r>
              <a:rPr lang="en-IN" sz="2200" u="sng" dirty="0">
                <a:latin typeface="Times New Roman" panose="02020603050405020304" pitchFamily="18" charset="0"/>
                <a:cs typeface="Times New Roman" panose="02020603050405020304" pitchFamily="18" charset="0"/>
                <a:hlinkClick r:id="rId5"/>
              </a:rPr>
              <a:t>https://www.tandfonline.com/doi/abs/10.1080/09669582.(2023).2259117</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Saunders, M., Lewis, P. and Thornhill, A. (2023) Research Methods for Business Students. 8</a:t>
            </a:r>
            <a:r>
              <a:rPr lang="en-IN" sz="2200" baseline="30000" dirty="0">
                <a:latin typeface="Times New Roman" panose="02020603050405020304" pitchFamily="18" charset="0"/>
                <a:cs typeface="Times New Roman" panose="02020603050405020304" pitchFamily="18" charset="0"/>
              </a:rPr>
              <a:t>th</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edn</a:t>
            </a:r>
            <a:r>
              <a:rPr lang="en-IN" sz="2200" dirty="0">
                <a:latin typeface="Times New Roman" panose="02020603050405020304" pitchFamily="18" charset="0"/>
                <a:cs typeface="Times New Roman" panose="02020603050405020304" pitchFamily="18" charset="0"/>
              </a:rPr>
              <a:t>. Harlow: Prentice Hall.</a:t>
            </a:r>
          </a:p>
          <a:p>
            <a:pPr algn="just"/>
            <a:r>
              <a:rPr lang="en-IN" sz="2200" dirty="0" err="1">
                <a:latin typeface="Times New Roman" panose="02020603050405020304" pitchFamily="18" charset="0"/>
                <a:cs typeface="Times New Roman" panose="02020603050405020304" pitchFamily="18" charset="0"/>
              </a:rPr>
              <a:t>Skiniti</a:t>
            </a:r>
            <a:r>
              <a:rPr lang="en-IN" sz="2200" dirty="0">
                <a:latin typeface="Times New Roman" panose="02020603050405020304" pitchFamily="18" charset="0"/>
                <a:cs typeface="Times New Roman" panose="02020603050405020304" pitchFamily="18" charset="0"/>
              </a:rPr>
              <a:t>, G., Lilli, M., </a:t>
            </a:r>
            <a:r>
              <a:rPr lang="en-IN" sz="2200" dirty="0" err="1">
                <a:latin typeface="Times New Roman" panose="02020603050405020304" pitchFamily="18" charset="0"/>
                <a:cs typeface="Times New Roman" panose="02020603050405020304" pitchFamily="18" charset="0"/>
              </a:rPr>
              <a:t>Skarakis</a:t>
            </a:r>
            <a:r>
              <a:rPr lang="en-IN" sz="2200" dirty="0">
                <a:latin typeface="Times New Roman" panose="02020603050405020304" pitchFamily="18" charset="0"/>
                <a:cs typeface="Times New Roman" panose="02020603050405020304" pitchFamily="18" charset="0"/>
              </a:rPr>
              <a:t>, N., </a:t>
            </a:r>
            <a:r>
              <a:rPr lang="en-IN" sz="2200" dirty="0" err="1">
                <a:latin typeface="Times New Roman" panose="02020603050405020304" pitchFamily="18" charset="0"/>
                <a:cs typeface="Times New Roman" panose="02020603050405020304" pitchFamily="18" charset="0"/>
              </a:rPr>
              <a:t>Tournaki</a:t>
            </a:r>
            <a:r>
              <a:rPr lang="en-IN" sz="2200" dirty="0">
                <a:latin typeface="Times New Roman" panose="02020603050405020304" pitchFamily="18" charset="0"/>
                <a:cs typeface="Times New Roman" panose="02020603050405020304" pitchFamily="18" charset="0"/>
              </a:rPr>
              <a:t>, S., Nikolaidis, N. and </a:t>
            </a:r>
            <a:r>
              <a:rPr lang="en-IN" sz="2200" dirty="0" err="1">
                <a:latin typeface="Times New Roman" panose="02020603050405020304" pitchFamily="18" charset="0"/>
                <a:cs typeface="Times New Roman" panose="02020603050405020304" pitchFamily="18" charset="0"/>
              </a:rPr>
              <a:t>Tsoutsos</a:t>
            </a:r>
            <a:r>
              <a:rPr lang="en-IN" sz="2200" dirty="0">
                <a:latin typeface="Times New Roman" panose="02020603050405020304" pitchFamily="18" charset="0"/>
                <a:cs typeface="Times New Roman" panose="02020603050405020304" pitchFamily="18" charset="0"/>
              </a:rPr>
              <a:t>, T., (2024). A holistic approach for tourism carrying capacity estimation in sensitive ecological areas. </a:t>
            </a:r>
            <a:r>
              <a:rPr lang="en-IN" sz="2200" i="1" dirty="0">
                <a:latin typeface="Times New Roman" panose="02020603050405020304" pitchFamily="18" charset="0"/>
                <a:cs typeface="Times New Roman" panose="02020603050405020304" pitchFamily="18" charset="0"/>
              </a:rPr>
              <a:t>Environment, Development and Sustainability</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26</a:t>
            </a:r>
            <a:r>
              <a:rPr lang="en-IN" sz="2200" dirty="0">
                <a:latin typeface="Times New Roman" panose="02020603050405020304" pitchFamily="18" charset="0"/>
                <a:cs typeface="Times New Roman" panose="02020603050405020304" pitchFamily="18" charset="0"/>
              </a:rPr>
              <a:t>(12), pp.31971-31995. </a:t>
            </a:r>
            <a:r>
              <a:rPr lang="en-IN" sz="2200" u="sng" dirty="0">
                <a:latin typeface="Times New Roman" panose="02020603050405020304" pitchFamily="18" charset="0"/>
                <a:cs typeface="Times New Roman" panose="02020603050405020304" pitchFamily="18" charset="0"/>
                <a:hlinkClick r:id="rId6"/>
              </a:rPr>
              <a:t>https://link.springer.com/article/10.1007/s10668-024-04805-0</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Sobhani, P., Esmaeilzadeh, H., Wolf, I.D., Marcu, M.V., Lück, M. and Sadeghi, S.M.M. (2023) ‘Strategies to Manage Ecotourism Sustainably: Insights from a SWOT-ANP Analysis and IUCN Guidelines’, Sustainability, 15(14), 11013. </a:t>
            </a:r>
            <a:r>
              <a:rPr lang="en-IN" sz="2200" u="sng" dirty="0">
                <a:latin typeface="Times New Roman" panose="02020603050405020304" pitchFamily="18" charset="0"/>
                <a:cs typeface="Times New Roman" panose="02020603050405020304" pitchFamily="18" charset="0"/>
                <a:hlinkClick r:id="rId7"/>
              </a:rPr>
              <a:t>https://doi.org/10.3390/su151411013</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Thapa, K., Adhikari, H. and Stainback, G.A. (2024) ‘Tourism and national collaboration in protected areas’, Annals of Ecotourism, 3(2), Article 100151. </a:t>
            </a:r>
            <a:r>
              <a:rPr lang="en-IN" sz="2200" u="sng" dirty="0">
                <a:latin typeface="Times New Roman" panose="02020603050405020304" pitchFamily="18" charset="0"/>
                <a:cs typeface="Times New Roman" panose="02020603050405020304" pitchFamily="18" charset="0"/>
                <a:hlinkClick r:id="rId8"/>
              </a:rPr>
              <a:t>https://doi.org/10.1016/j.annale.2024.100151</a:t>
            </a:r>
            <a:r>
              <a:rPr lang="en-IN" sz="2200" dirty="0">
                <a:latin typeface="Times New Roman" panose="02020603050405020304" pitchFamily="18" charset="0"/>
                <a:cs typeface="Times New Roman" panose="02020603050405020304" pitchFamily="18" charset="0"/>
              </a:rPr>
              <a:t> </a:t>
            </a:r>
          </a:p>
          <a:p>
            <a:pPr algn="just"/>
            <a:r>
              <a:rPr lang="en-IN" sz="2200" dirty="0" err="1">
                <a:latin typeface="Times New Roman" panose="02020603050405020304" pitchFamily="18" charset="0"/>
                <a:cs typeface="Times New Roman" panose="02020603050405020304" pitchFamily="18" charset="0"/>
              </a:rPr>
              <a:t>Trišić</a:t>
            </a:r>
            <a:r>
              <a:rPr lang="en-IN" sz="2200" dirty="0">
                <a:latin typeface="Times New Roman" panose="02020603050405020304" pitchFamily="18" charset="0"/>
                <a:cs typeface="Times New Roman" panose="02020603050405020304" pitchFamily="18" charset="0"/>
              </a:rPr>
              <a:t>, I., Nechita, F., </a:t>
            </a:r>
            <a:r>
              <a:rPr lang="en-IN" sz="2200" dirty="0" err="1">
                <a:latin typeface="Times New Roman" panose="02020603050405020304" pitchFamily="18" charset="0"/>
                <a:cs typeface="Times New Roman" panose="02020603050405020304" pitchFamily="18" charset="0"/>
              </a:rPr>
              <a:t>Milojković</a:t>
            </a:r>
            <a:r>
              <a:rPr lang="en-IN" sz="2200" dirty="0">
                <a:latin typeface="Times New Roman" panose="02020603050405020304" pitchFamily="18" charset="0"/>
                <a:cs typeface="Times New Roman" panose="02020603050405020304" pitchFamily="18" charset="0"/>
              </a:rPr>
              <a:t>, D. and </a:t>
            </a:r>
            <a:r>
              <a:rPr lang="en-IN" sz="2200" dirty="0" err="1">
                <a:latin typeface="Times New Roman" panose="02020603050405020304" pitchFamily="18" charset="0"/>
                <a:cs typeface="Times New Roman" panose="02020603050405020304" pitchFamily="18" charset="0"/>
              </a:rPr>
              <a:t>Štetić</a:t>
            </a:r>
            <a:r>
              <a:rPr lang="en-IN" sz="2200" dirty="0">
                <a:latin typeface="Times New Roman" panose="02020603050405020304" pitchFamily="18" charset="0"/>
                <a:cs typeface="Times New Roman" panose="02020603050405020304" pitchFamily="18" charset="0"/>
              </a:rPr>
              <a:t>, S. (2023) ‘Sustainable Tourism in Protected Areas—Application of the Prism of Sustainability Model’, Sustainability, 15(6), 5148. </a:t>
            </a:r>
            <a:r>
              <a:rPr lang="en-IN" sz="2200" u="sng" dirty="0">
                <a:latin typeface="Times New Roman" panose="02020603050405020304" pitchFamily="18" charset="0"/>
                <a:cs typeface="Times New Roman" panose="02020603050405020304" pitchFamily="18" charset="0"/>
                <a:hlinkClick r:id="rId9"/>
              </a:rPr>
              <a:t>https://doi.org/10.3390/su15065148</a:t>
            </a:r>
            <a:r>
              <a:rPr lang="en-IN" sz="2200" dirty="0">
                <a:latin typeface="Times New Roman" panose="02020603050405020304" pitchFamily="18" charset="0"/>
                <a:cs typeface="Times New Roman" panose="02020603050405020304" pitchFamily="18" charset="0"/>
              </a:rPr>
              <a:t> </a:t>
            </a:r>
          </a:p>
          <a:p>
            <a:pPr algn="just"/>
            <a:r>
              <a:rPr lang="en-IN" sz="2200" dirty="0" err="1">
                <a:latin typeface="Times New Roman" panose="02020603050405020304" pitchFamily="18" charset="0"/>
                <a:cs typeface="Times New Roman" panose="02020603050405020304" pitchFamily="18" charset="0"/>
              </a:rPr>
              <a:t>Tsypko</a:t>
            </a:r>
            <a:r>
              <a:rPr lang="en-IN" sz="2200" dirty="0">
                <a:latin typeface="Times New Roman" panose="02020603050405020304" pitchFamily="18" charset="0"/>
                <a:cs typeface="Times New Roman" panose="02020603050405020304" pitchFamily="18" charset="0"/>
              </a:rPr>
              <a:t>, V., (2024), November. The effect of tourism on the ecological state of the environment. In </a:t>
            </a:r>
            <a:r>
              <a:rPr lang="en-IN" sz="2200" i="1" dirty="0">
                <a:latin typeface="Times New Roman" panose="02020603050405020304" pitchFamily="18" charset="0"/>
                <a:cs typeface="Times New Roman" panose="02020603050405020304" pitchFamily="18" charset="0"/>
              </a:rPr>
              <a:t>E3S Web of Conferences</a:t>
            </a:r>
            <a:r>
              <a:rPr lang="en-IN" sz="2200" dirty="0">
                <a:latin typeface="Times New Roman" panose="02020603050405020304" pitchFamily="18" charset="0"/>
                <a:cs typeface="Times New Roman" panose="02020603050405020304" pitchFamily="18" charset="0"/>
              </a:rPr>
              <a:t> (Vol. 587, p. 05007). EDP Sciences. </a:t>
            </a:r>
            <a:r>
              <a:rPr lang="en-IN" sz="2200" u="sng" dirty="0">
                <a:latin typeface="Times New Roman" panose="02020603050405020304" pitchFamily="18" charset="0"/>
                <a:cs typeface="Times New Roman" panose="02020603050405020304" pitchFamily="18" charset="0"/>
                <a:hlinkClick r:id="rId10"/>
              </a:rPr>
              <a:t>https://www.e3s-conferences.org/articles/e3sconf/abs/(2024)/117/e3sconf_greenenergy24_05007/e3sconf_greenenergy24_05007.html</a:t>
            </a:r>
            <a:r>
              <a:rPr lang="en-IN" sz="2200" dirty="0">
                <a:latin typeface="Times New Roman" panose="02020603050405020304" pitchFamily="18" charset="0"/>
                <a:cs typeface="Times New Roman" panose="02020603050405020304" pitchFamily="18" charset="0"/>
              </a:rPr>
              <a:t> </a:t>
            </a:r>
          </a:p>
          <a:p>
            <a:pPr algn="just"/>
            <a:r>
              <a:rPr lang="en-IN" sz="2200" dirty="0" err="1">
                <a:latin typeface="Times New Roman" panose="02020603050405020304" pitchFamily="18" charset="0"/>
                <a:cs typeface="Times New Roman" panose="02020603050405020304" pitchFamily="18" charset="0"/>
              </a:rPr>
              <a:t>Walliman</a:t>
            </a:r>
            <a:r>
              <a:rPr lang="en-IN" sz="2200" dirty="0">
                <a:latin typeface="Times New Roman" panose="02020603050405020304" pitchFamily="18" charset="0"/>
                <a:cs typeface="Times New Roman" panose="02020603050405020304" pitchFamily="18" charset="0"/>
              </a:rPr>
              <a:t>, N. (2020) Your Research Project: Designing, Planning, and Getting Started. 4th </a:t>
            </a:r>
            <a:r>
              <a:rPr lang="en-IN" sz="2200" dirty="0" err="1">
                <a:latin typeface="Times New Roman" panose="02020603050405020304" pitchFamily="18" charset="0"/>
                <a:cs typeface="Times New Roman" panose="02020603050405020304" pitchFamily="18" charset="0"/>
              </a:rPr>
              <a:t>edn</a:t>
            </a:r>
            <a:r>
              <a:rPr lang="en-IN" sz="2200" dirty="0">
                <a:latin typeface="Times New Roman" panose="02020603050405020304" pitchFamily="18" charset="0"/>
                <a:cs typeface="Times New Roman" panose="02020603050405020304" pitchFamily="18" charset="0"/>
              </a:rPr>
              <a:t>. London: Sage.</a:t>
            </a:r>
          </a:p>
          <a:p>
            <a:pPr marL="342900" indent="-342900"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005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18" name="TextBox 18"/>
          <p:cNvSpPr txBox="1"/>
          <p:nvPr/>
        </p:nvSpPr>
        <p:spPr>
          <a:xfrm>
            <a:off x="2743200" y="4381500"/>
            <a:ext cx="13380592" cy="1107291"/>
          </a:xfrm>
          <a:prstGeom prst="rect">
            <a:avLst/>
          </a:prstGeom>
        </p:spPr>
        <p:txBody>
          <a:bodyPr lIns="0" tIns="0" rIns="0" bIns="0" rtlCol="0" anchor="t">
            <a:spAutoFit/>
          </a:bodyPr>
          <a:lstStyle/>
          <a:p>
            <a:pPr algn="ctr">
              <a:lnSpc>
                <a:spcPts val="7205"/>
              </a:lnSpc>
            </a:pPr>
            <a:r>
              <a:rPr lang="en-US" sz="13800" b="1" dirty="0">
                <a:solidFill>
                  <a:srgbClr val="16423C"/>
                </a:solidFill>
                <a:latin typeface="Times New Roman" panose="02020603050405020304" pitchFamily="18" charset="0"/>
                <a:ea typeface="Garet Bold"/>
                <a:cs typeface="Times New Roman" panose="02020603050405020304" pitchFamily="18" charset="0"/>
                <a:sym typeface="Gare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4224</Words>
  <Application>Microsoft Office PowerPoint</Application>
  <PresentationFormat>Custom</PresentationFormat>
  <Paragraphs>194</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White Modern Medical Clinical Care Presentation</dc:title>
  <dc:creator/>
  <cp:lastModifiedBy>Dharmendra vaishnav</cp:lastModifiedBy>
  <cp:revision>32</cp:revision>
  <dcterms:created xsi:type="dcterms:W3CDTF">2006-08-16T00:00:00Z</dcterms:created>
  <dcterms:modified xsi:type="dcterms:W3CDTF">2026-09-14T13:27:22Z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3CA7A18723D74A92BF12574A086BC278_12</vt:lpwstr>
  </property>
  <property fmtid="{D5CDD505-2E9C-101B-9397-08002B2CF9AE}" pid="3" name="KSOProductBuildVer">
    <vt:lpwstr>2057-12.2.0.23206</vt:lpwstr>
  </property>
</Properties>
</file>