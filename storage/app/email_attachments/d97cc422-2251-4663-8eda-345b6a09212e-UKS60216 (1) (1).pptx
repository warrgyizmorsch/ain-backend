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70" r:id="rId3"/>
    <p:sldId id="257" r:id="rId4"/>
    <p:sldId id="258" r:id="rId5"/>
    <p:sldId id="259" r:id="rId6"/>
    <p:sldId id="260" r:id="rId7"/>
    <p:sldId id="261" r:id="rId8"/>
    <p:sldId id="263" r:id="rId9"/>
    <p:sldId id="271" r:id="rId10"/>
    <p:sldId id="265" r:id="rId11"/>
    <p:sldId id="266" r:id="rId12"/>
    <p:sldId id="269" r:id="rId13"/>
    <p:sldId id="272" r:id="rId14"/>
    <p:sldId id="273" r:id="rId15"/>
    <p:sldId id="274" r:id="rId16"/>
    <p:sldId id="268" r:id="rId17"/>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rvashi kanwar" initials="uk" lastIdx="2" clrIdx="0"/>
  <p:cmAuthor id="2" name="Taha" initials="authorId_758083493" lastIdx="7"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35" autoAdjust="0"/>
    <p:restoredTop sz="68676" autoAdjust="0"/>
  </p:normalViewPr>
  <p:slideViewPr>
    <p:cSldViewPr showGuides="1">
      <p:cViewPr>
        <p:scale>
          <a:sx n="50" d="100"/>
          <a:sy n="50" d="100"/>
        </p:scale>
        <p:origin x="48" y="-37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B9CDF98-6010-4F45-A2F1-22F9019F3316}" type="datetimeFigureOut">
              <a:rPr lang="en-IN" smtClean="0"/>
              <a:t>12-09-2026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906D4A3-7C5B-4FC7-9B09-7A5DE2BF8B9C}"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200" kern="1200" dirty="0">
                <a:solidFill>
                  <a:schemeClr val="tx1"/>
                </a:solidFill>
                <a:effectLst/>
                <a:latin typeface="+mn-lt"/>
                <a:ea typeface="+mn-ea"/>
                <a:cs typeface="+mn-cs"/>
              </a:rPr>
              <a:t>Political memes are an essential tool for digital political communication as they integrate images, texts, punch lines and political elements in an accessible manner (</a:t>
            </a:r>
            <a:r>
              <a:rPr lang="en-IN" sz="1200" kern="1200" dirty="0" err="1">
                <a:solidFill>
                  <a:schemeClr val="tx1"/>
                </a:solidFill>
                <a:effectLst/>
                <a:latin typeface="+mn-lt"/>
                <a:ea typeface="+mn-ea"/>
                <a:cs typeface="+mn-cs"/>
              </a:rPr>
              <a:t>Pataranutaporn</a:t>
            </a:r>
            <a:r>
              <a:rPr lang="en-IN" sz="1200" kern="1200" dirty="0">
                <a:solidFill>
                  <a:schemeClr val="tx1"/>
                </a:solidFill>
                <a:effectLst/>
                <a:latin typeface="+mn-lt"/>
                <a:ea typeface="+mn-ea"/>
                <a:cs typeface="+mn-cs"/>
              </a:rPr>
              <a:t> et al. 73). Facial images are of special significance as they convey information about identity, emotion and social relevance. AI technologies are now able to edit and manipulate the appearance of people's faces and expressions in increasingly realistic ways, which could alter the emotional or social signals given out by politicians. These changes can impact what parts of a meme get attention and what the meme's message is understood to be. Prior studies on political memes and perception of faces have thus served as a useful starting point for understanding the potential impact of AI-manipulated facial content.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Another crucial factor is not to think of political memes just as humorous images. They can process multiple types of information simultaneously, for example, facial cues and written content, symbols and political cues. This becomes more complex when the face has been manipulated using AI, as the details might no longer reflect the genuine expression or look of the politician. It is, therefore, important to understand how the viewers react to these changed cues in order to understand modern digital political communication.</a:t>
            </a:r>
          </a:p>
          <a:p>
            <a:pPr marL="0" marR="0" lvl="0" indent="0" algn="l" defTabSz="914400" rtl="0" eaLnBrk="1" fontAlgn="auto" latinLnBrk="0" hangingPunct="1">
              <a:lnSpc>
                <a:spcPct val="100000"/>
              </a:lnSpc>
              <a:spcBef>
                <a:spcPts val="0"/>
              </a:spcBef>
              <a:spcAft>
                <a:spcPts val="0"/>
              </a:spcAft>
              <a:buClrTx/>
              <a:buSzTx/>
              <a:buFontTx/>
              <a:buNone/>
              <a:defRPr/>
            </a:pPr>
            <a:endParaRPr lang="en-IN" sz="120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E906D4A3-7C5B-4FC7-9B09-7A5DE2BF8B9C}" type="slidenum">
              <a:rPr lang="en-IN" smtClean="0"/>
              <a:t>2</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Previous studies have yielded significant information on facial perception, emotional processing of faces, visual attention, and political meme interpretation. But these research areas have often evolved separately. New studies have also begun to focus on AI political visuals, including the aspects of authenticity, trustworthiness and detectability. However, relatively limited research has directly focused on AI-manipulated faces in political memes. This is an important research question because political memes are a multimodal text where facial information is combined with text, humour, and political context. To understand the interactions, it is necessary to determine how much AI-mediated facial manipulation alters cognitive processing beyond just making an image seem artificial (Islam et al. </a:t>
            </a:r>
            <a:r>
              <a:rPr lang="en-IN" dirty="0"/>
              <a:t>47</a:t>
            </a:r>
            <a:r>
              <a:rPr lang="en-IN" sz="120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The primary question, therefore, is not just whether AI can produce realistic political images. The real question is what will happen when the changed faces are inserted into a full-blown political meme. A viewer might process the face first, then feel the mood of the expression and then read the written words. Meanwhile, the general meme can be interpreted based on pre-existing political opinions. This calls for a convergence between findings from psychology, visual communication, media generated by AI and political communication.</a:t>
            </a:r>
          </a:p>
          <a:p>
            <a:endParaRPr lang="en-IN" dirty="0"/>
          </a:p>
        </p:txBody>
      </p:sp>
      <p:sp>
        <p:nvSpPr>
          <p:cNvPr id="4" name="Slide Number Placeholder 3"/>
          <p:cNvSpPr>
            <a:spLocks noGrp="1"/>
          </p:cNvSpPr>
          <p:nvPr>
            <p:ph type="sldNum" sz="quarter" idx="10"/>
          </p:nvPr>
        </p:nvSpPr>
        <p:spPr/>
        <p:txBody>
          <a:bodyPr/>
          <a:lstStyle/>
          <a:p>
            <a:fld id="{E906D4A3-7C5B-4FC7-9B09-7A5DE2BF8B9C}" type="slidenum">
              <a:rPr lang="en-IN" smtClean="0"/>
              <a:t>3</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 primary research question addresses the association between facially manipulated content in political memes processed via AI and cognitive processing by viewers. Cognitive processing refers to how viewers engage with information, how they have emotional responses, and how they use the visual and textual material to make meaning (Xu and Wise 53). The question does not presume that manipulated faces necessarily sway viewers or alter political opinions. Rather, it explores evidence about the psychological processes that might be involved in interpretation. The existing literature on facial perception, attention, emotions and created political images offers relevant evidence, and a literature review is conducted to assess the extent to which these findings can be translated to AI-manipulated faces in political memes.</a:t>
            </a:r>
          </a:p>
          <a:p>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906D4A3-7C5B-4FC7-9B09-7A5DE2BF8B9C}" type="slidenum">
              <a:rPr lang="en-IN" smtClean="0"/>
              <a:t>4</a:t>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 research questions are well organised and follow a logical flow in the literature. The first question considers the psychological basis of perception of the face and how this relates to the interpretation of the political visual content. The second is specifically on whether altered facial features, produced by AI, could affect visual attention. The third asks the question of whether or not emotional responses can be altered by manipulated facial expressions. These questions, when combined, cover key aspects of thinking. The questions also provide a basis for identifying empirical evidence and research gaps (Eiserbeck et al. 55). This allows for a progression from existing knowledge in psychology to a more targeted and novel concept of AI-manipulated political meme faces.</a:t>
            </a:r>
          </a:p>
        </p:txBody>
      </p:sp>
      <p:sp>
        <p:nvSpPr>
          <p:cNvPr id="4" name="Slide Number Placeholder 3"/>
          <p:cNvSpPr>
            <a:spLocks noGrp="1"/>
          </p:cNvSpPr>
          <p:nvPr>
            <p:ph type="sldNum" sz="quarter" idx="10"/>
          </p:nvPr>
        </p:nvSpPr>
        <p:spPr/>
        <p:txBody>
          <a:bodyPr/>
          <a:lstStyle/>
          <a:p>
            <a:fld id="{E906D4A3-7C5B-4FC7-9B09-7A5DE2BF8B9C}" type="slidenum">
              <a:rPr lang="en-IN" smtClean="0"/>
              <a:t>5</a:t>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 research aim is to critically analyse how facial perception, visual attention, emotional response and cognitive interpretation are altered by AI-generated edited facial images in political memes. The three objectives are directly related to the first three research questions. The first objective considers the known facts on face perception and political interpretation. The second evaluates evidence about visual attention towards altered facial imagery. The third measures emotional reactions to manipulated facial expressions. These objectives collectively give a clear direction to the literature review (Zhu et al. 32). They also assist in determining if prior research offers an adequate description of the relationship between facial manipulation and political meme interpretation.</a:t>
            </a:r>
          </a:p>
          <a:p>
            <a:pPr marL="0" marR="0" lvl="0" indent="0" algn="just"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The three objectives offer a framework for tackling the general research question. The first objective relates to interpretation and cognitive processing, the second to visual attention, and the third to emotional response. All of these goals acknowledge that reading a political meme isn't a matter of just viewing an image. The stages of attention, emotion and interpretation can function as a continuum of viewing. This structure also assists in keeping the research questions in relation to the themes found in the literature clear.</a:t>
            </a:r>
          </a:p>
          <a:p>
            <a:pPr algn="just"/>
            <a:endParaRPr lang="en-IN" sz="1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E906D4A3-7C5B-4FC7-9B09-7A5DE2BF8B9C}" type="slidenum">
              <a:rPr lang="en-IN" smtClean="0"/>
              <a:t>6</a:t>
            </a:fld>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Faces are a very significant type of social stimulus as they convey identity, emotional state and interpersonal attributes. Studies show that face perception requires specialised perceptual processes and is related to attention and emotional reaction. Facial expressions can have an impact on the interpretation of the intentions and qualities of another person (</a:t>
            </a:r>
            <a:r>
              <a:rPr lang="en-IN" sz="1200" kern="1200" dirty="0" err="1">
                <a:solidFill>
                  <a:schemeClr val="tx1"/>
                </a:solidFill>
                <a:effectLst/>
                <a:latin typeface="+mn-lt"/>
                <a:ea typeface="+mn-ea"/>
                <a:cs typeface="+mn-cs"/>
              </a:rPr>
              <a:t>Scarpazza</a:t>
            </a:r>
            <a:r>
              <a:rPr lang="en-IN" sz="1200" kern="1200" dirty="0">
                <a:solidFill>
                  <a:schemeClr val="tx1"/>
                </a:solidFill>
                <a:effectLst/>
                <a:latin typeface="+mn-lt"/>
                <a:ea typeface="+mn-ea"/>
                <a:cs typeface="+mn-cs"/>
              </a:rPr>
              <a:t> et al. 89). AI manipulation may alter facial identity cues, facial configuration or emotional expression, which may affect the information available to viewers. The changes are potentially especially important in political memes, where the face is read in conjunction with political words or other clues. Knowledge of existing face-perception research is therefore crucial for exploring the use of AI-manipulated political images.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Facial perception is especially relevant as viewers will naturally use faces to gain social information. Small changes to features such as the eyebrows, mouth or overall facial configuration can change the perceived emotional meaning of an expression. This could mean that these shifts can affect whether a politician is perceived as a certain kind of person before the viewer reads the language that goes with the image in an AI-altered political meme. But the face is not the only determinant of interpretation. The political background and the previous knowledge of the viewer can also affect the meaning given to the changed facial image.</a:t>
            </a:r>
          </a:p>
          <a:p>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906D4A3-7C5B-4FC7-9B09-7A5DE2BF8B9C}" type="slidenum">
              <a:rPr lang="en-IN" smtClean="0"/>
              <a:t>7</a:t>
            </a:fld>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How the visual system treats the different components of a complex image depends on what visual attention selects. Political memes typically have multiple layers, such as faces, text, backgrounds, symbols and other imagery (Lande et al. 125). However, the research suggests that emotional facial information can interact with attentional processes, but emotional faces do not always capture attention. Attention allocation depends on the relevance of the task and contextual factors. AI-manipulated faces might be more likely to capture attention if they are unusual or exaggerated and if they evoke emotional intensity. But more attention does not necessarily mean more persuasion. Attention is a crucial processing mechanism, and subsequent emotional and cognitive interpretation is needed. </a:t>
            </a:r>
          </a:p>
          <a:p>
            <a:pPr marL="0" marR="0" lvl="0" indent="0" algn="just"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The visual attention is significant because the audiences can't process all aspects of a complex meme at once. Faces are likely to stand out due to their socially significant information, and unusual or extreme transformations performed by the AI can make a face stand out. That does not, however, imply that the salience of the face will make it the dominant element in interpretation. The context, political message and viewing intention can shift the focus. This indicates that AI modification can impact gaze location, though in the broader context of the multimodal nature of the meme.</a:t>
            </a:r>
          </a:p>
          <a:p>
            <a:pPr algn="just"/>
            <a:endParaRPr lang="en-IN" sz="1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E906D4A3-7C5B-4FC7-9B09-7A5DE2BF8B9C}" type="slidenum">
              <a:rPr lang="en-IN" smtClean="0"/>
              <a:t>8</a:t>
            </a:fld>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 emotional information that is communicated by facial expression can be important in the visual messages viewers make. Language related to anger, fear, happiness, disgust and sympathy is often used to convey specific impressions in the context of political communication. AI technologies could amplify or manipulate these emotional cues, which in turn affect the perception of a politician's expression. An exaggerated angry look can, for instance, reinforce perceptions of conflict, whereas a manipulated fearful look can convey vulnerability or threat. But surrounding context and accompanying text impact the emotional interpretation. For this reason, the emotional impact of an AI-modified face cannot be divorced from the broader political meme (Wang et al. 66).</a:t>
            </a:r>
          </a:p>
          <a:p>
            <a:pPr marL="0" marR="0" lvl="0" indent="0" algn="just"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Another significant bridge between the manipulation and interpretation of faces is emotional processing. A manipulated expression can accentuate the politician's anger, fear, confidence, or sympathy in the image. These changes may impact the attitude of the meme and, consequently, its political message. However, emotional responses are not likely to rely solely on the face. The accompanying language, wit, and political context can enhance or detract from the emotional response. For this reason, facial manipulation must be explored within the whole meme, not the individual image.</a:t>
            </a:r>
          </a:p>
          <a:p>
            <a:pPr algn="just"/>
            <a:endParaRPr lang="en-IN" sz="1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E906D4A3-7C5B-4FC7-9B09-7A5DE2BF8B9C}" type="slidenum">
              <a:rPr lang="en-IN" smtClean="0"/>
              <a:t>9</a:t>
            </a:fld>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Political memes are multimodal ways of communicating in which images, text, humour, and political identity interact. Past studies indicate that audience political ideology and partisanship can affect the assessment of political memes. The meanings of messages can vary based on whether a person's political message is congruent or inconsistent with what they already believe. Humour can also have a positive effect on engagement and sharing without having a significant impact on political attitudes (Bülow and Johann 45). These findings are relevant to the understanding of AI-manipulated faces because when the face is manipulated, it is another cue of information in an already complex message. The consequences of manipulation could hence be dependent on political identity and message situation and viewers' pre-existing attitude.</a:t>
            </a:r>
          </a:p>
          <a:p>
            <a:pPr marL="0" marR="0" lvl="0" indent="0" algn="just"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Political memes can thus be regarded as a multimodal message in which the elements contribute to the meaning. The facial expression may help convey the meaning of the text, or it may conflict with it or add another meaning. Political identity should also be taken into account, as viewers may understand the same meme differently depending on whether or not it aligns with their ideology. </a:t>
            </a:r>
          </a:p>
          <a:p>
            <a:pPr algn="just"/>
            <a:endParaRPr lang="en-IN" sz="1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E906D4A3-7C5B-4FC7-9B09-7A5DE2BF8B9C}" type="slidenum">
              <a:rPr lang="en-IN" smtClean="0"/>
              <a:t>10</a:t>
            </a:fld>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There are relatively strong pieces of evidence in the literature on face perception and emotional processing of faces. The study of visual attention is more complicated because attention depends on the relevance of the task, the intensity of the emotion, and the context. The role of partisan identity, humour and multimodal processing is rapidly emerging in political meme research. Analyses of the use of political imagery created by AI are still in the process of development, yet they offer some early findings on issues of attention, emotion, credibility and authenticity. The major limitation is the lack of research integrating all these elements. Specifically, there are few empirical studies that directly explore the impact of AI-manipulated faces in political memes on both attention and emotional-cognitive processing (Zsidó,  96).</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Evidence synthesis reveals that there is more literature in some areas than others. There is strong evidence of the relevance of facial perception and emotional processing, and evidence of visual attention is more context- and task-dependent. While political meme studies are evolving at a fast pace, the fusion of AI image manipulation of faces and political memes is understudied.</a:t>
            </a:r>
          </a:p>
          <a:p>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906D4A3-7C5B-4FC7-9B09-7A5DE2BF8B9C}" type="slidenum">
              <a:rPr lang="en-IN" smtClean="0"/>
              <a:t>11</a:t>
            </a:fld>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There are several key areas in the literature review that are not addressed. First, there are gaps in the research on the perception of the face, political memes and AI-generated images. Secondly, few studies focus on facial manipulation alone, as opposed to synthetic images or videos. Thirdly, more attention needs to be paid to the interplay between manipulated faces, meme text and political context. Fourth, there are no consistent examinations of visual attention and emotional response in conjunction with cognitive measures like credibility or authenticity. Finally, political ideology and AI literacy may impact responses and should be explored further. These gaps indicate the need for research specifically targeting AI-manipulated faces in realistic political-meme settings (Chen et al. 88).</a:t>
            </a:r>
          </a:p>
          <a:p>
            <a:pPr algn="just"/>
            <a:endParaRPr lang="en-IN" sz="1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E906D4A3-7C5B-4FC7-9B09-7A5DE2BF8B9C}" type="slidenum">
              <a:rPr lang="en-IN" smtClean="0"/>
              <a:t>12</a:t>
            </a:fld>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A future experimental study with political memes with different facial conditions might help fill the identified literature gap. The participants were able to see original faces and AI-manipulated neutral and emotionally manipulated faces. Eye-tracking might be used to measure visual attention via fixation duration, frequency and pattern. Questionnaires might measure emotional reaction, perception of credibility, authenticity &amp; interpretation of the political message. Potential moderating effects include political ideology and AI literacy. AI disclosure may also be used to see how responses vary with or without synthetic content being disclosed. This will directly link the psychological mechanisms found in literature (Liu et al. 146).</a:t>
            </a:r>
          </a:p>
          <a:p>
            <a:pPr algn="just"/>
            <a:endParaRPr lang="en-IN" sz="1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E906D4A3-7C5B-4FC7-9B09-7A5DE2BF8B9C}" type="slidenum">
              <a:rPr lang="en-IN" smtClean="0"/>
              <a:t>13</a:t>
            </a:fld>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 literature shows that facial information is important in visual and emotional processing and that political memes are complexly combined images and texts with humour and political contexts. AI technologies introduce additional possibilities for altering facial identity and emotional signals. New studies indicate that AI can manipulate political imagery to drive attention, emotion, trust and perceptions of authenticity. But there is not enough direct evidence about AI-manipulated faces in political memes at this time. The literature available indicates that there is thus a need for more empirical research and does not necessarily conclude anything about political persuasion. Future studies will focus on attention, emotion and cognitive interpretation in real multimodal political contexts.</a:t>
            </a:r>
          </a:p>
          <a:p>
            <a:pPr algn="just"/>
            <a:endParaRPr lang="en-IN" sz="1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E906D4A3-7C5B-4FC7-9B09-7A5DE2BF8B9C}" type="slidenum">
              <a:rPr lang="en-IN" smtClean="0"/>
              <a:t>14</a:t>
            </a:fld>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347CC-D690-C4E4-7AFB-FFD89D19D3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E19155-41E9-B206-7705-F739A9361A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8F40C-6CB9-7109-0DCE-DA03F809AA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6EA21AF-07ED-9C66-A15D-252C74F0E70A}"/>
              </a:ext>
            </a:extLst>
          </p:cNvPr>
          <p:cNvSpPr>
            <a:spLocks noGrp="1"/>
          </p:cNvSpPr>
          <p:nvPr>
            <p:ph type="sldNum" sz="quarter" idx="10"/>
          </p:nvPr>
        </p:nvSpPr>
        <p:spPr/>
        <p:txBody>
          <a:bodyPr/>
          <a:lstStyle/>
          <a:p>
            <a:fld id="{E906D4A3-7C5B-4FC7-9B09-7A5DE2BF8B9C}" type="slidenum">
              <a:rPr lang="en-IN" smtClean="0"/>
              <a:t>15</a:t>
            </a:fld>
            <a:endParaRPr lang="en-IN"/>
          </a:p>
        </p:txBody>
      </p:sp>
    </p:spTree>
    <p:extLst>
      <p:ext uri="{BB962C8B-B14F-4D97-AF65-F5344CB8AC3E}">
        <p14:creationId xmlns:p14="http://schemas.microsoft.com/office/powerpoint/2010/main" val="4205301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906D4A3-7C5B-4FC7-9B09-7A5DE2BF8B9C}" type="slidenum">
              <a:rPr lang="en-IN" smtClean="0"/>
              <a:t>16</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9/12/2026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9/12/2026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4.jpeg"/><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8" Type="http://schemas.openxmlformats.org/officeDocument/2006/relationships/hyperlink" Target="https://oeilresearch.com/wp-content/uploads/50-ORJ1795.pdf" TargetMode="External"/><Relationship Id="rId13" Type="http://schemas.openxmlformats.org/officeDocument/2006/relationships/hyperlink" Target="https://doi.org/10.1080/10447318.2025.2578395" TargetMode="External"/><Relationship Id="rId3" Type="http://schemas.openxmlformats.org/officeDocument/2006/relationships/image" Target="../media/image6.svg"/><Relationship Id="rId7" Type="http://schemas.openxmlformats.org/officeDocument/2006/relationships/hyperlink" Target="https://doi.org/10.3390/blockchains2040020" TargetMode="External"/><Relationship Id="rId12" Type="http://schemas.openxmlformats.org/officeDocument/2006/relationships/hyperlink" Target="https://doi.org/10.1109/JPROC.2023.3272408"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hyperlink" Target="https://doi.org/10.1038/s41598-023-42802-x" TargetMode="External"/><Relationship Id="rId11" Type="http://schemas.openxmlformats.org/officeDocument/2006/relationships/hyperlink" Target="https://doi.org/10.1007/s10072-024-07689-0" TargetMode="External"/><Relationship Id="rId5" Type="http://schemas.openxmlformats.org/officeDocument/2006/relationships/hyperlink" Target="https://doi.org/10.1145/3720553.3746675" TargetMode="External"/><Relationship Id="rId15" Type="http://schemas.openxmlformats.org/officeDocument/2006/relationships/hyperlink" Target="https://doi.org/10.1007/s00426-023-01852-6" TargetMode="External"/><Relationship Id="rId10" Type="http://schemas.openxmlformats.org/officeDocument/2006/relationships/hyperlink" Target="https://doi.org/10.1145/3706598.3713697" TargetMode="External"/><Relationship Id="rId4" Type="http://schemas.openxmlformats.org/officeDocument/2006/relationships/hyperlink" Target="https://doi.org/10.3389/fcomm.2022.1027014" TargetMode="External"/><Relationship Id="rId9" Type="http://schemas.openxmlformats.org/officeDocument/2006/relationships/hyperlink" Target="https://doi.org/10.1080/19331681.2023.2294363" TargetMode="External"/><Relationship Id="rId14" Type="http://schemas.openxmlformats.org/officeDocument/2006/relationships/hyperlink" Target="https://doi.org/10.1007/s00266-023-03615-5"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838823" cy="10287000"/>
            <a:chOff x="0" y="0"/>
            <a:chExt cx="3381418" cy="2709333"/>
          </a:xfrm>
        </p:grpSpPr>
        <p:sp>
          <p:nvSpPr>
            <p:cNvPr id="5" name="Freeform 5"/>
            <p:cNvSpPr/>
            <p:nvPr/>
          </p:nvSpPr>
          <p:spPr>
            <a:xfrm>
              <a:off x="0" y="0"/>
              <a:ext cx="3381418" cy="2709333"/>
            </a:xfrm>
            <a:custGeom>
              <a:avLst/>
              <a:gdLst/>
              <a:ahLst/>
              <a:cxnLst/>
              <a:rect l="l" t="t" r="r" b="b"/>
              <a:pathLst>
                <a:path w="3381418" h="2709333">
                  <a:moveTo>
                    <a:pt x="0" y="0"/>
                  </a:moveTo>
                  <a:lnTo>
                    <a:pt x="3381418" y="0"/>
                  </a:lnTo>
                  <a:lnTo>
                    <a:pt x="3381418" y="2709333"/>
                  </a:lnTo>
                  <a:lnTo>
                    <a:pt x="0" y="2709333"/>
                  </a:lnTo>
                  <a:close/>
                </a:path>
              </a:pathLst>
            </a:custGeom>
            <a:gradFill rotWithShape="1">
              <a:gsLst>
                <a:gs pos="0">
                  <a:srgbClr val="E9EFEC">
                    <a:alpha val="100000"/>
                  </a:srgbClr>
                </a:gs>
                <a:gs pos="50000">
                  <a:srgbClr val="E9EFEC">
                    <a:alpha val="100000"/>
                  </a:srgbClr>
                </a:gs>
                <a:gs pos="100000">
                  <a:srgbClr val="E9EFEC">
                    <a:alpha val="0"/>
                  </a:srgbClr>
                </a:gs>
              </a:gsLst>
              <a:lin ang="0"/>
            </a:gradFill>
          </p:spPr>
        </p:sp>
        <p:sp>
          <p:nvSpPr>
            <p:cNvPr id="6" name="TextBox 6"/>
            <p:cNvSpPr txBox="1"/>
            <p:nvPr/>
          </p:nvSpPr>
          <p:spPr>
            <a:xfrm>
              <a:off x="0" y="-38100"/>
              <a:ext cx="3381418" cy="2747433"/>
            </a:xfrm>
            <a:prstGeom prst="rect">
              <a:avLst/>
            </a:prstGeom>
          </p:spPr>
          <p:txBody>
            <a:bodyPr lIns="50800" tIns="50800" rIns="50800" bIns="50800" rtlCol="0" anchor="ctr"/>
            <a:lstStyle/>
            <a:p>
              <a:pPr algn="ctr">
                <a:lnSpc>
                  <a:spcPts val="2660"/>
                </a:lnSpc>
                <a:spcBef>
                  <a:spcPct val="0"/>
                </a:spcBef>
              </a:pPr>
              <a:endParaRPr/>
            </a:p>
          </p:txBody>
        </p:sp>
      </p:grpSp>
      <p:sp>
        <p:nvSpPr>
          <p:cNvPr id="7" name="Freeform 7"/>
          <p:cNvSpPr/>
          <p:nvPr/>
        </p:nvSpPr>
        <p:spPr>
          <a:xfrm flipV="1">
            <a:off x="15525953" y="7524953"/>
            <a:ext cx="3466694" cy="3466694"/>
          </a:xfrm>
          <a:custGeom>
            <a:avLst/>
            <a:gdLst/>
            <a:ahLst/>
            <a:cxnLst/>
            <a:rect l="l" t="t" r="r" b="b"/>
            <a:pathLst>
              <a:path w="3466694" h="3466694">
                <a:moveTo>
                  <a:pt x="0" y="3466694"/>
                </a:moveTo>
                <a:lnTo>
                  <a:pt x="3466694" y="3466694"/>
                </a:lnTo>
                <a:lnTo>
                  <a:pt x="3466694" y="0"/>
                </a:lnTo>
                <a:lnTo>
                  <a:pt x="0" y="0"/>
                </a:lnTo>
                <a:lnTo>
                  <a:pt x="0" y="3466694"/>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7455" y="436676"/>
            <a:ext cx="5879212" cy="1184048"/>
            <a:chOff x="0" y="0"/>
            <a:chExt cx="1548434" cy="311848"/>
          </a:xfrm>
        </p:grpSpPr>
        <p:sp>
          <p:nvSpPr>
            <p:cNvPr id="12" name="Freeform 12"/>
            <p:cNvSpPr/>
            <p:nvPr/>
          </p:nvSpPr>
          <p:spPr>
            <a:xfrm>
              <a:off x="0" y="0"/>
              <a:ext cx="1548434" cy="311848"/>
            </a:xfrm>
            <a:custGeom>
              <a:avLst/>
              <a:gdLst/>
              <a:ahLst/>
              <a:cxnLst/>
              <a:rect l="l" t="t" r="r" b="b"/>
              <a:pathLst>
                <a:path w="1548434" h="311848">
                  <a:moveTo>
                    <a:pt x="26337" y="0"/>
                  </a:moveTo>
                  <a:lnTo>
                    <a:pt x="1522098" y="0"/>
                  </a:lnTo>
                  <a:cubicBezTo>
                    <a:pt x="1536643" y="0"/>
                    <a:pt x="1548434" y="11791"/>
                    <a:pt x="1548434" y="26337"/>
                  </a:cubicBezTo>
                  <a:lnTo>
                    <a:pt x="1548434" y="285512"/>
                  </a:lnTo>
                  <a:cubicBezTo>
                    <a:pt x="1548434" y="300057"/>
                    <a:pt x="1536643" y="311848"/>
                    <a:pt x="1522098" y="311848"/>
                  </a:cubicBezTo>
                  <a:lnTo>
                    <a:pt x="26337" y="311848"/>
                  </a:lnTo>
                  <a:cubicBezTo>
                    <a:pt x="11791" y="311848"/>
                    <a:pt x="0" y="300057"/>
                    <a:pt x="0" y="285512"/>
                  </a:cubicBezTo>
                  <a:lnTo>
                    <a:pt x="0" y="26337"/>
                  </a:lnTo>
                  <a:cubicBezTo>
                    <a:pt x="0" y="11791"/>
                    <a:pt x="11791" y="0"/>
                    <a:pt x="26337" y="0"/>
                  </a:cubicBezTo>
                  <a:close/>
                </a:path>
              </a:pathLst>
            </a:custGeom>
            <a:gradFill rotWithShape="1">
              <a:gsLst>
                <a:gs pos="0">
                  <a:srgbClr val="E9EFEC">
                    <a:alpha val="100000"/>
                  </a:srgbClr>
                </a:gs>
                <a:gs pos="100000">
                  <a:srgbClr val="C4DAD2">
                    <a:alpha val="100000"/>
                  </a:srgbClr>
                </a:gs>
              </a:gsLst>
              <a:lin ang="0"/>
            </a:gradFill>
          </p:spPr>
        </p:sp>
        <p:sp>
          <p:nvSpPr>
            <p:cNvPr id="13" name="TextBox 13"/>
            <p:cNvSpPr txBox="1"/>
            <p:nvPr/>
          </p:nvSpPr>
          <p:spPr>
            <a:xfrm>
              <a:off x="0" y="-38100"/>
              <a:ext cx="1548434" cy="349948"/>
            </a:xfrm>
            <a:prstGeom prst="rect">
              <a:avLst/>
            </a:prstGeom>
          </p:spPr>
          <p:txBody>
            <a:bodyPr lIns="50800" tIns="50800" rIns="50800" bIns="50800" rtlCol="0" anchor="ctr"/>
            <a:lstStyle/>
            <a:p>
              <a:pPr algn="ctr">
                <a:lnSpc>
                  <a:spcPts val="2660"/>
                </a:lnSpc>
                <a:spcBef>
                  <a:spcPct val="0"/>
                </a:spcBef>
              </a:pPr>
              <a:endParaRPr/>
            </a:p>
          </p:txBody>
        </p:sp>
      </p:grpSp>
      <p:sp>
        <p:nvSpPr>
          <p:cNvPr id="14" name="Freeform 14"/>
          <p:cNvSpPr/>
          <p:nvPr/>
        </p:nvSpPr>
        <p:spPr>
          <a:xfrm>
            <a:off x="15139673" y="-1739671"/>
            <a:ext cx="4481465" cy="4114800"/>
          </a:xfrm>
          <a:custGeom>
            <a:avLst/>
            <a:gdLst/>
            <a:ahLst/>
            <a:cxnLst/>
            <a:rect l="l" t="t" r="r" b="b"/>
            <a:pathLst>
              <a:path w="4481465" h="4114800">
                <a:moveTo>
                  <a:pt x="0" y="0"/>
                </a:moveTo>
                <a:lnTo>
                  <a:pt x="4481465" y="0"/>
                </a:lnTo>
                <a:lnTo>
                  <a:pt x="4481465"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6" name="TextBox 16"/>
          <p:cNvSpPr txBox="1"/>
          <p:nvPr/>
        </p:nvSpPr>
        <p:spPr>
          <a:xfrm>
            <a:off x="1375496" y="3388502"/>
            <a:ext cx="14626504" cy="4411464"/>
          </a:xfrm>
          <a:prstGeom prst="rect">
            <a:avLst/>
          </a:prstGeom>
        </p:spPr>
        <p:txBody>
          <a:bodyPr wrap="square" lIns="0" tIns="0" rIns="0" bIns="0" rtlCol="0" anchor="t">
            <a:spAutoFit/>
          </a:bodyPr>
          <a:lstStyle/>
          <a:p>
            <a:pPr algn="l">
              <a:lnSpc>
                <a:spcPts val="8640"/>
              </a:lnSpc>
            </a:pPr>
            <a:r>
              <a:rPr lang="en-US" sz="7200" b="1" dirty="0">
                <a:solidFill>
                  <a:srgbClr val="16423C"/>
                </a:solidFill>
                <a:latin typeface="Times New Roman" panose="02020603050405020304" pitchFamily="18" charset="0"/>
                <a:ea typeface="Garet Bold"/>
                <a:cs typeface="Times New Roman" panose="02020603050405020304" pitchFamily="18" charset="0"/>
                <a:sym typeface="Garet Bold"/>
              </a:rPr>
              <a:t>AI-Altered Faces in Political Memes: A literature review of visual attention, emotion, and cognitive interpretation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761997" y="-716161"/>
            <a:ext cx="14782796" cy="11498461"/>
            <a:chOff x="-441520" y="-38100"/>
            <a:chExt cx="3893411" cy="3028401"/>
          </a:xfrm>
        </p:grpSpPr>
        <p:sp>
          <p:nvSpPr>
            <p:cNvPr id="5" name="Freeform 5"/>
            <p:cNvSpPr/>
            <p:nvPr/>
          </p:nvSpPr>
          <p:spPr>
            <a:xfrm>
              <a:off x="-441520" y="0"/>
              <a:ext cx="3893411" cy="2990301"/>
            </a:xfrm>
            <a:custGeom>
              <a:avLst/>
              <a:gdLst/>
              <a:ahLst/>
              <a:cxnLst/>
              <a:rect l="l" t="t" r="r" b="b"/>
              <a:pathLst>
                <a:path w="3381418" h="2709333">
                  <a:moveTo>
                    <a:pt x="0" y="0"/>
                  </a:moveTo>
                  <a:lnTo>
                    <a:pt x="3381418" y="0"/>
                  </a:lnTo>
                  <a:lnTo>
                    <a:pt x="3381418" y="2709333"/>
                  </a:lnTo>
                  <a:lnTo>
                    <a:pt x="0" y="2709333"/>
                  </a:lnTo>
                  <a:close/>
                </a:path>
              </a:pathLst>
            </a:custGeom>
            <a:gradFill rotWithShape="1">
              <a:gsLst>
                <a:gs pos="0">
                  <a:srgbClr val="E9EFEC">
                    <a:alpha val="100000"/>
                  </a:srgbClr>
                </a:gs>
                <a:gs pos="50000">
                  <a:srgbClr val="E9EFEC">
                    <a:alpha val="100000"/>
                  </a:srgbClr>
                </a:gs>
                <a:gs pos="100000">
                  <a:srgbClr val="E9EFEC">
                    <a:alpha val="0"/>
                  </a:srgbClr>
                </a:gs>
              </a:gsLst>
              <a:lin ang="0"/>
            </a:gradFill>
          </p:spPr>
        </p:sp>
        <p:sp>
          <p:nvSpPr>
            <p:cNvPr id="6" name="TextBox 6"/>
            <p:cNvSpPr txBox="1"/>
            <p:nvPr/>
          </p:nvSpPr>
          <p:spPr>
            <a:xfrm>
              <a:off x="0" y="-38100"/>
              <a:ext cx="3381418" cy="2747433"/>
            </a:xfrm>
            <a:prstGeom prst="rect">
              <a:avLst/>
            </a:prstGeom>
          </p:spPr>
          <p:txBody>
            <a:bodyPr lIns="50800" tIns="50800" rIns="50800" bIns="50800" rtlCol="0" anchor="ctr"/>
            <a:lstStyle/>
            <a:p>
              <a:pPr algn="ctr">
                <a:lnSpc>
                  <a:spcPts val="2660"/>
                </a:lnSpc>
                <a:spcBef>
                  <a:spcPct val="0"/>
                </a:spcBef>
              </a:pPr>
              <a:endParaRPr/>
            </a:p>
          </p:txBody>
        </p:sp>
      </p:grpSp>
      <p:sp>
        <p:nvSpPr>
          <p:cNvPr id="7" name="Freeform 7"/>
          <p:cNvSpPr/>
          <p:nvPr/>
        </p:nvSpPr>
        <p:spPr>
          <a:xfrm flipV="1">
            <a:off x="15525953" y="7524953"/>
            <a:ext cx="3466694" cy="3466694"/>
          </a:xfrm>
          <a:custGeom>
            <a:avLst/>
            <a:gdLst/>
            <a:ahLst/>
            <a:cxnLst/>
            <a:rect l="l" t="t" r="r" b="b"/>
            <a:pathLst>
              <a:path w="3466694" h="3466694">
                <a:moveTo>
                  <a:pt x="0" y="3466694"/>
                </a:moveTo>
                <a:lnTo>
                  <a:pt x="3466694" y="3466694"/>
                </a:lnTo>
                <a:lnTo>
                  <a:pt x="3466694" y="0"/>
                </a:lnTo>
                <a:lnTo>
                  <a:pt x="0" y="0"/>
                </a:lnTo>
                <a:lnTo>
                  <a:pt x="0" y="3466694"/>
                </a:lnTo>
                <a:close/>
              </a:path>
            </a:pathLst>
          </a:custGeom>
          <a:blipFill>
            <a:blip>
              <a:extLst>
                <a:ext uri="{96DAC541-7B7A-43D3-8B79-37D633B846F1}">
                  <asvg:svgBlip xmlns:asvg="http://schemas.microsoft.com/office/drawing/2016/SVG/main" r:embed="rId3"/>
                </a:ext>
              </a:extLst>
            </a:blip>
            <a:stretch>
              <a:fillRect/>
            </a:stretch>
          </a:blipFill>
        </p:spPr>
      </p:sp>
      <p:sp>
        <p:nvSpPr>
          <p:cNvPr id="14" name="Freeform 14"/>
          <p:cNvSpPr/>
          <p:nvPr/>
        </p:nvSpPr>
        <p:spPr>
          <a:xfrm>
            <a:off x="15139673" y="-1739671"/>
            <a:ext cx="4481465" cy="4114800"/>
          </a:xfrm>
          <a:custGeom>
            <a:avLst/>
            <a:gdLst/>
            <a:ahLst/>
            <a:cxnLst/>
            <a:rect l="l" t="t" r="r" b="b"/>
            <a:pathLst>
              <a:path w="4481465" h="4114800">
                <a:moveTo>
                  <a:pt x="0" y="0"/>
                </a:moveTo>
                <a:lnTo>
                  <a:pt x="4481465" y="0"/>
                </a:lnTo>
                <a:lnTo>
                  <a:pt x="4481465"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6" name="TextBox 16"/>
          <p:cNvSpPr txBox="1"/>
          <p:nvPr/>
        </p:nvSpPr>
        <p:spPr>
          <a:xfrm>
            <a:off x="6172200" y="686552"/>
            <a:ext cx="6253757" cy="1104148"/>
          </a:xfrm>
          <a:prstGeom prst="rect">
            <a:avLst/>
          </a:prstGeom>
        </p:spPr>
        <p:txBody>
          <a:bodyPr lIns="0" tIns="0" rIns="0" bIns="0" rtlCol="0" anchor="t">
            <a:spAutoFit/>
          </a:bodyPr>
          <a:lstStyle/>
          <a:p>
            <a:pPr algn="ctr">
              <a:lnSpc>
                <a:spcPts val="8640"/>
              </a:lnSpc>
            </a:pPr>
            <a:r>
              <a:rPr lang="en-US" sz="7200" b="1" dirty="0">
                <a:solidFill>
                  <a:srgbClr val="16423C"/>
                </a:solidFill>
                <a:latin typeface="Times New Roman" panose="02020603050405020304" pitchFamily="18" charset="0"/>
                <a:ea typeface="Garet Bold"/>
                <a:cs typeface="Times New Roman" panose="02020603050405020304" pitchFamily="18" charset="0"/>
                <a:sym typeface="Garet Bold"/>
              </a:rPr>
              <a:t>Background</a:t>
            </a:r>
          </a:p>
        </p:txBody>
      </p:sp>
      <p:sp>
        <p:nvSpPr>
          <p:cNvPr id="2" name="TextBox 1"/>
          <p:cNvSpPr txBox="1"/>
          <p:nvPr/>
        </p:nvSpPr>
        <p:spPr>
          <a:xfrm>
            <a:off x="-472052" y="2171700"/>
            <a:ext cx="10128446" cy="8129148"/>
          </a:xfrm>
          <a:prstGeom prst="rect">
            <a:avLst/>
          </a:prstGeom>
          <a:noFill/>
        </p:spPr>
        <p:txBody>
          <a:bodyPr wrap="square" rtlCol="0">
            <a:spAutoFit/>
          </a:bodyPr>
          <a:lstStyle/>
          <a:p>
            <a:pPr algn="just">
              <a:lnSpc>
                <a:spcPct val="150000"/>
              </a:lnSpc>
            </a:pPr>
            <a:r>
              <a:rPr lang="en-US" sz="3200" b="1" dirty="0">
                <a:latin typeface="Times New Roman" panose="02020603050405020304" pitchFamily="18" charset="0"/>
                <a:cs typeface="Times New Roman" panose="02020603050405020304" pitchFamily="18" charset="0"/>
              </a:rPr>
              <a:t>Why This Topic Matters</a:t>
            </a:r>
          </a:p>
          <a:p>
            <a:pPr marL="571500" indent="-5715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Political memes combine images, text, </a:t>
            </a:r>
            <a:r>
              <a:rPr lang="en-US" sz="3200" dirty="0" err="1">
                <a:latin typeface="Times New Roman" panose="02020603050405020304" pitchFamily="18" charset="0"/>
                <a:cs typeface="Times New Roman" panose="02020603050405020304" pitchFamily="18" charset="0"/>
              </a:rPr>
              <a:t>humour</a:t>
            </a:r>
            <a:r>
              <a:rPr lang="en-US" sz="3200" dirty="0">
                <a:latin typeface="Times New Roman" panose="02020603050405020304" pitchFamily="18" charset="0"/>
                <a:cs typeface="Times New Roman" panose="02020603050405020304" pitchFamily="18" charset="0"/>
              </a:rPr>
              <a:t> and politics (</a:t>
            </a:r>
            <a:r>
              <a:rPr lang="en-US" sz="3200" dirty="0" err="1">
                <a:latin typeface="Times New Roman" panose="02020603050405020304" pitchFamily="18" charset="0"/>
                <a:cs typeface="Times New Roman" panose="02020603050405020304" pitchFamily="18" charset="0"/>
              </a:rPr>
              <a:t>Pataranutaporn</a:t>
            </a:r>
            <a:r>
              <a:rPr lang="en-US" sz="3200" dirty="0">
                <a:latin typeface="Times New Roman" panose="02020603050405020304" pitchFamily="18" charset="0"/>
                <a:cs typeface="Times New Roman" panose="02020603050405020304" pitchFamily="18" charset="0"/>
              </a:rPr>
              <a:t> et al. 73)</a:t>
            </a:r>
          </a:p>
          <a:p>
            <a:pPr marL="571500" indent="-5715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Faces are highly important social cues </a:t>
            </a:r>
          </a:p>
          <a:p>
            <a:pPr marL="571500" indent="-5715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AI can realistically manipulate facial appearance </a:t>
            </a:r>
          </a:p>
          <a:p>
            <a:pPr marL="571500" indent="-5715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Manipulation may change attention, emotion and interpretation </a:t>
            </a:r>
          </a:p>
          <a:p>
            <a:pPr marL="571500" indent="-5715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Limited research connects these areas directly</a:t>
            </a:r>
          </a:p>
          <a:p>
            <a:pPr algn="just">
              <a:lnSpc>
                <a:spcPct val="150000"/>
              </a:lnSpc>
            </a:pPr>
            <a:endParaRPr lang="en-US" sz="3200" b="1" dirty="0">
              <a:latin typeface="Times New Roman" panose="02020603050405020304" pitchFamily="18" charset="0"/>
              <a:ea typeface="Garet Bold"/>
              <a:cs typeface="Times New Roman" panose="02020603050405020304" pitchFamily="18" charset="0"/>
              <a:sym typeface="Garet Bold"/>
            </a:endParaRPr>
          </a:p>
          <a:p>
            <a:pPr marL="571500" indent="-571500" algn="just">
              <a:lnSpc>
                <a:spcPct val="150000"/>
              </a:lnSpc>
              <a:buFont typeface="Arial" panose="020B0604020202020204" pitchFamily="34" charset="0"/>
              <a:buChar char="•"/>
            </a:pPr>
            <a:endParaRPr lang="en-US" sz="3200" b="1" dirty="0">
              <a:latin typeface="Times New Roman" panose="02020603050405020304" pitchFamily="18" charset="0"/>
              <a:cs typeface="Times New Roman" panose="02020603050405020304" pitchFamily="18" charset="0"/>
            </a:endParaRPr>
          </a:p>
          <a:p>
            <a:pPr marL="571500" indent="-571500" algn="just">
              <a:lnSpc>
                <a:spcPct val="150000"/>
              </a:lnSpc>
              <a:buFont typeface="Arial" panose="020B0604020202020204" pitchFamily="34" charset="0"/>
              <a:buChar char="•"/>
            </a:pPr>
            <a:endParaRPr lang="en-IN" sz="3200" b="1" dirty="0">
              <a:latin typeface="Times New Roman" panose="02020603050405020304" pitchFamily="18" charset="0"/>
              <a:cs typeface="Times New Roman" panose="02020603050405020304" pitchFamily="18" charset="0"/>
            </a:endParaRPr>
          </a:p>
        </p:txBody>
      </p:sp>
      <p:pic>
        <p:nvPicPr>
          <p:cNvPr id="3" name="Picture 2" descr="AI-Enabled Influence Operations: Safeguarding Future Elections | Centre for  Emerging Technology and Security"/>
          <p:cNvPicPr>
            <a:picLocks noChangeAspect="1"/>
          </p:cNvPicPr>
          <p:nvPr/>
        </p:nvPicPr>
        <p:blipFill>
          <a:blip r:embed="rId5"/>
          <a:stretch>
            <a:fillRect/>
          </a:stretch>
        </p:blipFill>
        <p:spPr>
          <a:xfrm>
            <a:off x="10309365" y="2533827"/>
            <a:ext cx="7422868" cy="55677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p:cNvGrpSpPr/>
        <p:nvPr/>
      </p:nvGrpSpPr>
      <p:grpSpPr>
        <a:xfrm>
          <a:off x="0" y="0"/>
          <a:ext cx="0" cy="0"/>
          <a:chOff x="0" y="0"/>
          <a:chExt cx="0" cy="0"/>
        </a:xfrm>
      </p:grpSpPr>
      <p:sp>
        <p:nvSpPr>
          <p:cNvPr id="2" name="Freeform 2"/>
          <p:cNvSpPr/>
          <p:nvPr/>
        </p:nvSpPr>
        <p:spPr>
          <a:xfrm>
            <a:off x="-749185" y="8608533"/>
            <a:ext cx="4972501" cy="4086492"/>
          </a:xfrm>
          <a:custGeom>
            <a:avLst/>
            <a:gdLst/>
            <a:ahLst/>
            <a:cxnLst/>
            <a:rect l="l" t="t" r="r" b="b"/>
            <a:pathLst>
              <a:path w="4972501" h="4086492">
                <a:moveTo>
                  <a:pt x="0" y="0"/>
                </a:moveTo>
                <a:lnTo>
                  <a:pt x="4972501" y="0"/>
                </a:lnTo>
                <a:lnTo>
                  <a:pt x="4972501" y="4086493"/>
                </a:lnTo>
                <a:lnTo>
                  <a:pt x="0" y="408649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9"/>
          <p:cNvSpPr/>
          <p:nvPr/>
        </p:nvSpPr>
        <p:spPr>
          <a:xfrm flipH="1" flipV="1">
            <a:off x="-457200" y="-591671"/>
            <a:ext cx="2437983" cy="2437983"/>
          </a:xfrm>
          <a:custGeom>
            <a:avLst/>
            <a:gdLst/>
            <a:ahLst/>
            <a:cxnLst/>
            <a:rect l="l" t="t" r="r" b="b"/>
            <a:pathLst>
              <a:path w="2437983" h="2437983">
                <a:moveTo>
                  <a:pt x="2437983" y="2437983"/>
                </a:moveTo>
                <a:lnTo>
                  <a:pt x="0" y="2437983"/>
                </a:lnTo>
                <a:lnTo>
                  <a:pt x="0" y="0"/>
                </a:lnTo>
                <a:lnTo>
                  <a:pt x="2437983" y="0"/>
                </a:lnTo>
                <a:lnTo>
                  <a:pt x="2437983" y="2437983"/>
                </a:lnTo>
                <a:close/>
              </a:path>
            </a:pathLst>
          </a:custGeom>
          <a:blipFill>
            <a:blip>
              <a:extLst>
                <a:ext uri="{96DAC541-7B7A-43D3-8B79-37D633B846F1}">
                  <asvg:svgBlip xmlns:asvg="http://schemas.microsoft.com/office/drawing/2016/SVG/main" r:embed="rId4"/>
                </a:ext>
              </a:extLst>
            </a:blip>
            <a:stretch>
              <a:fillRect/>
            </a:stretch>
          </a:blipFill>
        </p:spPr>
      </p:sp>
      <p:sp>
        <p:nvSpPr>
          <p:cNvPr id="10" name="Freeform 10"/>
          <p:cNvSpPr/>
          <p:nvPr/>
        </p:nvSpPr>
        <p:spPr>
          <a:xfrm>
            <a:off x="16851728" y="8850728"/>
            <a:ext cx="1436272" cy="1436272"/>
          </a:xfrm>
          <a:custGeom>
            <a:avLst/>
            <a:gdLst/>
            <a:ahLst/>
            <a:cxnLst/>
            <a:rect l="l" t="t" r="r" b="b"/>
            <a:pathLst>
              <a:path w="1436272" h="1436272">
                <a:moveTo>
                  <a:pt x="0" y="0"/>
                </a:moveTo>
                <a:lnTo>
                  <a:pt x="1436272" y="0"/>
                </a:lnTo>
                <a:lnTo>
                  <a:pt x="1436272" y="1436272"/>
                </a:lnTo>
                <a:lnTo>
                  <a:pt x="0" y="1436272"/>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11" name="Group 11"/>
          <p:cNvGrpSpPr/>
          <p:nvPr/>
        </p:nvGrpSpPr>
        <p:grpSpPr>
          <a:xfrm>
            <a:off x="7543800" y="3255112"/>
            <a:ext cx="10439400" cy="6632123"/>
            <a:chOff x="0" y="0"/>
            <a:chExt cx="2375799" cy="601595"/>
          </a:xfrm>
        </p:grpSpPr>
        <p:sp>
          <p:nvSpPr>
            <p:cNvPr id="12" name="Freeform 12"/>
            <p:cNvSpPr/>
            <p:nvPr/>
          </p:nvSpPr>
          <p:spPr>
            <a:xfrm>
              <a:off x="0" y="0"/>
              <a:ext cx="2375799" cy="601595"/>
            </a:xfrm>
            <a:custGeom>
              <a:avLst/>
              <a:gdLst/>
              <a:ahLst/>
              <a:cxnLst/>
              <a:rect l="l" t="t" r="r" b="b"/>
              <a:pathLst>
                <a:path w="2375799" h="601595">
                  <a:moveTo>
                    <a:pt x="17165" y="0"/>
                  </a:moveTo>
                  <a:lnTo>
                    <a:pt x="2358634" y="0"/>
                  </a:lnTo>
                  <a:cubicBezTo>
                    <a:pt x="2363186" y="0"/>
                    <a:pt x="2367552" y="1808"/>
                    <a:pt x="2370772" y="5027"/>
                  </a:cubicBezTo>
                  <a:cubicBezTo>
                    <a:pt x="2373991" y="8247"/>
                    <a:pt x="2375799" y="12613"/>
                    <a:pt x="2375799" y="17165"/>
                  </a:cubicBezTo>
                  <a:lnTo>
                    <a:pt x="2375799" y="584430"/>
                  </a:lnTo>
                  <a:cubicBezTo>
                    <a:pt x="2375799" y="588983"/>
                    <a:pt x="2373991" y="593349"/>
                    <a:pt x="2370772" y="596568"/>
                  </a:cubicBezTo>
                  <a:cubicBezTo>
                    <a:pt x="2367552" y="599787"/>
                    <a:pt x="2363186" y="601595"/>
                    <a:pt x="2358634" y="601595"/>
                  </a:cubicBezTo>
                  <a:lnTo>
                    <a:pt x="17165" y="601595"/>
                  </a:lnTo>
                  <a:cubicBezTo>
                    <a:pt x="12613" y="601595"/>
                    <a:pt x="8247" y="599787"/>
                    <a:pt x="5027" y="596568"/>
                  </a:cubicBezTo>
                  <a:cubicBezTo>
                    <a:pt x="1808" y="593349"/>
                    <a:pt x="0" y="588983"/>
                    <a:pt x="0" y="584430"/>
                  </a:cubicBezTo>
                  <a:lnTo>
                    <a:pt x="0" y="17165"/>
                  </a:lnTo>
                  <a:cubicBezTo>
                    <a:pt x="0" y="12613"/>
                    <a:pt x="1808" y="8247"/>
                    <a:pt x="5027" y="5027"/>
                  </a:cubicBezTo>
                  <a:cubicBezTo>
                    <a:pt x="8247" y="1808"/>
                    <a:pt x="12613" y="0"/>
                    <a:pt x="17165" y="0"/>
                  </a:cubicBezTo>
                  <a:close/>
                </a:path>
              </a:pathLst>
            </a:custGeom>
            <a:gradFill rotWithShape="1">
              <a:gsLst>
                <a:gs pos="0">
                  <a:srgbClr val="C4DAD2">
                    <a:alpha val="100000"/>
                  </a:srgbClr>
                </a:gs>
                <a:gs pos="100000">
                  <a:srgbClr val="E9EFEC">
                    <a:alpha val="100000"/>
                  </a:srgbClr>
                </a:gs>
              </a:gsLst>
              <a:lin ang="0"/>
            </a:gradFill>
          </p:spPr>
        </p:sp>
        <p:sp>
          <p:nvSpPr>
            <p:cNvPr id="13" name="TextBox 13"/>
            <p:cNvSpPr txBox="1"/>
            <p:nvPr/>
          </p:nvSpPr>
          <p:spPr>
            <a:xfrm>
              <a:off x="0" y="-38100"/>
              <a:ext cx="2375799" cy="639695"/>
            </a:xfrm>
            <a:prstGeom prst="rect">
              <a:avLst/>
            </a:prstGeom>
          </p:spPr>
          <p:txBody>
            <a:bodyPr lIns="50800" tIns="50800" rIns="50800" bIns="50800" rtlCol="0" anchor="ctr"/>
            <a:lstStyle/>
            <a:p>
              <a:pPr algn="ctr">
                <a:lnSpc>
                  <a:spcPts val="2660"/>
                </a:lnSpc>
                <a:spcBef>
                  <a:spcPct val="0"/>
                </a:spcBef>
              </a:pPr>
              <a:endParaRPr sz="2800"/>
            </a:p>
          </p:txBody>
        </p:sp>
      </p:grpSp>
      <p:sp>
        <p:nvSpPr>
          <p:cNvPr id="18" name="TextBox 18"/>
          <p:cNvSpPr txBox="1"/>
          <p:nvPr/>
        </p:nvSpPr>
        <p:spPr>
          <a:xfrm>
            <a:off x="10826164" y="1352587"/>
            <a:ext cx="6743700" cy="932948"/>
          </a:xfrm>
          <a:prstGeom prst="rect">
            <a:avLst/>
          </a:prstGeom>
        </p:spPr>
        <p:txBody>
          <a:bodyPr wrap="square" lIns="0" tIns="0" rIns="0" bIns="0" rtlCol="0" anchor="t">
            <a:spAutoFit/>
          </a:bodyPr>
          <a:lstStyle/>
          <a:p>
            <a:pPr algn="l">
              <a:lnSpc>
                <a:spcPts val="7680"/>
              </a:lnSpc>
            </a:pPr>
            <a:r>
              <a:rPr lang="en-US" sz="6400" b="1" dirty="0">
                <a:solidFill>
                  <a:srgbClr val="16423C"/>
                </a:solidFill>
                <a:latin typeface="Times New Roman" panose="02020603050405020304" pitchFamily="18" charset="0"/>
                <a:ea typeface="Garet Bold"/>
                <a:cs typeface="Times New Roman" panose="02020603050405020304" pitchFamily="18" charset="0"/>
                <a:sym typeface="Garet Bold"/>
              </a:rPr>
              <a:t>Research Problem</a:t>
            </a:r>
          </a:p>
        </p:txBody>
      </p:sp>
      <p:sp>
        <p:nvSpPr>
          <p:cNvPr id="21" name="Rectangle 20"/>
          <p:cNvSpPr/>
          <p:nvPr/>
        </p:nvSpPr>
        <p:spPr>
          <a:xfrm>
            <a:off x="8458200" y="3311977"/>
            <a:ext cx="9111664" cy="5509200"/>
          </a:xfrm>
          <a:prstGeom prst="rect">
            <a:avLst/>
          </a:prstGeom>
        </p:spPr>
        <p:txBody>
          <a:bodyPr wrap="square">
            <a:spAutoFit/>
          </a:bodyPr>
          <a:lstStyle/>
          <a:p>
            <a:pPr lvl="0" algn="just">
              <a:lnSpc>
                <a:spcPct val="150000"/>
              </a:lnSpc>
            </a:pPr>
            <a:r>
              <a:rPr lang="en-US" sz="3200" b="1" dirty="0">
                <a:latin typeface="Times New Roman" panose="02020603050405020304" pitchFamily="18" charset="0"/>
                <a:cs typeface="Times New Roman" panose="02020603050405020304" pitchFamily="18" charset="0"/>
              </a:rPr>
              <a:t>Existing research examines:</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Face perception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Emotional facial processing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Visual attention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Political memes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AI-generated political images </a:t>
            </a:r>
          </a:p>
          <a:p>
            <a:pPr marL="285750" lvl="0" indent="-285750" algn="just">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But: Few studies examine AI-altered faces specifically within political memes (Islam et al. </a:t>
            </a:r>
            <a:r>
              <a:rPr lang="en-IN" sz="3200" dirty="0"/>
              <a:t>47</a:t>
            </a:r>
            <a:r>
              <a:rPr lang="en-US" sz="3200" dirty="0">
                <a:latin typeface="Times New Roman" panose="02020603050405020304" pitchFamily="18" charset="0"/>
                <a:cs typeface="Times New Roman" panose="02020603050405020304" pitchFamily="18" charset="0"/>
              </a:rPr>
              <a:t>).</a:t>
            </a:r>
          </a:p>
        </p:txBody>
      </p:sp>
      <p:pic>
        <p:nvPicPr>
          <p:cNvPr id="3" name="Picture 2" descr="Ensuring a human-centered, responsible, and critical use of AI in... |  Download Scientific Diagram"/>
          <p:cNvPicPr>
            <a:picLocks noChangeAspect="1"/>
          </p:cNvPicPr>
          <p:nvPr/>
        </p:nvPicPr>
        <p:blipFill>
          <a:blip r:embed="rId6"/>
          <a:stretch>
            <a:fillRect/>
          </a:stretch>
        </p:blipFill>
        <p:spPr>
          <a:xfrm>
            <a:off x="563880" y="3289117"/>
            <a:ext cx="6292264" cy="623620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p:cNvGrpSpPr/>
        <p:nvPr/>
      </p:nvGrpSpPr>
      <p:grpSpPr>
        <a:xfrm>
          <a:off x="0" y="0"/>
          <a:ext cx="0" cy="0"/>
          <a:chOff x="0" y="0"/>
          <a:chExt cx="0" cy="0"/>
        </a:xfrm>
      </p:grpSpPr>
      <p:grpSp>
        <p:nvGrpSpPr>
          <p:cNvPr id="2" name="Group 2"/>
          <p:cNvGrpSpPr/>
          <p:nvPr/>
        </p:nvGrpSpPr>
        <p:grpSpPr>
          <a:xfrm>
            <a:off x="7696200" y="2400300"/>
            <a:ext cx="9906001" cy="6553199"/>
            <a:chOff x="0" y="0"/>
            <a:chExt cx="3255608" cy="433237"/>
          </a:xfrm>
        </p:grpSpPr>
        <p:sp>
          <p:nvSpPr>
            <p:cNvPr id="3" name="Freeform 3"/>
            <p:cNvSpPr/>
            <p:nvPr/>
          </p:nvSpPr>
          <p:spPr>
            <a:xfrm>
              <a:off x="0" y="0"/>
              <a:ext cx="3255608" cy="433237"/>
            </a:xfrm>
            <a:custGeom>
              <a:avLst/>
              <a:gdLst/>
              <a:ahLst/>
              <a:cxnLst/>
              <a:rect l="l" t="t" r="r" b="b"/>
              <a:pathLst>
                <a:path w="3255608" h="433237">
                  <a:moveTo>
                    <a:pt x="12526" y="0"/>
                  </a:moveTo>
                  <a:lnTo>
                    <a:pt x="3243082" y="0"/>
                  </a:lnTo>
                  <a:cubicBezTo>
                    <a:pt x="3246404" y="0"/>
                    <a:pt x="3249590" y="1320"/>
                    <a:pt x="3251939" y="3669"/>
                  </a:cubicBezTo>
                  <a:cubicBezTo>
                    <a:pt x="3254288" y="6018"/>
                    <a:pt x="3255608" y="9204"/>
                    <a:pt x="3255608" y="12526"/>
                  </a:cubicBezTo>
                  <a:lnTo>
                    <a:pt x="3255608" y="420710"/>
                  </a:lnTo>
                  <a:cubicBezTo>
                    <a:pt x="3255608" y="427628"/>
                    <a:pt x="3250000" y="433237"/>
                    <a:pt x="3243082" y="433237"/>
                  </a:cubicBezTo>
                  <a:lnTo>
                    <a:pt x="12526" y="433237"/>
                  </a:lnTo>
                  <a:cubicBezTo>
                    <a:pt x="5608" y="433237"/>
                    <a:pt x="0" y="427628"/>
                    <a:pt x="0" y="420710"/>
                  </a:cubicBezTo>
                  <a:lnTo>
                    <a:pt x="0" y="12526"/>
                  </a:lnTo>
                  <a:cubicBezTo>
                    <a:pt x="0" y="5608"/>
                    <a:pt x="5608" y="0"/>
                    <a:pt x="12526" y="0"/>
                  </a:cubicBezTo>
                  <a:close/>
                </a:path>
              </a:pathLst>
            </a:custGeom>
            <a:gradFill rotWithShape="1">
              <a:gsLst>
                <a:gs pos="0">
                  <a:srgbClr val="C4DAD2">
                    <a:alpha val="100000"/>
                  </a:srgbClr>
                </a:gs>
                <a:gs pos="50000">
                  <a:srgbClr val="E9EFEC">
                    <a:alpha val="100000"/>
                  </a:srgbClr>
                </a:gs>
                <a:gs pos="100000">
                  <a:srgbClr val="C4DAD2">
                    <a:alpha val="100000"/>
                  </a:srgbClr>
                </a:gs>
              </a:gsLst>
              <a:lin ang="0"/>
            </a:gradFill>
          </p:spPr>
        </p:sp>
        <p:sp>
          <p:nvSpPr>
            <p:cNvPr id="4" name="TextBox 4"/>
            <p:cNvSpPr txBox="1"/>
            <p:nvPr/>
          </p:nvSpPr>
          <p:spPr>
            <a:xfrm>
              <a:off x="0" y="-38100"/>
              <a:ext cx="3255608" cy="471337"/>
            </a:xfrm>
            <a:prstGeom prst="rect">
              <a:avLst/>
            </a:prstGeom>
          </p:spPr>
          <p:txBody>
            <a:bodyPr lIns="50800" tIns="50800" rIns="50800" bIns="50800" rtlCol="0" anchor="ctr"/>
            <a:lstStyle/>
            <a:p>
              <a:pPr algn="ctr">
                <a:lnSpc>
                  <a:spcPts val="2660"/>
                </a:lnSpc>
                <a:spcBef>
                  <a:spcPct val="0"/>
                </a:spcBef>
              </a:pPr>
              <a:endParaRPr sz="2000"/>
            </a:p>
          </p:txBody>
        </p:sp>
      </p:grpSp>
      <p:sp>
        <p:nvSpPr>
          <p:cNvPr id="14" name="Freeform 14"/>
          <p:cNvSpPr/>
          <p:nvPr/>
        </p:nvSpPr>
        <p:spPr>
          <a:xfrm flipV="1">
            <a:off x="-1559883" y="7277100"/>
            <a:ext cx="3119767" cy="4114800"/>
          </a:xfrm>
          <a:custGeom>
            <a:avLst/>
            <a:gdLst/>
            <a:ahLst/>
            <a:cxnLst/>
            <a:rect l="l" t="t" r="r" b="b"/>
            <a:pathLst>
              <a:path w="3119767" h="4114800">
                <a:moveTo>
                  <a:pt x="0" y="4114800"/>
                </a:moveTo>
                <a:lnTo>
                  <a:pt x="3119766" y="4114800"/>
                </a:lnTo>
                <a:lnTo>
                  <a:pt x="3119766" y="0"/>
                </a:lnTo>
                <a:lnTo>
                  <a:pt x="0" y="0"/>
                </a:lnTo>
                <a:lnTo>
                  <a:pt x="0"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15" name="Freeform 15"/>
          <p:cNvSpPr/>
          <p:nvPr/>
        </p:nvSpPr>
        <p:spPr>
          <a:xfrm flipV="1">
            <a:off x="16724743" y="7358338"/>
            <a:ext cx="3119767" cy="4114800"/>
          </a:xfrm>
          <a:custGeom>
            <a:avLst/>
            <a:gdLst/>
            <a:ahLst/>
            <a:cxnLst/>
            <a:rect l="l" t="t" r="r" b="b"/>
            <a:pathLst>
              <a:path w="3119767" h="4114800">
                <a:moveTo>
                  <a:pt x="0" y="4114800"/>
                </a:moveTo>
                <a:lnTo>
                  <a:pt x="3119767" y="4114800"/>
                </a:lnTo>
                <a:lnTo>
                  <a:pt x="3119767" y="0"/>
                </a:lnTo>
                <a:lnTo>
                  <a:pt x="0" y="0"/>
                </a:lnTo>
                <a:lnTo>
                  <a:pt x="0"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18" name="TextBox 18"/>
          <p:cNvSpPr txBox="1"/>
          <p:nvPr/>
        </p:nvSpPr>
        <p:spPr>
          <a:xfrm>
            <a:off x="1752600" y="351865"/>
            <a:ext cx="15080810" cy="920958"/>
          </a:xfrm>
          <a:prstGeom prst="rect">
            <a:avLst/>
          </a:prstGeom>
        </p:spPr>
        <p:txBody>
          <a:bodyPr wrap="square" lIns="0" tIns="0" rIns="0" bIns="0" rtlCol="0" anchor="t">
            <a:spAutoFit/>
          </a:bodyPr>
          <a:lstStyle/>
          <a:p>
            <a:pPr algn="ctr">
              <a:lnSpc>
                <a:spcPts val="7680"/>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Main Research Question</a:t>
            </a:r>
          </a:p>
        </p:txBody>
      </p:sp>
      <p:sp>
        <p:nvSpPr>
          <p:cNvPr id="20" name="Rectangle 19"/>
          <p:cNvSpPr/>
          <p:nvPr/>
        </p:nvSpPr>
        <p:spPr>
          <a:xfrm>
            <a:off x="7924800" y="2609977"/>
            <a:ext cx="9340996" cy="6247864"/>
          </a:xfrm>
          <a:prstGeom prst="rect">
            <a:avLst/>
          </a:prstGeom>
        </p:spPr>
        <p:txBody>
          <a:bodyPr wrap="square">
            <a:spAutoFit/>
          </a:bodyPr>
          <a:lstStyle/>
          <a:p>
            <a:pPr>
              <a:lnSpc>
                <a:spcPct val="150000"/>
              </a:lnSpc>
            </a:pPr>
            <a:r>
              <a:rPr lang="en-IN" sz="3200" b="1" dirty="0">
                <a:latin typeface="Times New Roman" panose="02020603050405020304" pitchFamily="18" charset="0"/>
                <a:cs typeface="Times New Roman" panose="02020603050405020304" pitchFamily="18" charset="0"/>
              </a:rPr>
              <a:t>Main Research Question</a:t>
            </a:r>
          </a:p>
          <a:p>
            <a:pPr>
              <a:lnSpc>
                <a:spcPct val="150000"/>
              </a:lnSpc>
            </a:pPr>
            <a:r>
              <a:rPr lang="en-IN" sz="3200" dirty="0">
                <a:latin typeface="Times New Roman" panose="02020603050405020304" pitchFamily="18" charset="0"/>
                <a:cs typeface="Times New Roman" panose="02020603050405020304" pitchFamily="18" charset="0"/>
              </a:rPr>
              <a:t>How do AI-altered facial images in political memes influence viewers' cognitive processing and interpretation?</a:t>
            </a:r>
          </a:p>
          <a:p>
            <a:pPr>
              <a:lnSpc>
                <a:spcPct val="150000"/>
              </a:lnSpc>
            </a:pPr>
            <a:r>
              <a:rPr lang="en-IN" sz="3200" b="1" dirty="0">
                <a:latin typeface="Times New Roman" panose="02020603050405020304" pitchFamily="18" charset="0"/>
                <a:cs typeface="Times New Roman" panose="02020603050405020304" pitchFamily="18" charset="0"/>
              </a:rPr>
              <a:t>Focus:</a:t>
            </a:r>
          </a:p>
          <a:p>
            <a:r>
              <a:rPr lang="en-IN" sz="3200" dirty="0">
                <a:latin typeface="Times New Roman" panose="02020603050405020304" pitchFamily="18" charset="0"/>
                <a:cs typeface="Times New Roman" panose="02020603050405020304" pitchFamily="18" charset="0"/>
              </a:rPr>
              <a:t>AI-altered face</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Attention + Emotion</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Cognitive interpretation</a:t>
            </a:r>
          </a:p>
        </p:txBody>
      </p:sp>
      <p:sp>
        <p:nvSpPr>
          <p:cNvPr id="22" name="Freeform 14"/>
          <p:cNvSpPr/>
          <p:nvPr/>
        </p:nvSpPr>
        <p:spPr>
          <a:xfrm>
            <a:off x="16047267" y="-1409700"/>
            <a:ext cx="4481465" cy="4114800"/>
          </a:xfrm>
          <a:custGeom>
            <a:avLst/>
            <a:gdLst/>
            <a:ahLst/>
            <a:cxnLst/>
            <a:rect l="l" t="t" r="r" b="b"/>
            <a:pathLst>
              <a:path w="4481465" h="4114800">
                <a:moveTo>
                  <a:pt x="0" y="0"/>
                </a:moveTo>
                <a:lnTo>
                  <a:pt x="4481465" y="0"/>
                </a:lnTo>
                <a:lnTo>
                  <a:pt x="4481465"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pic>
        <p:nvPicPr>
          <p:cNvPr id="5" name="Picture 4" descr="How to Use AI to Change Facial Expressions in Photos"/>
          <p:cNvPicPr>
            <a:picLocks noChangeAspect="1"/>
          </p:cNvPicPr>
          <p:nvPr/>
        </p:nvPicPr>
        <p:blipFill>
          <a:blip r:embed="rId5"/>
          <a:stretch>
            <a:fillRect/>
          </a:stretch>
        </p:blipFill>
        <p:spPr>
          <a:xfrm>
            <a:off x="1559884" y="1787022"/>
            <a:ext cx="5377751" cy="806662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p:cNvGrpSpPr/>
        <p:nvPr/>
      </p:nvGrpSpPr>
      <p:grpSpPr>
        <a:xfrm>
          <a:off x="0" y="0"/>
          <a:ext cx="0" cy="0"/>
          <a:chOff x="0" y="0"/>
          <a:chExt cx="0" cy="0"/>
        </a:xfrm>
      </p:grpSpPr>
      <p:sp>
        <p:nvSpPr>
          <p:cNvPr id="2" name="Freeform 2"/>
          <p:cNvSpPr/>
          <p:nvPr/>
        </p:nvSpPr>
        <p:spPr>
          <a:xfrm>
            <a:off x="-1559883" y="-1028700"/>
            <a:ext cx="3119767" cy="4114800"/>
          </a:xfrm>
          <a:custGeom>
            <a:avLst/>
            <a:gdLst/>
            <a:ahLst/>
            <a:cxnLst/>
            <a:rect l="l" t="t" r="r" b="b"/>
            <a:pathLst>
              <a:path w="3119767" h="4114800">
                <a:moveTo>
                  <a:pt x="0" y="0"/>
                </a:moveTo>
                <a:lnTo>
                  <a:pt x="3119766" y="0"/>
                </a:lnTo>
                <a:lnTo>
                  <a:pt x="3119766"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4" name="Group 14"/>
          <p:cNvGrpSpPr/>
          <p:nvPr/>
        </p:nvGrpSpPr>
        <p:grpSpPr>
          <a:xfrm>
            <a:off x="534900" y="2660075"/>
            <a:ext cx="8547654" cy="7176651"/>
            <a:chOff x="0" y="0"/>
            <a:chExt cx="1017199" cy="805259"/>
          </a:xfrm>
        </p:grpSpPr>
        <p:sp>
          <p:nvSpPr>
            <p:cNvPr id="15" name="Freeform 15"/>
            <p:cNvSpPr/>
            <p:nvPr/>
          </p:nvSpPr>
          <p:spPr>
            <a:xfrm>
              <a:off x="0" y="0"/>
              <a:ext cx="1017199" cy="805259"/>
            </a:xfrm>
            <a:custGeom>
              <a:avLst/>
              <a:gdLst/>
              <a:ahLst/>
              <a:cxnLst/>
              <a:rect l="l" t="t" r="r" b="b"/>
              <a:pathLst>
                <a:path w="1017199" h="805259">
                  <a:moveTo>
                    <a:pt x="1017199" y="70161"/>
                  </a:moveTo>
                  <a:lnTo>
                    <a:pt x="1017199" y="735098"/>
                  </a:lnTo>
                  <a:cubicBezTo>
                    <a:pt x="1017199" y="753706"/>
                    <a:pt x="1009807" y="771551"/>
                    <a:pt x="996649" y="784709"/>
                  </a:cubicBezTo>
                  <a:cubicBezTo>
                    <a:pt x="983492" y="797867"/>
                    <a:pt x="965646" y="805259"/>
                    <a:pt x="947038" y="805259"/>
                  </a:cubicBezTo>
                  <a:lnTo>
                    <a:pt x="70161" y="805259"/>
                  </a:lnTo>
                  <a:cubicBezTo>
                    <a:pt x="51553" y="805259"/>
                    <a:pt x="33707" y="797867"/>
                    <a:pt x="20550" y="784709"/>
                  </a:cubicBezTo>
                  <a:cubicBezTo>
                    <a:pt x="7392" y="771551"/>
                    <a:pt x="0" y="753706"/>
                    <a:pt x="0" y="735098"/>
                  </a:cubicBezTo>
                  <a:lnTo>
                    <a:pt x="0" y="70161"/>
                  </a:lnTo>
                  <a:cubicBezTo>
                    <a:pt x="0" y="51553"/>
                    <a:pt x="7392" y="33707"/>
                    <a:pt x="20550" y="20550"/>
                  </a:cubicBezTo>
                  <a:cubicBezTo>
                    <a:pt x="33707" y="7392"/>
                    <a:pt x="51553" y="0"/>
                    <a:pt x="70161" y="0"/>
                  </a:cubicBezTo>
                  <a:lnTo>
                    <a:pt x="947038" y="0"/>
                  </a:lnTo>
                  <a:cubicBezTo>
                    <a:pt x="965646" y="0"/>
                    <a:pt x="983492" y="7392"/>
                    <a:pt x="996649" y="20550"/>
                  </a:cubicBezTo>
                  <a:cubicBezTo>
                    <a:pt x="1009807" y="33707"/>
                    <a:pt x="1017199" y="51553"/>
                    <a:pt x="1017199" y="70161"/>
                  </a:cubicBezTo>
                  <a:close/>
                </a:path>
              </a:pathLst>
            </a:custGeom>
            <a:solidFill>
              <a:srgbClr val="16423C"/>
            </a:solidFill>
          </p:spPr>
        </p:sp>
        <p:sp>
          <p:nvSpPr>
            <p:cNvPr id="16" name="TextBox 16"/>
            <p:cNvSpPr txBox="1"/>
            <p:nvPr/>
          </p:nvSpPr>
          <p:spPr>
            <a:xfrm>
              <a:off x="0" y="-57150"/>
              <a:ext cx="1017199" cy="862409"/>
            </a:xfrm>
            <a:prstGeom prst="rect">
              <a:avLst/>
            </a:prstGeom>
          </p:spPr>
          <p:txBody>
            <a:bodyPr lIns="50800" tIns="50800" rIns="50800" bIns="50800" rtlCol="0" anchor="ctr"/>
            <a:lstStyle/>
            <a:p>
              <a:pPr algn="ctr">
                <a:lnSpc>
                  <a:spcPts val="3305"/>
                </a:lnSpc>
              </a:pPr>
              <a:endParaRPr/>
            </a:p>
          </p:txBody>
        </p:sp>
      </p:grpSp>
      <p:sp>
        <p:nvSpPr>
          <p:cNvPr id="28" name="TextBox 28"/>
          <p:cNvSpPr txBox="1"/>
          <p:nvPr/>
        </p:nvSpPr>
        <p:spPr>
          <a:xfrm>
            <a:off x="2286000" y="876300"/>
            <a:ext cx="7094703" cy="897682"/>
          </a:xfrm>
          <a:prstGeom prst="rect">
            <a:avLst/>
          </a:prstGeom>
        </p:spPr>
        <p:txBody>
          <a:bodyPr wrap="square" lIns="0" tIns="0" rIns="0" bIns="0" rtlCol="0" anchor="t">
            <a:spAutoFit/>
          </a:bodyPr>
          <a:lstStyle/>
          <a:p>
            <a:pPr marL="0" lvl="0" indent="0" algn="l">
              <a:lnSpc>
                <a:spcPts val="7040"/>
              </a:lnSpc>
              <a:spcBef>
                <a:spcPct val="0"/>
              </a:spcBef>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Research Questions</a:t>
            </a:r>
          </a:p>
        </p:txBody>
      </p:sp>
      <p:sp>
        <p:nvSpPr>
          <p:cNvPr id="35" name="Rectangle 34"/>
          <p:cNvSpPr/>
          <p:nvPr/>
        </p:nvSpPr>
        <p:spPr>
          <a:xfrm>
            <a:off x="1110917" y="2758879"/>
            <a:ext cx="7331453" cy="5913157"/>
          </a:xfrm>
          <a:prstGeom prst="rect">
            <a:avLst/>
          </a:prstGeom>
        </p:spPr>
        <p:txBody>
          <a:bodyPr wrap="square">
            <a:spAutoFit/>
          </a:bodyPr>
          <a:lstStyle/>
          <a:p>
            <a:pPr lvl="0" algn="just">
              <a:lnSpc>
                <a:spcPct val="150000"/>
              </a:lnSpc>
            </a:pPr>
            <a:r>
              <a:rPr lang="en-US" sz="3200" dirty="0">
                <a:solidFill>
                  <a:schemeClr val="bg1"/>
                </a:solidFill>
                <a:latin typeface="Times New Roman" panose="02020603050405020304" pitchFamily="18" charset="0"/>
                <a:cs typeface="Times New Roman" panose="02020603050405020304" pitchFamily="18" charset="0"/>
              </a:rPr>
              <a:t>Detailed Research Questions</a:t>
            </a:r>
          </a:p>
          <a:p>
            <a:pPr marL="285750" lvl="0" indent="-285750" algn="just">
              <a:lnSpc>
                <a:spcPct val="100000"/>
              </a:lnSpc>
              <a:buFont typeface="Arial" panose="020B0604020202020204" pitchFamily="34" charset="0"/>
              <a:buChar char="•"/>
            </a:pPr>
            <a:r>
              <a:rPr lang="en-US" sz="3200" dirty="0">
                <a:solidFill>
                  <a:schemeClr val="bg1"/>
                </a:solidFill>
                <a:latin typeface="Times New Roman" panose="02020603050405020304" pitchFamily="18" charset="0"/>
                <a:cs typeface="Times New Roman" panose="02020603050405020304" pitchFamily="18" charset="0"/>
              </a:rPr>
              <a:t>RQ1: How do AI-altered facial images in political memes influence viewers' cognitive processing and interpretation?</a:t>
            </a:r>
          </a:p>
          <a:p>
            <a:pPr marL="285750" lvl="0" indent="-285750" algn="just">
              <a:lnSpc>
                <a:spcPct val="150000"/>
              </a:lnSpc>
              <a:buFont typeface="Arial" panose="020B0604020202020204" pitchFamily="34" charset="0"/>
              <a:buChar char="•"/>
            </a:pPr>
            <a:r>
              <a:rPr lang="en-US" sz="3200" dirty="0">
                <a:solidFill>
                  <a:schemeClr val="bg1"/>
                </a:solidFill>
                <a:latin typeface="Times New Roman" panose="02020603050405020304" pitchFamily="18" charset="0"/>
                <a:cs typeface="Times New Roman" panose="02020603050405020304" pitchFamily="18" charset="0"/>
              </a:rPr>
              <a:t>RQ2: How might AI-altered faces affect visual attention?</a:t>
            </a:r>
          </a:p>
          <a:p>
            <a:pPr marL="285750" lvl="0" indent="-285750" algn="just">
              <a:lnSpc>
                <a:spcPct val="150000"/>
              </a:lnSpc>
              <a:buFont typeface="Arial" panose="020B0604020202020204" pitchFamily="34" charset="0"/>
              <a:buChar char="•"/>
            </a:pPr>
            <a:r>
              <a:rPr lang="en-US" sz="3200" dirty="0">
                <a:solidFill>
                  <a:schemeClr val="bg1"/>
                </a:solidFill>
                <a:latin typeface="Times New Roman" panose="02020603050405020304" pitchFamily="18" charset="0"/>
                <a:cs typeface="Times New Roman" panose="02020603050405020304" pitchFamily="18" charset="0"/>
              </a:rPr>
              <a:t>RQ3: How might manipulated expressions influence emotional responses?</a:t>
            </a:r>
            <a:endParaRPr lang="en-IN" sz="3200" dirty="0">
              <a:solidFill>
                <a:schemeClr val="bg1"/>
              </a:solidFill>
              <a:latin typeface="Times New Roman" panose="02020603050405020304" pitchFamily="18" charset="0"/>
              <a:cs typeface="Times New Roman" panose="02020603050405020304" pitchFamily="18" charset="0"/>
            </a:endParaRPr>
          </a:p>
        </p:txBody>
      </p:sp>
      <p:pic>
        <p:nvPicPr>
          <p:cNvPr id="3" name="Picture 2" descr="How to Use AI to Change Facial Expressions in Photos"/>
          <p:cNvPicPr>
            <a:picLocks noChangeAspect="1"/>
          </p:cNvPicPr>
          <p:nvPr/>
        </p:nvPicPr>
        <p:blipFill>
          <a:blip r:embed="rId4"/>
          <a:stretch>
            <a:fillRect/>
          </a:stretch>
        </p:blipFill>
        <p:spPr>
          <a:xfrm>
            <a:off x="9321496" y="3086100"/>
            <a:ext cx="8650971" cy="576731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p:cNvGrpSpPr/>
        <p:nvPr/>
      </p:nvGrpSpPr>
      <p:grpSpPr>
        <a:xfrm>
          <a:off x="0" y="0"/>
          <a:ext cx="0" cy="0"/>
          <a:chOff x="0" y="0"/>
          <a:chExt cx="0" cy="0"/>
        </a:xfrm>
      </p:grpSpPr>
      <p:sp>
        <p:nvSpPr>
          <p:cNvPr id="6" name="Freeform 6"/>
          <p:cNvSpPr/>
          <p:nvPr/>
        </p:nvSpPr>
        <p:spPr>
          <a:xfrm flipV="1">
            <a:off x="14389909" y="7353300"/>
            <a:ext cx="4722782" cy="6229088"/>
          </a:xfrm>
          <a:custGeom>
            <a:avLst/>
            <a:gdLst/>
            <a:ahLst/>
            <a:cxnLst/>
            <a:rect l="l" t="t" r="r" b="b"/>
            <a:pathLst>
              <a:path w="4722782" h="6229088">
                <a:moveTo>
                  <a:pt x="0" y="6229088"/>
                </a:moveTo>
                <a:lnTo>
                  <a:pt x="4722782" y="6229088"/>
                </a:lnTo>
                <a:lnTo>
                  <a:pt x="4722782" y="0"/>
                </a:lnTo>
                <a:lnTo>
                  <a:pt x="0" y="0"/>
                </a:lnTo>
                <a:lnTo>
                  <a:pt x="0" y="6229088"/>
                </a:lnTo>
                <a:close/>
              </a:path>
            </a:pathLst>
          </a:custGeom>
          <a:blipFill>
            <a:blip>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1219201" y="2552700"/>
            <a:ext cx="12954001" cy="6705600"/>
            <a:chOff x="0" y="0"/>
            <a:chExt cx="2375799" cy="601595"/>
          </a:xfrm>
        </p:grpSpPr>
        <p:sp>
          <p:nvSpPr>
            <p:cNvPr id="10" name="Freeform 10"/>
            <p:cNvSpPr/>
            <p:nvPr/>
          </p:nvSpPr>
          <p:spPr>
            <a:xfrm>
              <a:off x="0" y="0"/>
              <a:ext cx="2375799" cy="601595"/>
            </a:xfrm>
            <a:custGeom>
              <a:avLst/>
              <a:gdLst/>
              <a:ahLst/>
              <a:cxnLst/>
              <a:rect l="l" t="t" r="r" b="b"/>
              <a:pathLst>
                <a:path w="2375799" h="601595">
                  <a:moveTo>
                    <a:pt x="17165" y="0"/>
                  </a:moveTo>
                  <a:lnTo>
                    <a:pt x="2358634" y="0"/>
                  </a:lnTo>
                  <a:cubicBezTo>
                    <a:pt x="2363186" y="0"/>
                    <a:pt x="2367552" y="1808"/>
                    <a:pt x="2370772" y="5027"/>
                  </a:cubicBezTo>
                  <a:cubicBezTo>
                    <a:pt x="2373991" y="8247"/>
                    <a:pt x="2375799" y="12613"/>
                    <a:pt x="2375799" y="17165"/>
                  </a:cubicBezTo>
                  <a:lnTo>
                    <a:pt x="2375799" y="584430"/>
                  </a:lnTo>
                  <a:cubicBezTo>
                    <a:pt x="2375799" y="588983"/>
                    <a:pt x="2373991" y="593349"/>
                    <a:pt x="2370772" y="596568"/>
                  </a:cubicBezTo>
                  <a:cubicBezTo>
                    <a:pt x="2367552" y="599787"/>
                    <a:pt x="2363186" y="601595"/>
                    <a:pt x="2358634" y="601595"/>
                  </a:cubicBezTo>
                  <a:lnTo>
                    <a:pt x="17165" y="601595"/>
                  </a:lnTo>
                  <a:cubicBezTo>
                    <a:pt x="12613" y="601595"/>
                    <a:pt x="8247" y="599787"/>
                    <a:pt x="5027" y="596568"/>
                  </a:cubicBezTo>
                  <a:cubicBezTo>
                    <a:pt x="1808" y="593349"/>
                    <a:pt x="0" y="588983"/>
                    <a:pt x="0" y="584430"/>
                  </a:cubicBezTo>
                  <a:lnTo>
                    <a:pt x="0" y="17165"/>
                  </a:lnTo>
                  <a:cubicBezTo>
                    <a:pt x="0" y="12613"/>
                    <a:pt x="1808" y="8247"/>
                    <a:pt x="5027" y="5027"/>
                  </a:cubicBezTo>
                  <a:cubicBezTo>
                    <a:pt x="8247" y="1808"/>
                    <a:pt x="12613" y="0"/>
                    <a:pt x="17165" y="0"/>
                  </a:cubicBezTo>
                  <a:close/>
                </a:path>
              </a:pathLst>
            </a:custGeom>
            <a:gradFill rotWithShape="1">
              <a:gsLst>
                <a:gs pos="0">
                  <a:srgbClr val="E9EFEC">
                    <a:alpha val="100000"/>
                  </a:srgbClr>
                </a:gs>
                <a:gs pos="100000">
                  <a:srgbClr val="C4DAD2">
                    <a:alpha val="100000"/>
                  </a:srgbClr>
                </a:gs>
              </a:gsLst>
              <a:lin ang="0"/>
            </a:gradFill>
          </p:spPr>
        </p:sp>
        <p:sp>
          <p:nvSpPr>
            <p:cNvPr id="11" name="TextBox 11"/>
            <p:cNvSpPr txBox="1"/>
            <p:nvPr/>
          </p:nvSpPr>
          <p:spPr>
            <a:xfrm>
              <a:off x="0" y="-38100"/>
              <a:ext cx="2375799" cy="639695"/>
            </a:xfrm>
            <a:prstGeom prst="rect">
              <a:avLst/>
            </a:prstGeom>
          </p:spPr>
          <p:txBody>
            <a:bodyPr lIns="50800" tIns="50800" rIns="50800" bIns="50800" rtlCol="0" anchor="ctr"/>
            <a:lstStyle/>
            <a:p>
              <a:pPr algn="ctr">
                <a:lnSpc>
                  <a:spcPts val="2660"/>
                </a:lnSpc>
                <a:spcBef>
                  <a:spcPct val="0"/>
                </a:spcBef>
              </a:pPr>
              <a:endParaRPr/>
            </a:p>
          </p:txBody>
        </p:sp>
      </p:grpSp>
      <p:sp>
        <p:nvSpPr>
          <p:cNvPr id="16" name="Freeform 16"/>
          <p:cNvSpPr/>
          <p:nvPr/>
        </p:nvSpPr>
        <p:spPr>
          <a:xfrm>
            <a:off x="16571028" y="0"/>
            <a:ext cx="1716972" cy="1716972"/>
          </a:xfrm>
          <a:custGeom>
            <a:avLst/>
            <a:gdLst/>
            <a:ahLst/>
            <a:cxnLst/>
            <a:rect l="l" t="t" r="r" b="b"/>
            <a:pathLst>
              <a:path w="1716972" h="1716972">
                <a:moveTo>
                  <a:pt x="0" y="0"/>
                </a:moveTo>
                <a:lnTo>
                  <a:pt x="1716972" y="0"/>
                </a:lnTo>
                <a:lnTo>
                  <a:pt x="1716972" y="1716972"/>
                </a:lnTo>
                <a:lnTo>
                  <a:pt x="0" y="171697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7" name="TextBox 17"/>
          <p:cNvSpPr txBox="1"/>
          <p:nvPr/>
        </p:nvSpPr>
        <p:spPr>
          <a:xfrm>
            <a:off x="813546" y="654539"/>
            <a:ext cx="12140453" cy="920958"/>
          </a:xfrm>
          <a:prstGeom prst="rect">
            <a:avLst/>
          </a:prstGeom>
        </p:spPr>
        <p:txBody>
          <a:bodyPr wrap="square" lIns="0" tIns="0" rIns="0" bIns="0" rtlCol="0" anchor="t">
            <a:spAutoFit/>
          </a:bodyPr>
          <a:lstStyle/>
          <a:p>
            <a:pPr algn="l">
              <a:lnSpc>
                <a:spcPts val="7680"/>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Aim &amp; Objectives</a:t>
            </a:r>
          </a:p>
        </p:txBody>
      </p:sp>
      <p:sp>
        <p:nvSpPr>
          <p:cNvPr id="20" name="Rectangle 19"/>
          <p:cNvSpPr/>
          <p:nvPr/>
        </p:nvSpPr>
        <p:spPr>
          <a:xfrm>
            <a:off x="581524" y="2777234"/>
            <a:ext cx="10924676" cy="6478184"/>
          </a:xfrm>
          <a:prstGeom prst="rect">
            <a:avLst/>
          </a:prstGeom>
        </p:spPr>
        <p:txBody>
          <a:bodyPr wrap="square">
            <a:spAutoFit/>
          </a:bodyPr>
          <a:lstStyle/>
          <a:p>
            <a:pPr lvl="0" algn="just">
              <a:lnSpc>
                <a:spcPct val="150000"/>
              </a:lnSpc>
            </a:pPr>
            <a:r>
              <a:rPr lang="en-US" sz="2800" b="1" dirty="0">
                <a:latin typeface="Times New Roman" panose="02020603050405020304" pitchFamily="18" charset="0"/>
                <a:cs typeface="Times New Roman" panose="02020603050405020304" pitchFamily="18" charset="0"/>
              </a:rPr>
              <a:t>Research Aim: </a:t>
            </a:r>
            <a:r>
              <a:rPr lang="en-US" sz="2800" dirty="0">
                <a:latin typeface="Times New Roman" panose="02020603050405020304" pitchFamily="18" charset="0"/>
                <a:cs typeface="Times New Roman" panose="02020603050405020304" pitchFamily="18" charset="0"/>
              </a:rPr>
              <a:t>To critically examine how AI-altered facial images in political memes influence viewers' facial perception, visual attention, emotional responses, and cognitive interpretation.</a:t>
            </a:r>
          </a:p>
          <a:p>
            <a:pPr lvl="0" algn="just">
              <a:lnSpc>
                <a:spcPct val="150000"/>
              </a:lnSpc>
            </a:pPr>
            <a:r>
              <a:rPr lang="en-US" sz="2800" b="1" dirty="0">
                <a:latin typeface="Times New Roman" panose="02020603050405020304" pitchFamily="18" charset="0"/>
                <a:cs typeface="Times New Roman" panose="02020603050405020304" pitchFamily="18" charset="0"/>
              </a:rPr>
              <a:t>Research Objectives</a:t>
            </a:r>
          </a:p>
          <a:p>
            <a:pPr marL="285750" lvl="0" indent="-28575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examine how AI-altered facial images in political memes influence viewers’ cognitive processing and interpretation of political content. </a:t>
            </a:r>
          </a:p>
          <a:p>
            <a:pPr marL="285750" lvl="0" indent="-28575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investigate how AI-altered facial features and faces affect viewers’ visual attention when viewing political memes. </a:t>
            </a:r>
          </a:p>
          <a:p>
            <a:pPr marL="285750" lvl="0" indent="-28575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evaluate how manipulated facial expressions in political memes influence viewers’ emotional responses.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p:cNvGrpSpPr/>
        <p:nvPr/>
      </p:nvGrpSpPr>
      <p:grpSpPr>
        <a:xfrm>
          <a:off x="0" y="0"/>
          <a:ext cx="0" cy="0"/>
          <a:chOff x="0" y="0"/>
          <a:chExt cx="0" cy="0"/>
        </a:xfrm>
      </p:grpSpPr>
      <p:grpSp>
        <p:nvGrpSpPr>
          <p:cNvPr id="2" name="Group 2"/>
          <p:cNvGrpSpPr/>
          <p:nvPr/>
        </p:nvGrpSpPr>
        <p:grpSpPr>
          <a:xfrm>
            <a:off x="7924800" y="2583488"/>
            <a:ext cx="11306612" cy="7055812"/>
            <a:chOff x="0" y="0"/>
            <a:chExt cx="2375799" cy="584885"/>
          </a:xfrm>
        </p:grpSpPr>
        <p:sp>
          <p:nvSpPr>
            <p:cNvPr id="3" name="Freeform 3"/>
            <p:cNvSpPr/>
            <p:nvPr/>
          </p:nvSpPr>
          <p:spPr>
            <a:xfrm>
              <a:off x="0" y="0"/>
              <a:ext cx="2375799" cy="584885"/>
            </a:xfrm>
            <a:custGeom>
              <a:avLst/>
              <a:gdLst/>
              <a:ahLst/>
              <a:cxnLst/>
              <a:rect l="l" t="t" r="r" b="b"/>
              <a:pathLst>
                <a:path w="2375799" h="584885">
                  <a:moveTo>
                    <a:pt x="17165" y="0"/>
                  </a:moveTo>
                  <a:lnTo>
                    <a:pt x="2358634" y="0"/>
                  </a:lnTo>
                  <a:cubicBezTo>
                    <a:pt x="2363186" y="0"/>
                    <a:pt x="2367552" y="1808"/>
                    <a:pt x="2370772" y="5027"/>
                  </a:cubicBezTo>
                  <a:cubicBezTo>
                    <a:pt x="2373991" y="8247"/>
                    <a:pt x="2375799" y="12613"/>
                    <a:pt x="2375799" y="17165"/>
                  </a:cubicBezTo>
                  <a:lnTo>
                    <a:pt x="2375799" y="567720"/>
                  </a:lnTo>
                  <a:cubicBezTo>
                    <a:pt x="2375799" y="572273"/>
                    <a:pt x="2373991" y="576639"/>
                    <a:pt x="2370772" y="579858"/>
                  </a:cubicBezTo>
                  <a:cubicBezTo>
                    <a:pt x="2367552" y="583077"/>
                    <a:pt x="2363186" y="584885"/>
                    <a:pt x="2358634" y="584885"/>
                  </a:cubicBezTo>
                  <a:lnTo>
                    <a:pt x="17165" y="584885"/>
                  </a:lnTo>
                  <a:cubicBezTo>
                    <a:pt x="12613" y="584885"/>
                    <a:pt x="8247" y="583077"/>
                    <a:pt x="5027" y="579858"/>
                  </a:cubicBezTo>
                  <a:cubicBezTo>
                    <a:pt x="1808" y="576639"/>
                    <a:pt x="0" y="572273"/>
                    <a:pt x="0" y="567720"/>
                  </a:cubicBezTo>
                  <a:lnTo>
                    <a:pt x="0" y="17165"/>
                  </a:lnTo>
                  <a:cubicBezTo>
                    <a:pt x="0" y="12613"/>
                    <a:pt x="1808" y="8247"/>
                    <a:pt x="5027" y="5027"/>
                  </a:cubicBezTo>
                  <a:cubicBezTo>
                    <a:pt x="8247" y="1808"/>
                    <a:pt x="12613" y="0"/>
                    <a:pt x="17165" y="0"/>
                  </a:cubicBezTo>
                  <a:close/>
                </a:path>
              </a:pathLst>
            </a:custGeom>
            <a:gradFill rotWithShape="1">
              <a:gsLst>
                <a:gs pos="0">
                  <a:srgbClr val="C4DAD2">
                    <a:alpha val="100000"/>
                  </a:srgbClr>
                </a:gs>
                <a:gs pos="100000">
                  <a:srgbClr val="E9EFEC">
                    <a:alpha val="100000"/>
                  </a:srgbClr>
                </a:gs>
              </a:gsLst>
              <a:lin ang="0"/>
            </a:gradFill>
          </p:spPr>
        </p:sp>
        <p:sp>
          <p:nvSpPr>
            <p:cNvPr id="4" name="TextBox 4"/>
            <p:cNvSpPr txBox="1"/>
            <p:nvPr/>
          </p:nvSpPr>
          <p:spPr>
            <a:xfrm>
              <a:off x="0" y="-38100"/>
              <a:ext cx="2375799" cy="622985"/>
            </a:xfrm>
            <a:prstGeom prst="rect">
              <a:avLst/>
            </a:prstGeom>
          </p:spPr>
          <p:txBody>
            <a:bodyPr lIns="50800" tIns="50800" rIns="50800" bIns="50800" rtlCol="0" anchor="ctr"/>
            <a:lstStyle/>
            <a:p>
              <a:pPr algn="ctr">
                <a:lnSpc>
                  <a:spcPts val="2660"/>
                </a:lnSpc>
                <a:spcBef>
                  <a:spcPct val="0"/>
                </a:spcBef>
              </a:pPr>
              <a:endParaRPr/>
            </a:p>
          </p:txBody>
        </p:sp>
      </p:grpSp>
      <p:sp>
        <p:nvSpPr>
          <p:cNvPr id="5" name="Freeform 5"/>
          <p:cNvSpPr/>
          <p:nvPr/>
        </p:nvSpPr>
        <p:spPr>
          <a:xfrm flipV="1">
            <a:off x="-1811702" y="7172456"/>
            <a:ext cx="4722782" cy="6229088"/>
          </a:xfrm>
          <a:custGeom>
            <a:avLst/>
            <a:gdLst/>
            <a:ahLst/>
            <a:cxnLst/>
            <a:rect l="l" t="t" r="r" b="b"/>
            <a:pathLst>
              <a:path w="4722782" h="6229088">
                <a:moveTo>
                  <a:pt x="0" y="6229088"/>
                </a:moveTo>
                <a:lnTo>
                  <a:pt x="4722781" y="6229088"/>
                </a:lnTo>
                <a:lnTo>
                  <a:pt x="4722781" y="0"/>
                </a:lnTo>
                <a:lnTo>
                  <a:pt x="0" y="0"/>
                </a:lnTo>
                <a:lnTo>
                  <a:pt x="0" y="6229088"/>
                </a:lnTo>
                <a:close/>
              </a:path>
            </a:pathLst>
          </a:custGeom>
          <a:blipFill>
            <a:blip>
              <a:extLst>
                <a:ext uri="{96DAC541-7B7A-43D3-8B79-37D633B846F1}">
                  <asvg:svgBlip xmlns:asvg="http://schemas.microsoft.com/office/drawing/2016/SVG/main" r:embed="rId3"/>
                </a:ext>
              </a:extLst>
            </a:blip>
            <a:stretch>
              <a:fillRect/>
            </a:stretch>
          </a:blipFill>
        </p:spPr>
      </p:sp>
      <p:sp>
        <p:nvSpPr>
          <p:cNvPr id="14" name="TextBox 14"/>
          <p:cNvSpPr txBox="1"/>
          <p:nvPr/>
        </p:nvSpPr>
        <p:spPr>
          <a:xfrm>
            <a:off x="13168176" y="292015"/>
            <a:ext cx="5879212" cy="1328709"/>
          </a:xfrm>
          <a:prstGeom prst="rect">
            <a:avLst/>
          </a:prstGeom>
        </p:spPr>
        <p:txBody>
          <a:bodyPr lIns="50800" tIns="50800" rIns="50800" bIns="50800" rtlCol="0" anchor="ctr"/>
          <a:lstStyle/>
          <a:p>
            <a:pPr algn="ctr">
              <a:lnSpc>
                <a:spcPts val="2660"/>
              </a:lnSpc>
              <a:spcBef>
                <a:spcPct val="0"/>
              </a:spcBef>
            </a:pPr>
            <a:endParaRPr/>
          </a:p>
        </p:txBody>
      </p:sp>
      <p:sp>
        <p:nvSpPr>
          <p:cNvPr id="16" name="Freeform 16"/>
          <p:cNvSpPr/>
          <p:nvPr/>
        </p:nvSpPr>
        <p:spPr>
          <a:xfrm flipH="1" flipV="1">
            <a:off x="-373582" y="-272884"/>
            <a:ext cx="1846543" cy="1846543"/>
          </a:xfrm>
          <a:custGeom>
            <a:avLst/>
            <a:gdLst/>
            <a:ahLst/>
            <a:cxnLst/>
            <a:rect l="l" t="t" r="r" b="b"/>
            <a:pathLst>
              <a:path w="1846543" h="1846543">
                <a:moveTo>
                  <a:pt x="1846543" y="1846543"/>
                </a:moveTo>
                <a:lnTo>
                  <a:pt x="0" y="1846543"/>
                </a:lnTo>
                <a:lnTo>
                  <a:pt x="0" y="0"/>
                </a:lnTo>
                <a:lnTo>
                  <a:pt x="1846543" y="0"/>
                </a:lnTo>
                <a:lnTo>
                  <a:pt x="1846543" y="1846543"/>
                </a:lnTo>
                <a:close/>
              </a:path>
            </a:pathLst>
          </a:custGeom>
          <a:blipFill>
            <a:blip>
              <a:extLst>
                <a:ext uri="{96DAC541-7B7A-43D3-8B79-37D633B846F1}">
                  <asvg:svgBlip xmlns:asvg="http://schemas.microsoft.com/office/drawing/2016/SVG/main" r:embed="rId4"/>
                </a:ext>
              </a:extLst>
            </a:blip>
            <a:stretch>
              <a:fillRect/>
            </a:stretch>
          </a:blipFill>
        </p:spPr>
      </p:sp>
      <p:sp>
        <p:nvSpPr>
          <p:cNvPr id="17" name="TextBox 17"/>
          <p:cNvSpPr txBox="1"/>
          <p:nvPr/>
        </p:nvSpPr>
        <p:spPr>
          <a:xfrm>
            <a:off x="9296400" y="291604"/>
            <a:ext cx="8133915" cy="1908408"/>
          </a:xfrm>
          <a:prstGeom prst="rect">
            <a:avLst/>
          </a:prstGeom>
        </p:spPr>
        <p:txBody>
          <a:bodyPr wrap="square" lIns="0" tIns="0" rIns="0" bIns="0" rtlCol="0" anchor="t">
            <a:spAutoFit/>
          </a:bodyPr>
          <a:lstStyle/>
          <a:p>
            <a:pPr algn="l">
              <a:lnSpc>
                <a:spcPts val="7680"/>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Facial Perception and Interpretation</a:t>
            </a:r>
          </a:p>
        </p:txBody>
      </p:sp>
      <p:sp>
        <p:nvSpPr>
          <p:cNvPr id="20" name="Rectangle 19"/>
          <p:cNvSpPr/>
          <p:nvPr/>
        </p:nvSpPr>
        <p:spPr>
          <a:xfrm>
            <a:off x="8270631" y="2604003"/>
            <a:ext cx="9007284" cy="5913157"/>
          </a:xfrm>
          <a:prstGeom prst="rect">
            <a:avLst/>
          </a:prstGeom>
        </p:spPr>
        <p:txBody>
          <a:bodyPr wrap="square">
            <a:spAutoFit/>
          </a:bodyPr>
          <a:lstStyle/>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Faces provide important identity and emotional information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Human perception processes faces as social stimuli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Facial features influence subsequent cognitive judgements (</a:t>
            </a:r>
            <a:r>
              <a:rPr lang="en-US" sz="3200" dirty="0" err="1">
                <a:latin typeface="Times New Roman" panose="02020603050405020304" pitchFamily="18" charset="0"/>
                <a:cs typeface="Times New Roman" panose="02020603050405020304" pitchFamily="18" charset="0"/>
              </a:rPr>
              <a:t>Scarpazza</a:t>
            </a:r>
            <a:r>
              <a:rPr lang="en-US" sz="3200" dirty="0">
                <a:latin typeface="Times New Roman" panose="02020603050405020304" pitchFamily="18" charset="0"/>
                <a:cs typeface="Times New Roman" panose="02020603050405020304" pitchFamily="18" charset="0"/>
              </a:rPr>
              <a:t> et al. 89)</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Expressions communicate important affective information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AI can alter these perceptual signals</a:t>
            </a:r>
          </a:p>
        </p:txBody>
      </p:sp>
      <p:pic>
        <p:nvPicPr>
          <p:cNvPr id="6" name="Picture 5" descr="The cognitive model of face-processing proposed by Bruce and Young (1986).  | Download Scientific Diagram"/>
          <p:cNvPicPr>
            <a:picLocks noChangeAspect="1"/>
          </p:cNvPicPr>
          <p:nvPr/>
        </p:nvPicPr>
        <p:blipFill>
          <a:blip r:embed="rId5"/>
          <a:stretch>
            <a:fillRect/>
          </a:stretch>
        </p:blipFill>
        <p:spPr>
          <a:xfrm>
            <a:off x="1040565" y="2583488"/>
            <a:ext cx="6289012" cy="640258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p:cNvGrpSpPr/>
        <p:nvPr/>
      </p:nvGrpSpPr>
      <p:grpSpPr>
        <a:xfrm>
          <a:off x="0" y="0"/>
          <a:ext cx="0" cy="0"/>
          <a:chOff x="0" y="0"/>
          <a:chExt cx="0" cy="0"/>
        </a:xfrm>
      </p:grpSpPr>
      <p:grpSp>
        <p:nvGrpSpPr>
          <p:cNvPr id="2" name="Group 2"/>
          <p:cNvGrpSpPr/>
          <p:nvPr/>
        </p:nvGrpSpPr>
        <p:grpSpPr>
          <a:xfrm>
            <a:off x="292622" y="2864607"/>
            <a:ext cx="10451578" cy="5860293"/>
            <a:chOff x="0" y="0"/>
            <a:chExt cx="3255608" cy="433237"/>
          </a:xfrm>
        </p:grpSpPr>
        <p:sp>
          <p:nvSpPr>
            <p:cNvPr id="3" name="Freeform 3"/>
            <p:cNvSpPr/>
            <p:nvPr/>
          </p:nvSpPr>
          <p:spPr>
            <a:xfrm>
              <a:off x="0" y="0"/>
              <a:ext cx="3255608" cy="433237"/>
            </a:xfrm>
            <a:custGeom>
              <a:avLst/>
              <a:gdLst/>
              <a:ahLst/>
              <a:cxnLst/>
              <a:rect l="l" t="t" r="r" b="b"/>
              <a:pathLst>
                <a:path w="3255608" h="433237">
                  <a:moveTo>
                    <a:pt x="12526" y="0"/>
                  </a:moveTo>
                  <a:lnTo>
                    <a:pt x="3243082" y="0"/>
                  </a:lnTo>
                  <a:cubicBezTo>
                    <a:pt x="3246404" y="0"/>
                    <a:pt x="3249590" y="1320"/>
                    <a:pt x="3251939" y="3669"/>
                  </a:cubicBezTo>
                  <a:cubicBezTo>
                    <a:pt x="3254288" y="6018"/>
                    <a:pt x="3255608" y="9204"/>
                    <a:pt x="3255608" y="12526"/>
                  </a:cubicBezTo>
                  <a:lnTo>
                    <a:pt x="3255608" y="420710"/>
                  </a:lnTo>
                  <a:cubicBezTo>
                    <a:pt x="3255608" y="427628"/>
                    <a:pt x="3250000" y="433237"/>
                    <a:pt x="3243082" y="433237"/>
                  </a:cubicBezTo>
                  <a:lnTo>
                    <a:pt x="12526" y="433237"/>
                  </a:lnTo>
                  <a:cubicBezTo>
                    <a:pt x="5608" y="433237"/>
                    <a:pt x="0" y="427628"/>
                    <a:pt x="0" y="420710"/>
                  </a:cubicBezTo>
                  <a:lnTo>
                    <a:pt x="0" y="12526"/>
                  </a:lnTo>
                  <a:cubicBezTo>
                    <a:pt x="0" y="5608"/>
                    <a:pt x="5608" y="0"/>
                    <a:pt x="12526" y="0"/>
                  </a:cubicBezTo>
                  <a:close/>
                </a:path>
              </a:pathLst>
            </a:custGeom>
            <a:gradFill rotWithShape="1">
              <a:gsLst>
                <a:gs pos="0">
                  <a:srgbClr val="C4DAD2">
                    <a:alpha val="100000"/>
                  </a:srgbClr>
                </a:gs>
                <a:gs pos="50000">
                  <a:srgbClr val="E9EFEC">
                    <a:alpha val="100000"/>
                  </a:srgbClr>
                </a:gs>
                <a:gs pos="100000">
                  <a:srgbClr val="C4DAD2">
                    <a:alpha val="100000"/>
                  </a:srgbClr>
                </a:gs>
              </a:gsLst>
              <a:lin ang="0"/>
            </a:gradFill>
          </p:spPr>
        </p:sp>
        <p:sp>
          <p:nvSpPr>
            <p:cNvPr id="4" name="TextBox 4"/>
            <p:cNvSpPr txBox="1"/>
            <p:nvPr/>
          </p:nvSpPr>
          <p:spPr>
            <a:xfrm>
              <a:off x="0" y="-38100"/>
              <a:ext cx="3255608" cy="471337"/>
            </a:xfrm>
            <a:prstGeom prst="rect">
              <a:avLst/>
            </a:prstGeom>
          </p:spPr>
          <p:txBody>
            <a:bodyPr lIns="50800" tIns="50800" rIns="50800" bIns="50800" rtlCol="0" anchor="ctr"/>
            <a:lstStyle/>
            <a:p>
              <a:pPr algn="ctr">
                <a:lnSpc>
                  <a:spcPts val="2660"/>
                </a:lnSpc>
                <a:spcBef>
                  <a:spcPct val="0"/>
                </a:spcBef>
              </a:pPr>
              <a:endParaRPr/>
            </a:p>
          </p:txBody>
        </p:sp>
      </p:grpSp>
      <p:sp>
        <p:nvSpPr>
          <p:cNvPr id="15" name="Freeform 15"/>
          <p:cNvSpPr/>
          <p:nvPr/>
        </p:nvSpPr>
        <p:spPr>
          <a:xfrm>
            <a:off x="16625075" y="7613355"/>
            <a:ext cx="2669015" cy="2669015"/>
          </a:xfrm>
          <a:custGeom>
            <a:avLst/>
            <a:gdLst/>
            <a:ahLst/>
            <a:cxnLst/>
            <a:rect l="l" t="t" r="r" b="b"/>
            <a:pathLst>
              <a:path w="2669015" h="2669015">
                <a:moveTo>
                  <a:pt x="0" y="0"/>
                </a:moveTo>
                <a:lnTo>
                  <a:pt x="2669015" y="0"/>
                </a:lnTo>
                <a:lnTo>
                  <a:pt x="2669015" y="2669015"/>
                </a:lnTo>
                <a:lnTo>
                  <a:pt x="0" y="266901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6" name="Freeform 16"/>
          <p:cNvSpPr/>
          <p:nvPr/>
        </p:nvSpPr>
        <p:spPr>
          <a:xfrm flipH="1">
            <a:off x="-1010509" y="7613355"/>
            <a:ext cx="2669015" cy="2669015"/>
          </a:xfrm>
          <a:custGeom>
            <a:avLst/>
            <a:gdLst/>
            <a:ahLst/>
            <a:cxnLst/>
            <a:rect l="l" t="t" r="r" b="b"/>
            <a:pathLst>
              <a:path w="2669015" h="2669015">
                <a:moveTo>
                  <a:pt x="2669016" y="0"/>
                </a:moveTo>
                <a:lnTo>
                  <a:pt x="0" y="0"/>
                </a:lnTo>
                <a:lnTo>
                  <a:pt x="0" y="2669015"/>
                </a:lnTo>
                <a:lnTo>
                  <a:pt x="2669016" y="2669015"/>
                </a:lnTo>
                <a:lnTo>
                  <a:pt x="2669016" y="0"/>
                </a:lnTo>
                <a:close/>
              </a:path>
            </a:pathLst>
          </a:custGeom>
          <a:blipFill>
            <a:blip>
              <a:extLst>
                <a:ext uri="{96DAC541-7B7A-43D3-8B79-37D633B846F1}">
                  <asvg:svgBlip xmlns:asvg="http://schemas.microsoft.com/office/drawing/2016/SVG/main" r:embed="rId3"/>
                </a:ext>
              </a:extLst>
            </a:blip>
            <a:stretch>
              <a:fillRect/>
            </a:stretch>
          </a:blipFill>
        </p:spPr>
      </p:sp>
      <p:sp>
        <p:nvSpPr>
          <p:cNvPr id="18" name="TextBox 18"/>
          <p:cNvSpPr txBox="1"/>
          <p:nvPr/>
        </p:nvSpPr>
        <p:spPr>
          <a:xfrm>
            <a:off x="2819400" y="1028700"/>
            <a:ext cx="13380592" cy="923330"/>
          </a:xfrm>
          <a:prstGeom prst="rect">
            <a:avLst/>
          </a:prstGeom>
        </p:spPr>
        <p:txBody>
          <a:bodyPr lIns="0" tIns="0" rIns="0" bIns="0" rtlCol="0" anchor="t">
            <a:spAutoFit/>
          </a:bodyPr>
          <a:lstStyle/>
          <a:p>
            <a:pPr algn="ctr">
              <a:lnSpc>
                <a:spcPts val="7205"/>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Visual Attention and Salience</a:t>
            </a:r>
          </a:p>
        </p:txBody>
      </p:sp>
      <p:sp>
        <p:nvSpPr>
          <p:cNvPr id="20" name="Rectangle 19"/>
          <p:cNvSpPr/>
          <p:nvPr/>
        </p:nvSpPr>
        <p:spPr>
          <a:xfrm>
            <a:off x="1256292" y="3081311"/>
            <a:ext cx="9144000" cy="4435830"/>
          </a:xfrm>
          <a:prstGeom prst="rect">
            <a:avLst/>
          </a:prstGeom>
        </p:spPr>
        <p:txBody>
          <a:bodyPr>
            <a:spAutoFit/>
          </a:bodyPr>
          <a:lstStyle/>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Faces are generally highly salient visual stimuli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Emotional cues can influence attentional processing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Attention depends upon context and task relevance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AI manipulation may increase facial visual salience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Attention does not necessarily produce political persuasion (Lande et al. 125).</a:t>
            </a:r>
          </a:p>
        </p:txBody>
      </p:sp>
      <p:pic>
        <p:nvPicPr>
          <p:cNvPr id="5" name="Picture 4" descr="Frontiers | Integrating media content analysis, reception analysis, and  media effects studies"/>
          <p:cNvPicPr>
            <a:picLocks noChangeAspect="1"/>
          </p:cNvPicPr>
          <p:nvPr/>
        </p:nvPicPr>
        <p:blipFill>
          <a:blip r:embed="rId4"/>
          <a:stretch>
            <a:fillRect/>
          </a:stretch>
        </p:blipFill>
        <p:spPr>
          <a:xfrm>
            <a:off x="11707870" y="2673645"/>
            <a:ext cx="6203681" cy="544124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p:cNvGrpSpPr/>
        <p:nvPr/>
      </p:nvGrpSpPr>
      <p:grpSpPr>
        <a:xfrm>
          <a:off x="0" y="0"/>
          <a:ext cx="0" cy="0"/>
          <a:chOff x="0" y="0"/>
          <a:chExt cx="0" cy="0"/>
        </a:xfrm>
      </p:grpSpPr>
      <p:grpSp>
        <p:nvGrpSpPr>
          <p:cNvPr id="2" name="Group 2"/>
          <p:cNvGrpSpPr/>
          <p:nvPr/>
        </p:nvGrpSpPr>
        <p:grpSpPr>
          <a:xfrm>
            <a:off x="292622" y="2933701"/>
            <a:ext cx="11442178" cy="6522756"/>
            <a:chOff x="0" y="0"/>
            <a:chExt cx="3255608" cy="433237"/>
          </a:xfrm>
        </p:grpSpPr>
        <p:sp>
          <p:nvSpPr>
            <p:cNvPr id="3" name="Freeform 3"/>
            <p:cNvSpPr/>
            <p:nvPr/>
          </p:nvSpPr>
          <p:spPr>
            <a:xfrm>
              <a:off x="0" y="0"/>
              <a:ext cx="3255608" cy="433237"/>
            </a:xfrm>
            <a:custGeom>
              <a:avLst/>
              <a:gdLst/>
              <a:ahLst/>
              <a:cxnLst/>
              <a:rect l="l" t="t" r="r" b="b"/>
              <a:pathLst>
                <a:path w="3255608" h="433237">
                  <a:moveTo>
                    <a:pt x="12526" y="0"/>
                  </a:moveTo>
                  <a:lnTo>
                    <a:pt x="3243082" y="0"/>
                  </a:lnTo>
                  <a:cubicBezTo>
                    <a:pt x="3246404" y="0"/>
                    <a:pt x="3249590" y="1320"/>
                    <a:pt x="3251939" y="3669"/>
                  </a:cubicBezTo>
                  <a:cubicBezTo>
                    <a:pt x="3254288" y="6018"/>
                    <a:pt x="3255608" y="9204"/>
                    <a:pt x="3255608" y="12526"/>
                  </a:cubicBezTo>
                  <a:lnTo>
                    <a:pt x="3255608" y="420710"/>
                  </a:lnTo>
                  <a:cubicBezTo>
                    <a:pt x="3255608" y="427628"/>
                    <a:pt x="3250000" y="433237"/>
                    <a:pt x="3243082" y="433237"/>
                  </a:cubicBezTo>
                  <a:lnTo>
                    <a:pt x="12526" y="433237"/>
                  </a:lnTo>
                  <a:cubicBezTo>
                    <a:pt x="5608" y="433237"/>
                    <a:pt x="0" y="427628"/>
                    <a:pt x="0" y="420710"/>
                  </a:cubicBezTo>
                  <a:lnTo>
                    <a:pt x="0" y="12526"/>
                  </a:lnTo>
                  <a:cubicBezTo>
                    <a:pt x="0" y="5608"/>
                    <a:pt x="5608" y="0"/>
                    <a:pt x="12526" y="0"/>
                  </a:cubicBezTo>
                  <a:close/>
                </a:path>
              </a:pathLst>
            </a:custGeom>
            <a:gradFill rotWithShape="1">
              <a:gsLst>
                <a:gs pos="0">
                  <a:srgbClr val="C4DAD2">
                    <a:alpha val="100000"/>
                  </a:srgbClr>
                </a:gs>
                <a:gs pos="50000">
                  <a:srgbClr val="E9EFEC">
                    <a:alpha val="100000"/>
                  </a:srgbClr>
                </a:gs>
                <a:gs pos="100000">
                  <a:srgbClr val="C4DAD2">
                    <a:alpha val="100000"/>
                  </a:srgbClr>
                </a:gs>
              </a:gsLst>
              <a:lin ang="0"/>
            </a:gradFill>
          </p:spPr>
        </p:sp>
        <p:sp>
          <p:nvSpPr>
            <p:cNvPr id="4" name="TextBox 4"/>
            <p:cNvSpPr txBox="1"/>
            <p:nvPr/>
          </p:nvSpPr>
          <p:spPr>
            <a:xfrm>
              <a:off x="0" y="-38100"/>
              <a:ext cx="3255608" cy="471337"/>
            </a:xfrm>
            <a:prstGeom prst="rect">
              <a:avLst/>
            </a:prstGeom>
          </p:spPr>
          <p:txBody>
            <a:bodyPr lIns="50800" tIns="50800" rIns="50800" bIns="50800" rtlCol="0" anchor="ctr"/>
            <a:lstStyle/>
            <a:p>
              <a:pPr algn="ctr">
                <a:lnSpc>
                  <a:spcPts val="2660"/>
                </a:lnSpc>
                <a:spcBef>
                  <a:spcPct val="0"/>
                </a:spcBef>
              </a:pPr>
              <a:endParaRPr/>
            </a:p>
          </p:txBody>
        </p:sp>
      </p:grpSp>
      <p:sp>
        <p:nvSpPr>
          <p:cNvPr id="15" name="Freeform 15"/>
          <p:cNvSpPr/>
          <p:nvPr/>
        </p:nvSpPr>
        <p:spPr>
          <a:xfrm>
            <a:off x="16625075" y="7613355"/>
            <a:ext cx="2669015" cy="2669015"/>
          </a:xfrm>
          <a:custGeom>
            <a:avLst/>
            <a:gdLst/>
            <a:ahLst/>
            <a:cxnLst/>
            <a:rect l="l" t="t" r="r" b="b"/>
            <a:pathLst>
              <a:path w="2669015" h="2669015">
                <a:moveTo>
                  <a:pt x="0" y="0"/>
                </a:moveTo>
                <a:lnTo>
                  <a:pt x="2669015" y="0"/>
                </a:lnTo>
                <a:lnTo>
                  <a:pt x="2669015" y="2669015"/>
                </a:lnTo>
                <a:lnTo>
                  <a:pt x="0" y="266901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6" name="Freeform 16"/>
          <p:cNvSpPr/>
          <p:nvPr/>
        </p:nvSpPr>
        <p:spPr>
          <a:xfrm flipH="1">
            <a:off x="-1010509" y="7613355"/>
            <a:ext cx="2669015" cy="2669015"/>
          </a:xfrm>
          <a:custGeom>
            <a:avLst/>
            <a:gdLst/>
            <a:ahLst/>
            <a:cxnLst/>
            <a:rect l="l" t="t" r="r" b="b"/>
            <a:pathLst>
              <a:path w="2669015" h="2669015">
                <a:moveTo>
                  <a:pt x="2669016" y="0"/>
                </a:moveTo>
                <a:lnTo>
                  <a:pt x="0" y="0"/>
                </a:lnTo>
                <a:lnTo>
                  <a:pt x="0" y="2669015"/>
                </a:lnTo>
                <a:lnTo>
                  <a:pt x="2669016" y="2669015"/>
                </a:lnTo>
                <a:lnTo>
                  <a:pt x="2669016" y="0"/>
                </a:lnTo>
                <a:close/>
              </a:path>
            </a:pathLst>
          </a:custGeom>
          <a:blipFill>
            <a:blip>
              <a:extLst>
                <a:ext uri="{96DAC541-7B7A-43D3-8B79-37D633B846F1}">
                  <asvg:svgBlip xmlns:asvg="http://schemas.microsoft.com/office/drawing/2016/SVG/main" r:embed="rId3"/>
                </a:ext>
              </a:extLst>
            </a:blip>
            <a:stretch>
              <a:fillRect/>
            </a:stretch>
          </a:blipFill>
        </p:spPr>
      </p:sp>
      <p:sp>
        <p:nvSpPr>
          <p:cNvPr id="18" name="TextBox 18"/>
          <p:cNvSpPr txBox="1"/>
          <p:nvPr/>
        </p:nvSpPr>
        <p:spPr>
          <a:xfrm>
            <a:off x="2819400" y="1028700"/>
            <a:ext cx="13380592" cy="923330"/>
          </a:xfrm>
          <a:prstGeom prst="rect">
            <a:avLst/>
          </a:prstGeom>
        </p:spPr>
        <p:txBody>
          <a:bodyPr lIns="0" tIns="0" rIns="0" bIns="0" rtlCol="0" anchor="t">
            <a:spAutoFit/>
          </a:bodyPr>
          <a:lstStyle/>
          <a:p>
            <a:pPr algn="ctr">
              <a:lnSpc>
                <a:spcPts val="7205"/>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Emotional Processing of Faces</a:t>
            </a:r>
          </a:p>
        </p:txBody>
      </p:sp>
      <p:sp>
        <p:nvSpPr>
          <p:cNvPr id="20" name="Rectangle 19"/>
          <p:cNvSpPr/>
          <p:nvPr/>
        </p:nvSpPr>
        <p:spPr>
          <a:xfrm>
            <a:off x="1572335" y="3034705"/>
            <a:ext cx="9952892" cy="5174493"/>
          </a:xfrm>
          <a:prstGeom prst="rect">
            <a:avLst/>
          </a:prstGeom>
        </p:spPr>
        <p:txBody>
          <a:bodyPr wrap="square">
            <a:spAutoFit/>
          </a:bodyPr>
          <a:lstStyle/>
          <a:p>
            <a:pPr marL="457200" lvl="0" indent="-4572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Facial expressions communicate important emotional information </a:t>
            </a:r>
          </a:p>
          <a:p>
            <a:pPr marL="457200" lvl="0" indent="-4572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Manipulation may amplify emotional facial signals </a:t>
            </a:r>
          </a:p>
          <a:p>
            <a:pPr marL="457200" lvl="0" indent="-4572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Anger may increase perceptions of political conflict </a:t>
            </a:r>
          </a:p>
          <a:p>
            <a:pPr marL="457200" lvl="0" indent="-4572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Fear may communicate threat or political vulnerability </a:t>
            </a:r>
          </a:p>
          <a:p>
            <a:pPr marL="457200" lvl="0" indent="-4572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Emotional responses can influence subsequent interpretation (Wang et al. 66).</a:t>
            </a:r>
          </a:p>
        </p:txBody>
      </p:sp>
      <p:pic>
        <p:nvPicPr>
          <p:cNvPr id="5" name="Picture 4" descr="Importance of Facial Expressions in Communication"/>
          <p:cNvPicPr>
            <a:picLocks noChangeAspect="1"/>
          </p:cNvPicPr>
          <p:nvPr/>
        </p:nvPicPr>
        <p:blipFill>
          <a:blip r:embed="rId4"/>
          <a:stretch>
            <a:fillRect/>
          </a:stretch>
        </p:blipFill>
        <p:spPr>
          <a:xfrm>
            <a:off x="11887200" y="3315167"/>
            <a:ext cx="6230098" cy="575982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p:cNvGrpSpPr/>
        <p:nvPr/>
      </p:nvGrpSpPr>
      <p:grpSpPr>
        <a:xfrm>
          <a:off x="0" y="0"/>
          <a:ext cx="0" cy="0"/>
          <a:chOff x="0" y="0"/>
          <a:chExt cx="0" cy="0"/>
        </a:xfrm>
      </p:grpSpPr>
      <p:grpSp>
        <p:nvGrpSpPr>
          <p:cNvPr id="13" name="Group 13"/>
          <p:cNvGrpSpPr/>
          <p:nvPr/>
        </p:nvGrpSpPr>
        <p:grpSpPr>
          <a:xfrm>
            <a:off x="609600" y="3009900"/>
            <a:ext cx="10515600" cy="6324600"/>
            <a:chOff x="0" y="0"/>
            <a:chExt cx="2375799" cy="679210"/>
          </a:xfrm>
        </p:grpSpPr>
        <p:sp>
          <p:nvSpPr>
            <p:cNvPr id="14" name="Freeform 14"/>
            <p:cNvSpPr/>
            <p:nvPr/>
          </p:nvSpPr>
          <p:spPr>
            <a:xfrm>
              <a:off x="0" y="0"/>
              <a:ext cx="2375799" cy="679210"/>
            </a:xfrm>
            <a:custGeom>
              <a:avLst/>
              <a:gdLst/>
              <a:ahLst/>
              <a:cxnLst/>
              <a:rect l="l" t="t" r="r" b="b"/>
              <a:pathLst>
                <a:path w="2375799" h="679210">
                  <a:moveTo>
                    <a:pt x="17165" y="0"/>
                  </a:moveTo>
                  <a:lnTo>
                    <a:pt x="2358634" y="0"/>
                  </a:lnTo>
                  <a:cubicBezTo>
                    <a:pt x="2363186" y="0"/>
                    <a:pt x="2367552" y="1808"/>
                    <a:pt x="2370772" y="5027"/>
                  </a:cubicBezTo>
                  <a:cubicBezTo>
                    <a:pt x="2373991" y="8247"/>
                    <a:pt x="2375799" y="12613"/>
                    <a:pt x="2375799" y="17165"/>
                  </a:cubicBezTo>
                  <a:lnTo>
                    <a:pt x="2375799" y="662045"/>
                  </a:lnTo>
                  <a:cubicBezTo>
                    <a:pt x="2375799" y="666597"/>
                    <a:pt x="2373991" y="670963"/>
                    <a:pt x="2370772" y="674182"/>
                  </a:cubicBezTo>
                  <a:cubicBezTo>
                    <a:pt x="2367552" y="677402"/>
                    <a:pt x="2363186" y="679210"/>
                    <a:pt x="2358634" y="679210"/>
                  </a:cubicBezTo>
                  <a:lnTo>
                    <a:pt x="17165" y="679210"/>
                  </a:lnTo>
                  <a:cubicBezTo>
                    <a:pt x="12613" y="679210"/>
                    <a:pt x="8247" y="677402"/>
                    <a:pt x="5027" y="674182"/>
                  </a:cubicBezTo>
                  <a:cubicBezTo>
                    <a:pt x="1808" y="670963"/>
                    <a:pt x="0" y="666597"/>
                    <a:pt x="0" y="662045"/>
                  </a:cubicBezTo>
                  <a:lnTo>
                    <a:pt x="0" y="17165"/>
                  </a:lnTo>
                  <a:cubicBezTo>
                    <a:pt x="0" y="12613"/>
                    <a:pt x="1808" y="8247"/>
                    <a:pt x="5027" y="5027"/>
                  </a:cubicBezTo>
                  <a:cubicBezTo>
                    <a:pt x="8247" y="1808"/>
                    <a:pt x="12613" y="0"/>
                    <a:pt x="17165" y="0"/>
                  </a:cubicBezTo>
                  <a:close/>
                </a:path>
              </a:pathLst>
            </a:custGeom>
            <a:gradFill rotWithShape="1">
              <a:gsLst>
                <a:gs pos="0">
                  <a:srgbClr val="C4DAD2">
                    <a:alpha val="100000"/>
                  </a:srgbClr>
                </a:gs>
                <a:gs pos="100000">
                  <a:srgbClr val="E9EFEC">
                    <a:alpha val="100000"/>
                  </a:srgbClr>
                </a:gs>
              </a:gsLst>
              <a:lin ang="0"/>
            </a:gradFill>
          </p:spPr>
        </p:sp>
        <p:sp>
          <p:nvSpPr>
            <p:cNvPr id="15" name="TextBox 15"/>
            <p:cNvSpPr txBox="1"/>
            <p:nvPr/>
          </p:nvSpPr>
          <p:spPr>
            <a:xfrm>
              <a:off x="0" y="-38100"/>
              <a:ext cx="2375799" cy="717310"/>
            </a:xfrm>
            <a:prstGeom prst="rect">
              <a:avLst/>
            </a:prstGeom>
          </p:spPr>
          <p:txBody>
            <a:bodyPr lIns="50800" tIns="50800" rIns="50800" bIns="50800" rtlCol="0" anchor="ctr"/>
            <a:lstStyle/>
            <a:p>
              <a:pPr algn="ctr">
                <a:lnSpc>
                  <a:spcPts val="2660"/>
                </a:lnSpc>
                <a:spcBef>
                  <a:spcPct val="0"/>
                </a:spcBef>
              </a:pPr>
              <a:endParaRPr/>
            </a:p>
          </p:txBody>
        </p:sp>
      </p:grpSp>
      <p:sp>
        <p:nvSpPr>
          <p:cNvPr id="20" name="Freeform 20"/>
          <p:cNvSpPr/>
          <p:nvPr/>
        </p:nvSpPr>
        <p:spPr>
          <a:xfrm rot="-5400000" flipV="1">
            <a:off x="15381409" y="8504820"/>
            <a:ext cx="2702432" cy="3564359"/>
          </a:xfrm>
          <a:custGeom>
            <a:avLst/>
            <a:gdLst/>
            <a:ahLst/>
            <a:cxnLst/>
            <a:rect l="l" t="t" r="r" b="b"/>
            <a:pathLst>
              <a:path w="2702432" h="3564359">
                <a:moveTo>
                  <a:pt x="0" y="3564359"/>
                </a:moveTo>
                <a:lnTo>
                  <a:pt x="2702432" y="3564359"/>
                </a:lnTo>
                <a:lnTo>
                  <a:pt x="2702432" y="0"/>
                </a:lnTo>
                <a:lnTo>
                  <a:pt x="0" y="0"/>
                </a:lnTo>
                <a:lnTo>
                  <a:pt x="0" y="3564359"/>
                </a:lnTo>
                <a:close/>
              </a:path>
            </a:pathLst>
          </a:custGeom>
          <a:blipFill>
            <a:blip>
              <a:extLst>
                <a:ext uri="{96DAC541-7B7A-43D3-8B79-37D633B846F1}">
                  <asvg:svgBlip xmlns:asvg="http://schemas.microsoft.com/office/drawing/2016/SVG/main" r:embed="rId3"/>
                </a:ext>
              </a:extLst>
            </a:blip>
            <a:stretch>
              <a:fillRect/>
            </a:stretch>
          </a:blipFill>
        </p:spPr>
      </p:sp>
      <p:sp>
        <p:nvSpPr>
          <p:cNvPr id="21" name="Freeform 21"/>
          <p:cNvSpPr/>
          <p:nvPr/>
        </p:nvSpPr>
        <p:spPr>
          <a:xfrm flipH="1" flipV="1">
            <a:off x="-904023" y="0"/>
            <a:ext cx="2669015" cy="2669015"/>
          </a:xfrm>
          <a:custGeom>
            <a:avLst/>
            <a:gdLst/>
            <a:ahLst/>
            <a:cxnLst/>
            <a:rect l="l" t="t" r="r" b="b"/>
            <a:pathLst>
              <a:path w="2669015" h="2669015">
                <a:moveTo>
                  <a:pt x="2669015" y="2669015"/>
                </a:moveTo>
                <a:lnTo>
                  <a:pt x="0" y="2669015"/>
                </a:lnTo>
                <a:lnTo>
                  <a:pt x="0" y="0"/>
                </a:lnTo>
                <a:lnTo>
                  <a:pt x="2669015" y="0"/>
                </a:lnTo>
                <a:lnTo>
                  <a:pt x="2669015" y="2669015"/>
                </a:lnTo>
                <a:close/>
              </a:path>
            </a:pathLst>
          </a:custGeom>
          <a:blipFill>
            <a:blip>
              <a:extLst>
                <a:ext uri="{96DAC541-7B7A-43D3-8B79-37D633B846F1}">
                  <asvg:svgBlip xmlns:asvg="http://schemas.microsoft.com/office/drawing/2016/SVG/main" r:embed="rId4"/>
                </a:ext>
              </a:extLst>
            </a:blip>
            <a:stretch>
              <a:fillRect/>
            </a:stretch>
          </a:blipFill>
        </p:spPr>
      </p:sp>
      <p:sp>
        <p:nvSpPr>
          <p:cNvPr id="25" name="TextBox 25"/>
          <p:cNvSpPr txBox="1"/>
          <p:nvPr/>
        </p:nvSpPr>
        <p:spPr>
          <a:xfrm>
            <a:off x="3038346" y="1189682"/>
            <a:ext cx="13729448" cy="920958"/>
          </a:xfrm>
          <a:prstGeom prst="rect">
            <a:avLst/>
          </a:prstGeom>
        </p:spPr>
        <p:txBody>
          <a:bodyPr wrap="square" lIns="0" tIns="0" rIns="0" bIns="0" rtlCol="0" anchor="t">
            <a:spAutoFit/>
          </a:bodyPr>
          <a:lstStyle/>
          <a:p>
            <a:pPr algn="ctr">
              <a:lnSpc>
                <a:spcPts val="7680"/>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Political Meme Interpretation</a:t>
            </a:r>
          </a:p>
        </p:txBody>
      </p:sp>
      <p:sp>
        <p:nvSpPr>
          <p:cNvPr id="31" name="Rectangle 30"/>
          <p:cNvSpPr/>
          <p:nvPr/>
        </p:nvSpPr>
        <p:spPr>
          <a:xfrm>
            <a:off x="990600" y="3160327"/>
            <a:ext cx="9144000" cy="5174493"/>
          </a:xfrm>
          <a:prstGeom prst="rect">
            <a:avLst/>
          </a:prstGeom>
        </p:spPr>
        <p:txBody>
          <a:bodyPr>
            <a:spAutoFit/>
          </a:bodyPr>
          <a:lstStyle/>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Political memes combine images, text and </a:t>
            </a:r>
            <a:r>
              <a:rPr lang="en-US" sz="3200" dirty="0" err="1">
                <a:latin typeface="Times New Roman" panose="02020603050405020304" pitchFamily="18" charset="0"/>
                <a:cs typeface="Times New Roman" panose="02020603050405020304" pitchFamily="18" charset="0"/>
              </a:rPr>
              <a:t>humour</a:t>
            </a:r>
            <a:r>
              <a:rPr lang="en-US" sz="3200" dirty="0">
                <a:latin typeface="Times New Roman" panose="02020603050405020304" pitchFamily="18" charset="0"/>
                <a:cs typeface="Times New Roman" panose="02020603050405020304" pitchFamily="18" charset="0"/>
              </a:rPr>
              <a:t>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Political identity can influence meme interpretation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Partisan cues encourage motivated message processing (Bülow and Johann 45).</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Political congruence can influence sharing intentions </a:t>
            </a:r>
          </a:p>
          <a:p>
            <a:pPr marL="285750" lvl="0" indent="-285750" algn="just">
              <a:lnSpc>
                <a:spcPct val="150000"/>
              </a:lnSpc>
              <a:buFont typeface="Arial" panose="020B0604020202020204" pitchFamily="34" charset="0"/>
              <a:buChar char="•"/>
            </a:pPr>
            <a:r>
              <a:rPr lang="en-US" sz="3200" dirty="0" err="1">
                <a:latin typeface="Times New Roman" panose="02020603050405020304" pitchFamily="18" charset="0"/>
                <a:cs typeface="Times New Roman" panose="02020603050405020304" pitchFamily="18" charset="0"/>
              </a:rPr>
              <a:t>Humour</a:t>
            </a:r>
            <a:r>
              <a:rPr lang="en-US" sz="3200" dirty="0">
                <a:latin typeface="Times New Roman" panose="02020603050405020304" pitchFamily="18" charset="0"/>
                <a:cs typeface="Times New Roman" panose="02020603050405020304" pitchFamily="18" charset="0"/>
              </a:rPr>
              <a:t> can increase engagement with political content</a:t>
            </a:r>
          </a:p>
        </p:txBody>
      </p:sp>
      <p:pic>
        <p:nvPicPr>
          <p:cNvPr id="2" name="Picture 1" descr="From Hero to Meme: How Social Media Shapes Political Images in India - The  ArmChair Journal"/>
          <p:cNvPicPr>
            <a:picLocks noChangeAspect="1"/>
          </p:cNvPicPr>
          <p:nvPr/>
        </p:nvPicPr>
        <p:blipFill>
          <a:blip r:embed="rId5"/>
          <a:stretch>
            <a:fillRect/>
          </a:stretch>
        </p:blipFill>
        <p:spPr>
          <a:xfrm>
            <a:off x="10437513" y="3390901"/>
            <a:ext cx="7454247" cy="49439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p:cNvGrpSpPr/>
        <p:nvPr/>
      </p:nvGrpSpPr>
      <p:grpSpPr>
        <a:xfrm>
          <a:off x="0" y="0"/>
          <a:ext cx="0" cy="0"/>
          <a:chOff x="0" y="0"/>
          <a:chExt cx="0" cy="0"/>
        </a:xfrm>
      </p:grpSpPr>
      <p:sp>
        <p:nvSpPr>
          <p:cNvPr id="2" name="Freeform 2"/>
          <p:cNvSpPr/>
          <p:nvPr/>
        </p:nvSpPr>
        <p:spPr>
          <a:xfrm>
            <a:off x="-1559883" y="-1028700"/>
            <a:ext cx="3119767" cy="4114800"/>
          </a:xfrm>
          <a:custGeom>
            <a:avLst/>
            <a:gdLst/>
            <a:ahLst/>
            <a:cxnLst/>
            <a:rect l="l" t="t" r="r" b="b"/>
            <a:pathLst>
              <a:path w="3119767" h="4114800">
                <a:moveTo>
                  <a:pt x="0" y="0"/>
                </a:moveTo>
                <a:lnTo>
                  <a:pt x="3119766" y="0"/>
                </a:lnTo>
                <a:lnTo>
                  <a:pt x="3119766"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8" name="TextBox 28"/>
          <p:cNvSpPr txBox="1"/>
          <p:nvPr/>
        </p:nvSpPr>
        <p:spPr>
          <a:xfrm>
            <a:off x="2514600" y="723900"/>
            <a:ext cx="13639800" cy="897682"/>
          </a:xfrm>
          <a:prstGeom prst="rect">
            <a:avLst/>
          </a:prstGeom>
        </p:spPr>
        <p:txBody>
          <a:bodyPr wrap="square" lIns="0" tIns="0" rIns="0" bIns="0" rtlCol="0" anchor="t">
            <a:spAutoFit/>
          </a:bodyPr>
          <a:lstStyle/>
          <a:p>
            <a:pPr marL="0" lvl="0" indent="0" algn="ctr">
              <a:lnSpc>
                <a:spcPts val="7040"/>
              </a:lnSpc>
              <a:spcBef>
                <a:spcPct val="0"/>
              </a:spcBef>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Evidence Synthesis</a:t>
            </a:r>
            <a:endParaRPr lang="en-US" sz="6000" b="1" u="none" strike="noStrike" dirty="0">
              <a:solidFill>
                <a:srgbClr val="16423C"/>
              </a:solidFill>
              <a:latin typeface="Times New Roman" panose="02020603050405020304" pitchFamily="18" charset="0"/>
              <a:ea typeface="Garet Bold"/>
              <a:cs typeface="Times New Roman" panose="02020603050405020304" pitchFamily="18" charset="0"/>
              <a:sym typeface="Garet Bold"/>
            </a:endParaRPr>
          </a:p>
        </p:txBody>
      </p:sp>
      <p:graphicFrame>
        <p:nvGraphicFramePr>
          <p:cNvPr id="4" name="Table 3"/>
          <p:cNvGraphicFramePr>
            <a:graphicFrameLocks noGrp="1"/>
          </p:cNvGraphicFramePr>
          <p:nvPr/>
        </p:nvGraphicFramePr>
        <p:xfrm>
          <a:off x="1905000" y="2400300"/>
          <a:ext cx="14706600" cy="4648203"/>
        </p:xfrm>
        <a:graphic>
          <a:graphicData uri="http://schemas.openxmlformats.org/drawingml/2006/table">
            <a:tbl>
              <a:tblPr>
                <a:tableStyleId>{D7AC3CCA-C797-4891-BE02-D94E43425B78}</a:tableStyleId>
              </a:tblPr>
              <a:tblGrid>
                <a:gridCol w="7353300">
                  <a:extLst>
                    <a:ext uri="{9D8B030D-6E8A-4147-A177-3AD203B41FA5}">
                      <a16:colId xmlns:a16="http://schemas.microsoft.com/office/drawing/2014/main" val="20000"/>
                    </a:ext>
                  </a:extLst>
                </a:gridCol>
                <a:gridCol w="7353300">
                  <a:extLst>
                    <a:ext uri="{9D8B030D-6E8A-4147-A177-3AD203B41FA5}">
                      <a16:colId xmlns:a16="http://schemas.microsoft.com/office/drawing/2014/main" val="20001"/>
                    </a:ext>
                  </a:extLst>
                </a:gridCol>
              </a:tblGrid>
              <a:tr h="664029">
                <a:tc>
                  <a:txBody>
                    <a:bodyPr/>
                    <a:lstStyle/>
                    <a:p>
                      <a:pPr algn="ctr">
                        <a:buNone/>
                      </a:pPr>
                      <a:r>
                        <a:rPr lang="en-IN" sz="3200" b="1"/>
                        <a:t>Research Area</a:t>
                      </a:r>
                    </a:p>
                  </a:txBody>
                  <a:tcPr anchor="ctr"/>
                </a:tc>
                <a:tc>
                  <a:txBody>
                    <a:bodyPr/>
                    <a:lstStyle/>
                    <a:p>
                      <a:pPr algn="ctr">
                        <a:buNone/>
                      </a:pPr>
                      <a:r>
                        <a:rPr lang="en-IN" sz="3200" b="1" dirty="0"/>
                        <a:t>Evidence</a:t>
                      </a:r>
                    </a:p>
                  </a:txBody>
                  <a:tcPr anchor="ctr"/>
                </a:tc>
                <a:extLst>
                  <a:ext uri="{0D108BD9-81ED-4DB2-BD59-A6C34878D82A}">
                    <a16:rowId xmlns:a16="http://schemas.microsoft.com/office/drawing/2014/main" val="10000"/>
                  </a:ext>
                </a:extLst>
              </a:tr>
              <a:tr h="664029">
                <a:tc>
                  <a:txBody>
                    <a:bodyPr/>
                    <a:lstStyle/>
                    <a:p>
                      <a:pPr>
                        <a:buNone/>
                      </a:pPr>
                      <a:r>
                        <a:rPr lang="en-IN" sz="3200"/>
                        <a:t>Face perception</a:t>
                      </a:r>
                    </a:p>
                  </a:txBody>
                  <a:tcPr anchor="ctr"/>
                </a:tc>
                <a:tc>
                  <a:txBody>
                    <a:bodyPr/>
                    <a:lstStyle/>
                    <a:p>
                      <a:pPr>
                        <a:buNone/>
                      </a:pPr>
                      <a:r>
                        <a:rPr lang="en-IN" sz="3200"/>
                        <a:t>Strong evidence</a:t>
                      </a:r>
                    </a:p>
                  </a:txBody>
                  <a:tcPr anchor="ctr"/>
                </a:tc>
                <a:extLst>
                  <a:ext uri="{0D108BD9-81ED-4DB2-BD59-A6C34878D82A}">
                    <a16:rowId xmlns:a16="http://schemas.microsoft.com/office/drawing/2014/main" val="10001"/>
                  </a:ext>
                </a:extLst>
              </a:tr>
              <a:tr h="664029">
                <a:tc>
                  <a:txBody>
                    <a:bodyPr/>
                    <a:lstStyle/>
                    <a:p>
                      <a:pPr>
                        <a:buNone/>
                      </a:pPr>
                      <a:r>
                        <a:rPr lang="en-IN" sz="3200"/>
                        <a:t>Emotional processing</a:t>
                      </a:r>
                    </a:p>
                  </a:txBody>
                  <a:tcPr anchor="ctr"/>
                </a:tc>
                <a:tc>
                  <a:txBody>
                    <a:bodyPr/>
                    <a:lstStyle/>
                    <a:p>
                      <a:pPr>
                        <a:buNone/>
                      </a:pPr>
                      <a:r>
                        <a:rPr lang="en-IN" sz="3200"/>
                        <a:t>Strong evidence</a:t>
                      </a:r>
                    </a:p>
                  </a:txBody>
                  <a:tcPr anchor="ctr"/>
                </a:tc>
                <a:extLst>
                  <a:ext uri="{0D108BD9-81ED-4DB2-BD59-A6C34878D82A}">
                    <a16:rowId xmlns:a16="http://schemas.microsoft.com/office/drawing/2014/main" val="10002"/>
                  </a:ext>
                </a:extLst>
              </a:tr>
              <a:tr h="664029">
                <a:tc>
                  <a:txBody>
                    <a:bodyPr/>
                    <a:lstStyle/>
                    <a:p>
                      <a:pPr>
                        <a:buNone/>
                      </a:pPr>
                      <a:r>
                        <a:rPr lang="en-IN" sz="3200"/>
                        <a:t>Visual attention</a:t>
                      </a:r>
                    </a:p>
                  </a:txBody>
                  <a:tcPr anchor="ctr"/>
                </a:tc>
                <a:tc>
                  <a:txBody>
                    <a:bodyPr/>
                    <a:lstStyle/>
                    <a:p>
                      <a:pPr>
                        <a:buNone/>
                      </a:pPr>
                      <a:r>
                        <a:rPr lang="en-IN" sz="3200"/>
                        <a:t>Complex evidence</a:t>
                      </a:r>
                    </a:p>
                  </a:txBody>
                  <a:tcPr anchor="ctr"/>
                </a:tc>
                <a:extLst>
                  <a:ext uri="{0D108BD9-81ED-4DB2-BD59-A6C34878D82A}">
                    <a16:rowId xmlns:a16="http://schemas.microsoft.com/office/drawing/2014/main" val="10003"/>
                  </a:ext>
                </a:extLst>
              </a:tr>
              <a:tr h="664029">
                <a:tc>
                  <a:txBody>
                    <a:bodyPr/>
                    <a:lstStyle/>
                    <a:p>
                      <a:pPr>
                        <a:buNone/>
                      </a:pPr>
                      <a:r>
                        <a:rPr lang="en-IN" sz="3200"/>
                        <a:t>Political memes</a:t>
                      </a:r>
                    </a:p>
                  </a:txBody>
                  <a:tcPr anchor="ctr"/>
                </a:tc>
                <a:tc>
                  <a:txBody>
                    <a:bodyPr/>
                    <a:lstStyle/>
                    <a:p>
                      <a:pPr>
                        <a:buNone/>
                      </a:pPr>
                      <a:r>
                        <a:rPr lang="en-IN" sz="3200"/>
                        <a:t>Growing evidence</a:t>
                      </a:r>
                    </a:p>
                  </a:txBody>
                  <a:tcPr anchor="ctr"/>
                </a:tc>
                <a:extLst>
                  <a:ext uri="{0D108BD9-81ED-4DB2-BD59-A6C34878D82A}">
                    <a16:rowId xmlns:a16="http://schemas.microsoft.com/office/drawing/2014/main" val="10004"/>
                  </a:ext>
                </a:extLst>
              </a:tr>
              <a:tr h="664029">
                <a:tc>
                  <a:txBody>
                    <a:bodyPr/>
                    <a:lstStyle/>
                    <a:p>
                      <a:pPr>
                        <a:buNone/>
                      </a:pPr>
                      <a:r>
                        <a:rPr lang="en-IN" sz="3200"/>
                        <a:t>AI political imagery</a:t>
                      </a:r>
                    </a:p>
                  </a:txBody>
                  <a:tcPr anchor="ctr"/>
                </a:tc>
                <a:tc>
                  <a:txBody>
                    <a:bodyPr/>
                    <a:lstStyle/>
                    <a:p>
                      <a:pPr>
                        <a:buNone/>
                      </a:pPr>
                      <a:r>
                        <a:rPr lang="en-IN" sz="3200" dirty="0"/>
                        <a:t>Emerging evidence</a:t>
                      </a:r>
                    </a:p>
                  </a:txBody>
                  <a:tcPr anchor="ctr"/>
                </a:tc>
                <a:extLst>
                  <a:ext uri="{0D108BD9-81ED-4DB2-BD59-A6C34878D82A}">
                    <a16:rowId xmlns:a16="http://schemas.microsoft.com/office/drawing/2014/main" val="10005"/>
                  </a:ext>
                </a:extLst>
              </a:tr>
              <a:tr h="664029">
                <a:tc>
                  <a:txBody>
                    <a:bodyPr/>
                    <a:lstStyle/>
                    <a:p>
                      <a:pPr>
                        <a:buNone/>
                      </a:pPr>
                      <a:r>
                        <a:rPr lang="en-IN" sz="3200"/>
                        <a:t>AI-altered meme faces</a:t>
                      </a:r>
                    </a:p>
                  </a:txBody>
                  <a:tcPr anchor="ctr"/>
                </a:tc>
                <a:tc>
                  <a:txBody>
                    <a:bodyPr/>
                    <a:lstStyle/>
                    <a:p>
                      <a:pPr>
                        <a:buNone/>
                      </a:pPr>
                      <a:r>
                        <a:rPr lang="en-IN" sz="3200" dirty="0"/>
                        <a:t>Limited evidence</a:t>
                      </a:r>
                    </a:p>
                  </a:txBody>
                  <a:tcPr anchor="ctr"/>
                </a:tc>
                <a:extLst>
                  <a:ext uri="{0D108BD9-81ED-4DB2-BD59-A6C34878D82A}">
                    <a16:rowId xmlns:a16="http://schemas.microsoft.com/office/drawing/2014/main" val="10006"/>
                  </a:ext>
                </a:extLst>
              </a:tr>
            </a:tbl>
          </a:graphicData>
        </a:graphic>
      </p:graphicFrame>
      <p:sp>
        <p:nvSpPr>
          <p:cNvPr id="7" name="TextBox 6"/>
          <p:cNvSpPr txBox="1"/>
          <p:nvPr/>
        </p:nvSpPr>
        <p:spPr>
          <a:xfrm>
            <a:off x="2971800" y="7048500"/>
            <a:ext cx="9929446" cy="2219838"/>
          </a:xfrm>
          <a:prstGeom prst="rect">
            <a:avLst/>
          </a:prstGeom>
          <a:noFill/>
        </p:spPr>
        <p:txBody>
          <a:bodyPr wrap="square">
            <a:spAutoFit/>
          </a:bodyPr>
          <a:lstStyle/>
          <a:p>
            <a:pPr>
              <a:lnSpc>
                <a:spcPct val="150000"/>
              </a:lnSpc>
              <a:buNone/>
            </a:pPr>
            <a:r>
              <a:rPr lang="en-IN" sz="3200" b="1" dirty="0">
                <a:latin typeface="Times New Roman" panose="02020603050405020304" pitchFamily="18" charset="0"/>
                <a:cs typeface="Times New Roman" panose="02020603050405020304" pitchFamily="18" charset="0"/>
              </a:rPr>
              <a:t>Key finding:</a:t>
            </a:r>
            <a:endParaRPr lang="en-IN" sz="3200"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Existing research supports individual relationships </a:t>
            </a:r>
          </a:p>
          <a:p>
            <a:pPr marL="342900" lvl="0" indent="-342900">
              <a:lnSpc>
                <a:spcPct val="150000"/>
              </a:lnSpc>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Integrated evidence remains comparatively limited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p:cNvGrpSpPr/>
        <p:nvPr/>
      </p:nvGrpSpPr>
      <p:grpSpPr>
        <a:xfrm>
          <a:off x="0" y="0"/>
          <a:ext cx="0" cy="0"/>
          <a:chOff x="0" y="0"/>
          <a:chExt cx="0" cy="0"/>
        </a:xfrm>
      </p:grpSpPr>
      <p:grpSp>
        <p:nvGrpSpPr>
          <p:cNvPr id="2" name="Group 2"/>
          <p:cNvGrpSpPr/>
          <p:nvPr/>
        </p:nvGrpSpPr>
        <p:grpSpPr>
          <a:xfrm>
            <a:off x="323998" y="2153223"/>
            <a:ext cx="9667799" cy="8129148"/>
            <a:chOff x="0" y="0"/>
            <a:chExt cx="3255608" cy="433237"/>
          </a:xfrm>
        </p:grpSpPr>
        <p:sp>
          <p:nvSpPr>
            <p:cNvPr id="3" name="Freeform 3"/>
            <p:cNvSpPr/>
            <p:nvPr/>
          </p:nvSpPr>
          <p:spPr>
            <a:xfrm>
              <a:off x="0" y="0"/>
              <a:ext cx="3255608" cy="433237"/>
            </a:xfrm>
            <a:custGeom>
              <a:avLst/>
              <a:gdLst/>
              <a:ahLst/>
              <a:cxnLst/>
              <a:rect l="l" t="t" r="r" b="b"/>
              <a:pathLst>
                <a:path w="3255608" h="433237">
                  <a:moveTo>
                    <a:pt x="12526" y="0"/>
                  </a:moveTo>
                  <a:lnTo>
                    <a:pt x="3243082" y="0"/>
                  </a:lnTo>
                  <a:cubicBezTo>
                    <a:pt x="3246404" y="0"/>
                    <a:pt x="3249590" y="1320"/>
                    <a:pt x="3251939" y="3669"/>
                  </a:cubicBezTo>
                  <a:cubicBezTo>
                    <a:pt x="3254288" y="6018"/>
                    <a:pt x="3255608" y="9204"/>
                    <a:pt x="3255608" y="12526"/>
                  </a:cubicBezTo>
                  <a:lnTo>
                    <a:pt x="3255608" y="420710"/>
                  </a:lnTo>
                  <a:cubicBezTo>
                    <a:pt x="3255608" y="427628"/>
                    <a:pt x="3250000" y="433237"/>
                    <a:pt x="3243082" y="433237"/>
                  </a:cubicBezTo>
                  <a:lnTo>
                    <a:pt x="12526" y="433237"/>
                  </a:lnTo>
                  <a:cubicBezTo>
                    <a:pt x="5608" y="433237"/>
                    <a:pt x="0" y="427628"/>
                    <a:pt x="0" y="420710"/>
                  </a:cubicBezTo>
                  <a:lnTo>
                    <a:pt x="0" y="12526"/>
                  </a:lnTo>
                  <a:cubicBezTo>
                    <a:pt x="0" y="5608"/>
                    <a:pt x="5608" y="0"/>
                    <a:pt x="12526" y="0"/>
                  </a:cubicBezTo>
                  <a:close/>
                </a:path>
              </a:pathLst>
            </a:custGeom>
            <a:gradFill rotWithShape="1">
              <a:gsLst>
                <a:gs pos="0">
                  <a:srgbClr val="C4DAD2">
                    <a:alpha val="100000"/>
                  </a:srgbClr>
                </a:gs>
                <a:gs pos="50000">
                  <a:srgbClr val="E9EFEC">
                    <a:alpha val="100000"/>
                  </a:srgbClr>
                </a:gs>
                <a:gs pos="100000">
                  <a:srgbClr val="C4DAD2">
                    <a:alpha val="100000"/>
                  </a:srgbClr>
                </a:gs>
              </a:gsLst>
              <a:lin ang="0"/>
            </a:gradFill>
          </p:spPr>
        </p:sp>
        <p:sp>
          <p:nvSpPr>
            <p:cNvPr id="4" name="TextBox 4"/>
            <p:cNvSpPr txBox="1"/>
            <p:nvPr/>
          </p:nvSpPr>
          <p:spPr>
            <a:xfrm>
              <a:off x="0" y="-38100"/>
              <a:ext cx="3255608" cy="471337"/>
            </a:xfrm>
            <a:prstGeom prst="rect">
              <a:avLst/>
            </a:prstGeom>
          </p:spPr>
          <p:txBody>
            <a:bodyPr lIns="50800" tIns="50800" rIns="50800" bIns="50800" rtlCol="0" anchor="ctr"/>
            <a:lstStyle/>
            <a:p>
              <a:pPr algn="ctr">
                <a:lnSpc>
                  <a:spcPts val="2660"/>
                </a:lnSpc>
                <a:spcBef>
                  <a:spcPct val="0"/>
                </a:spcBef>
              </a:pPr>
              <a:endParaRPr/>
            </a:p>
          </p:txBody>
        </p:sp>
      </p:grpSp>
      <p:sp>
        <p:nvSpPr>
          <p:cNvPr id="15" name="Freeform 15"/>
          <p:cNvSpPr/>
          <p:nvPr/>
        </p:nvSpPr>
        <p:spPr>
          <a:xfrm>
            <a:off x="16625075" y="7613355"/>
            <a:ext cx="2669015" cy="2669015"/>
          </a:xfrm>
          <a:custGeom>
            <a:avLst/>
            <a:gdLst/>
            <a:ahLst/>
            <a:cxnLst/>
            <a:rect l="l" t="t" r="r" b="b"/>
            <a:pathLst>
              <a:path w="2669015" h="2669015">
                <a:moveTo>
                  <a:pt x="0" y="0"/>
                </a:moveTo>
                <a:lnTo>
                  <a:pt x="2669015" y="0"/>
                </a:lnTo>
                <a:lnTo>
                  <a:pt x="2669015" y="2669015"/>
                </a:lnTo>
                <a:lnTo>
                  <a:pt x="0" y="266901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8" name="TextBox 18"/>
          <p:cNvSpPr txBox="1"/>
          <p:nvPr/>
        </p:nvSpPr>
        <p:spPr>
          <a:xfrm>
            <a:off x="2133600" y="537265"/>
            <a:ext cx="13380592" cy="923394"/>
          </a:xfrm>
          <a:prstGeom prst="rect">
            <a:avLst/>
          </a:prstGeom>
        </p:spPr>
        <p:txBody>
          <a:bodyPr lIns="0" tIns="0" rIns="0" bIns="0" rtlCol="0" anchor="t">
            <a:spAutoFit/>
          </a:bodyPr>
          <a:lstStyle/>
          <a:p>
            <a:pPr algn="ctr">
              <a:lnSpc>
                <a:spcPts val="7205"/>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Research Gap</a:t>
            </a:r>
          </a:p>
        </p:txBody>
      </p:sp>
      <p:sp>
        <p:nvSpPr>
          <p:cNvPr id="5" name="Rectangle 4"/>
          <p:cNvSpPr/>
          <p:nvPr/>
        </p:nvSpPr>
        <p:spPr>
          <a:xfrm>
            <a:off x="609601" y="2106920"/>
            <a:ext cx="8915400" cy="8129148"/>
          </a:xfrm>
          <a:prstGeom prst="rect">
            <a:avLst/>
          </a:prstGeom>
        </p:spPr>
        <p:txBody>
          <a:bodyPr wrap="square">
            <a:spAutoFit/>
          </a:bodyPr>
          <a:lstStyle/>
          <a:p>
            <a:pPr lvl="0" algn="just">
              <a:lnSpc>
                <a:spcPct val="150000"/>
              </a:lnSpc>
            </a:pPr>
            <a:r>
              <a:rPr lang="en-US" sz="3200" b="1" dirty="0">
                <a:latin typeface="Times New Roman" panose="02020603050405020304" pitchFamily="18" charset="0"/>
                <a:cs typeface="Times New Roman" panose="02020603050405020304" pitchFamily="18" charset="0"/>
              </a:rPr>
              <a:t>Identified Research Gaps</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Limited integration between AI and face perception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Few studies isolate facial AI manipulation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Multimodal effects remain insufficiently investigated </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Attention and emotion rarely measured together (Chen et al. 88).</a:t>
            </a:r>
          </a:p>
          <a:p>
            <a:pPr marL="285750" lvl="0" indent="-28575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Individual differences require greater research attention </a:t>
            </a:r>
          </a:p>
          <a:p>
            <a:pPr marL="285750" lvl="0" indent="-285750" algn="just">
              <a:lnSpc>
                <a:spcPct val="150000"/>
              </a:lnSpc>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Key gap: </a:t>
            </a:r>
            <a:r>
              <a:rPr lang="en-US" sz="3200" dirty="0">
                <a:latin typeface="Times New Roman" panose="02020603050405020304" pitchFamily="18" charset="0"/>
                <a:cs typeface="Times New Roman" panose="02020603050405020304" pitchFamily="18" charset="0"/>
              </a:rPr>
              <a:t>AI-altered faces within political memes remain under-researched.</a:t>
            </a:r>
          </a:p>
        </p:txBody>
      </p:sp>
      <p:pic>
        <p:nvPicPr>
          <p:cNvPr id="6" name="Picture 5" descr="The landscape of facial processing applications in the context of the  European AI Act and the development of trustworthy systems | Scientific  Reports"/>
          <p:cNvPicPr>
            <a:picLocks noChangeAspect="1"/>
          </p:cNvPicPr>
          <p:nvPr/>
        </p:nvPicPr>
        <p:blipFill>
          <a:blip r:embed="rId4"/>
          <a:stretch>
            <a:fillRect/>
          </a:stretch>
        </p:blipFill>
        <p:spPr>
          <a:xfrm>
            <a:off x="10277401" y="3505693"/>
            <a:ext cx="7682182" cy="448063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p:cNvGrpSpPr/>
        <p:nvPr/>
      </p:nvGrpSpPr>
      <p:grpSpPr>
        <a:xfrm>
          <a:off x="0" y="0"/>
          <a:ext cx="0" cy="0"/>
          <a:chOff x="0" y="0"/>
          <a:chExt cx="0" cy="0"/>
        </a:xfrm>
      </p:grpSpPr>
      <p:grpSp>
        <p:nvGrpSpPr>
          <p:cNvPr id="2" name="Group 2"/>
          <p:cNvGrpSpPr/>
          <p:nvPr/>
        </p:nvGrpSpPr>
        <p:grpSpPr>
          <a:xfrm>
            <a:off x="323998" y="1996878"/>
            <a:ext cx="10648802" cy="7902235"/>
            <a:chOff x="0" y="0"/>
            <a:chExt cx="3255608" cy="433237"/>
          </a:xfrm>
        </p:grpSpPr>
        <p:sp>
          <p:nvSpPr>
            <p:cNvPr id="3" name="Freeform 3"/>
            <p:cNvSpPr/>
            <p:nvPr/>
          </p:nvSpPr>
          <p:spPr>
            <a:xfrm>
              <a:off x="0" y="0"/>
              <a:ext cx="3255608" cy="433237"/>
            </a:xfrm>
            <a:custGeom>
              <a:avLst/>
              <a:gdLst/>
              <a:ahLst/>
              <a:cxnLst/>
              <a:rect l="l" t="t" r="r" b="b"/>
              <a:pathLst>
                <a:path w="3255608" h="433237">
                  <a:moveTo>
                    <a:pt x="12526" y="0"/>
                  </a:moveTo>
                  <a:lnTo>
                    <a:pt x="3243082" y="0"/>
                  </a:lnTo>
                  <a:cubicBezTo>
                    <a:pt x="3246404" y="0"/>
                    <a:pt x="3249590" y="1320"/>
                    <a:pt x="3251939" y="3669"/>
                  </a:cubicBezTo>
                  <a:cubicBezTo>
                    <a:pt x="3254288" y="6018"/>
                    <a:pt x="3255608" y="9204"/>
                    <a:pt x="3255608" y="12526"/>
                  </a:cubicBezTo>
                  <a:lnTo>
                    <a:pt x="3255608" y="420710"/>
                  </a:lnTo>
                  <a:cubicBezTo>
                    <a:pt x="3255608" y="427628"/>
                    <a:pt x="3250000" y="433237"/>
                    <a:pt x="3243082" y="433237"/>
                  </a:cubicBezTo>
                  <a:lnTo>
                    <a:pt x="12526" y="433237"/>
                  </a:lnTo>
                  <a:cubicBezTo>
                    <a:pt x="5608" y="433237"/>
                    <a:pt x="0" y="427628"/>
                    <a:pt x="0" y="420710"/>
                  </a:cubicBezTo>
                  <a:lnTo>
                    <a:pt x="0" y="12526"/>
                  </a:lnTo>
                  <a:cubicBezTo>
                    <a:pt x="0" y="5608"/>
                    <a:pt x="5608" y="0"/>
                    <a:pt x="12526" y="0"/>
                  </a:cubicBezTo>
                  <a:close/>
                </a:path>
              </a:pathLst>
            </a:custGeom>
            <a:gradFill rotWithShape="1">
              <a:gsLst>
                <a:gs pos="0">
                  <a:srgbClr val="C4DAD2">
                    <a:alpha val="100000"/>
                  </a:srgbClr>
                </a:gs>
                <a:gs pos="50000">
                  <a:srgbClr val="E9EFEC">
                    <a:alpha val="100000"/>
                  </a:srgbClr>
                </a:gs>
                <a:gs pos="100000">
                  <a:srgbClr val="C4DAD2">
                    <a:alpha val="100000"/>
                  </a:srgbClr>
                </a:gs>
              </a:gsLst>
              <a:lin ang="0"/>
            </a:gradFill>
          </p:spPr>
        </p:sp>
        <p:sp>
          <p:nvSpPr>
            <p:cNvPr id="4" name="TextBox 4"/>
            <p:cNvSpPr txBox="1"/>
            <p:nvPr/>
          </p:nvSpPr>
          <p:spPr>
            <a:xfrm>
              <a:off x="0" y="-38100"/>
              <a:ext cx="3255608" cy="471337"/>
            </a:xfrm>
            <a:prstGeom prst="rect">
              <a:avLst/>
            </a:prstGeom>
          </p:spPr>
          <p:txBody>
            <a:bodyPr lIns="50800" tIns="50800" rIns="50800" bIns="50800" rtlCol="0" anchor="ctr"/>
            <a:lstStyle/>
            <a:p>
              <a:pPr algn="ctr">
                <a:lnSpc>
                  <a:spcPts val="2660"/>
                </a:lnSpc>
                <a:spcBef>
                  <a:spcPct val="0"/>
                </a:spcBef>
              </a:pPr>
              <a:endParaRPr/>
            </a:p>
          </p:txBody>
        </p:sp>
      </p:grpSp>
      <p:sp>
        <p:nvSpPr>
          <p:cNvPr id="15" name="Freeform 15"/>
          <p:cNvSpPr/>
          <p:nvPr/>
        </p:nvSpPr>
        <p:spPr>
          <a:xfrm>
            <a:off x="16625075" y="7613355"/>
            <a:ext cx="2669015" cy="2669015"/>
          </a:xfrm>
          <a:custGeom>
            <a:avLst/>
            <a:gdLst/>
            <a:ahLst/>
            <a:cxnLst/>
            <a:rect l="l" t="t" r="r" b="b"/>
            <a:pathLst>
              <a:path w="2669015" h="2669015">
                <a:moveTo>
                  <a:pt x="0" y="0"/>
                </a:moveTo>
                <a:lnTo>
                  <a:pt x="2669015" y="0"/>
                </a:lnTo>
                <a:lnTo>
                  <a:pt x="2669015" y="2669015"/>
                </a:lnTo>
                <a:lnTo>
                  <a:pt x="0" y="266901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8" name="TextBox 18"/>
          <p:cNvSpPr txBox="1"/>
          <p:nvPr/>
        </p:nvSpPr>
        <p:spPr>
          <a:xfrm>
            <a:off x="2066843" y="387887"/>
            <a:ext cx="13380592" cy="923394"/>
          </a:xfrm>
          <a:prstGeom prst="rect">
            <a:avLst/>
          </a:prstGeom>
        </p:spPr>
        <p:txBody>
          <a:bodyPr lIns="0" tIns="0" rIns="0" bIns="0" rtlCol="0" anchor="t">
            <a:spAutoFit/>
          </a:bodyPr>
          <a:lstStyle/>
          <a:p>
            <a:pPr algn="ctr">
              <a:lnSpc>
                <a:spcPts val="7205"/>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Proposed Future Empirical Study</a:t>
            </a:r>
          </a:p>
        </p:txBody>
      </p:sp>
      <p:sp>
        <p:nvSpPr>
          <p:cNvPr id="5" name="Rectangle 4"/>
          <p:cNvSpPr/>
          <p:nvPr/>
        </p:nvSpPr>
        <p:spPr>
          <a:xfrm>
            <a:off x="428699" y="2298972"/>
            <a:ext cx="10439399" cy="6651821"/>
          </a:xfrm>
          <a:prstGeom prst="rect">
            <a:avLst/>
          </a:prstGeom>
        </p:spPr>
        <p:txBody>
          <a:bodyPr wrap="square">
            <a:spAutoFit/>
          </a:bodyPr>
          <a:lstStyle/>
          <a:p>
            <a:pPr lvl="0" algn="just">
              <a:lnSpc>
                <a:spcPct val="150000"/>
              </a:lnSpc>
            </a:pPr>
            <a:r>
              <a:rPr lang="en-US" sz="3200" b="1" dirty="0">
                <a:latin typeface="Times New Roman" panose="02020603050405020304" pitchFamily="18" charset="0"/>
                <a:cs typeface="Times New Roman" panose="02020603050405020304" pitchFamily="18" charset="0"/>
              </a:rPr>
              <a:t>Potential Research Design</a:t>
            </a:r>
          </a:p>
          <a:p>
            <a:pPr marL="342900" lvl="0" indent="-3429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Experimental design comparing different facial conditions (Liu et al. 2024)</a:t>
            </a:r>
          </a:p>
          <a:p>
            <a:pPr marL="342900" lvl="0" indent="-3429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Questionnaires could assess emotional responses </a:t>
            </a:r>
          </a:p>
          <a:p>
            <a:pPr marL="342900" lvl="0" indent="-3429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Political ideology could examine individual differences </a:t>
            </a:r>
          </a:p>
          <a:p>
            <a:pPr lvl="0" algn="just">
              <a:lnSpc>
                <a:spcPct val="150000"/>
              </a:lnSpc>
            </a:pPr>
            <a:r>
              <a:rPr lang="en-US" sz="3200" b="1" dirty="0">
                <a:latin typeface="Times New Roman" panose="02020603050405020304" pitchFamily="18" charset="0"/>
                <a:cs typeface="Times New Roman" panose="02020603050405020304" pitchFamily="18" charset="0"/>
              </a:rPr>
              <a:t>Possible conditions:</a:t>
            </a:r>
          </a:p>
          <a:p>
            <a:pPr marL="342900" lvl="0" indent="-3429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Original face </a:t>
            </a:r>
          </a:p>
          <a:p>
            <a:pPr marL="342900" lvl="0" indent="-3429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AI-altered neutral face </a:t>
            </a:r>
          </a:p>
          <a:p>
            <a:pPr marL="342900" lvl="0" indent="-3429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AI-altered emotional face</a:t>
            </a:r>
          </a:p>
        </p:txBody>
      </p:sp>
      <p:pic>
        <p:nvPicPr>
          <p:cNvPr id="6" name="Picture 5" descr="Computer Vision Tasks for Ambient Intelligence in Children's Health"/>
          <p:cNvPicPr>
            <a:picLocks noChangeAspect="1"/>
          </p:cNvPicPr>
          <p:nvPr/>
        </p:nvPicPr>
        <p:blipFill>
          <a:blip r:embed="rId4"/>
          <a:stretch>
            <a:fillRect/>
          </a:stretch>
        </p:blipFill>
        <p:spPr>
          <a:xfrm>
            <a:off x="11194503" y="3529689"/>
            <a:ext cx="6754259" cy="439640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p:cNvGrpSpPr/>
        <p:nvPr/>
      </p:nvGrpSpPr>
      <p:grpSpPr>
        <a:xfrm>
          <a:off x="0" y="0"/>
          <a:ext cx="0" cy="0"/>
          <a:chOff x="0" y="0"/>
          <a:chExt cx="0" cy="0"/>
        </a:xfrm>
      </p:grpSpPr>
      <p:grpSp>
        <p:nvGrpSpPr>
          <p:cNvPr id="2" name="Group 2"/>
          <p:cNvGrpSpPr/>
          <p:nvPr/>
        </p:nvGrpSpPr>
        <p:grpSpPr>
          <a:xfrm>
            <a:off x="323998" y="2028294"/>
            <a:ext cx="11563988" cy="7297923"/>
            <a:chOff x="0" y="0"/>
            <a:chExt cx="3255608" cy="433237"/>
          </a:xfrm>
        </p:grpSpPr>
        <p:sp>
          <p:nvSpPr>
            <p:cNvPr id="3" name="Freeform 3"/>
            <p:cNvSpPr/>
            <p:nvPr/>
          </p:nvSpPr>
          <p:spPr>
            <a:xfrm>
              <a:off x="0" y="0"/>
              <a:ext cx="3255608" cy="433237"/>
            </a:xfrm>
            <a:custGeom>
              <a:avLst/>
              <a:gdLst/>
              <a:ahLst/>
              <a:cxnLst/>
              <a:rect l="l" t="t" r="r" b="b"/>
              <a:pathLst>
                <a:path w="3255608" h="433237">
                  <a:moveTo>
                    <a:pt x="12526" y="0"/>
                  </a:moveTo>
                  <a:lnTo>
                    <a:pt x="3243082" y="0"/>
                  </a:lnTo>
                  <a:cubicBezTo>
                    <a:pt x="3246404" y="0"/>
                    <a:pt x="3249590" y="1320"/>
                    <a:pt x="3251939" y="3669"/>
                  </a:cubicBezTo>
                  <a:cubicBezTo>
                    <a:pt x="3254288" y="6018"/>
                    <a:pt x="3255608" y="9204"/>
                    <a:pt x="3255608" y="12526"/>
                  </a:cubicBezTo>
                  <a:lnTo>
                    <a:pt x="3255608" y="420710"/>
                  </a:lnTo>
                  <a:cubicBezTo>
                    <a:pt x="3255608" y="427628"/>
                    <a:pt x="3250000" y="433237"/>
                    <a:pt x="3243082" y="433237"/>
                  </a:cubicBezTo>
                  <a:lnTo>
                    <a:pt x="12526" y="433237"/>
                  </a:lnTo>
                  <a:cubicBezTo>
                    <a:pt x="5608" y="433237"/>
                    <a:pt x="0" y="427628"/>
                    <a:pt x="0" y="420710"/>
                  </a:cubicBezTo>
                  <a:lnTo>
                    <a:pt x="0" y="12526"/>
                  </a:lnTo>
                  <a:cubicBezTo>
                    <a:pt x="0" y="5608"/>
                    <a:pt x="5608" y="0"/>
                    <a:pt x="12526" y="0"/>
                  </a:cubicBezTo>
                  <a:close/>
                </a:path>
              </a:pathLst>
            </a:custGeom>
            <a:gradFill rotWithShape="1">
              <a:gsLst>
                <a:gs pos="0">
                  <a:srgbClr val="C4DAD2">
                    <a:alpha val="100000"/>
                  </a:srgbClr>
                </a:gs>
                <a:gs pos="50000">
                  <a:srgbClr val="E9EFEC">
                    <a:alpha val="100000"/>
                  </a:srgbClr>
                </a:gs>
                <a:gs pos="100000">
                  <a:srgbClr val="C4DAD2">
                    <a:alpha val="100000"/>
                  </a:srgbClr>
                </a:gs>
              </a:gsLst>
              <a:lin ang="0"/>
            </a:gradFill>
          </p:spPr>
        </p:sp>
        <p:sp>
          <p:nvSpPr>
            <p:cNvPr id="4" name="TextBox 4"/>
            <p:cNvSpPr txBox="1"/>
            <p:nvPr/>
          </p:nvSpPr>
          <p:spPr>
            <a:xfrm>
              <a:off x="0" y="-38100"/>
              <a:ext cx="3255608" cy="471337"/>
            </a:xfrm>
            <a:prstGeom prst="rect">
              <a:avLst/>
            </a:prstGeom>
          </p:spPr>
          <p:txBody>
            <a:bodyPr lIns="50800" tIns="50800" rIns="50800" bIns="50800" rtlCol="0" anchor="ctr"/>
            <a:lstStyle/>
            <a:p>
              <a:pPr algn="ctr">
                <a:lnSpc>
                  <a:spcPts val="2660"/>
                </a:lnSpc>
                <a:spcBef>
                  <a:spcPct val="0"/>
                </a:spcBef>
              </a:pPr>
              <a:endParaRPr dirty="0"/>
            </a:p>
          </p:txBody>
        </p:sp>
      </p:grpSp>
      <p:sp>
        <p:nvSpPr>
          <p:cNvPr id="15" name="Freeform 15"/>
          <p:cNvSpPr/>
          <p:nvPr/>
        </p:nvSpPr>
        <p:spPr>
          <a:xfrm>
            <a:off x="16625075" y="7613355"/>
            <a:ext cx="2669015" cy="2669015"/>
          </a:xfrm>
          <a:custGeom>
            <a:avLst/>
            <a:gdLst/>
            <a:ahLst/>
            <a:cxnLst/>
            <a:rect l="l" t="t" r="r" b="b"/>
            <a:pathLst>
              <a:path w="2669015" h="2669015">
                <a:moveTo>
                  <a:pt x="0" y="0"/>
                </a:moveTo>
                <a:lnTo>
                  <a:pt x="2669015" y="0"/>
                </a:lnTo>
                <a:lnTo>
                  <a:pt x="2669015" y="2669015"/>
                </a:lnTo>
                <a:lnTo>
                  <a:pt x="0" y="266901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8" name="TextBox 18"/>
          <p:cNvSpPr txBox="1"/>
          <p:nvPr/>
        </p:nvSpPr>
        <p:spPr>
          <a:xfrm>
            <a:off x="2286000" y="456719"/>
            <a:ext cx="13380592" cy="923394"/>
          </a:xfrm>
          <a:prstGeom prst="rect">
            <a:avLst/>
          </a:prstGeom>
        </p:spPr>
        <p:txBody>
          <a:bodyPr lIns="0" tIns="0" rIns="0" bIns="0" rtlCol="0" anchor="t">
            <a:spAutoFit/>
          </a:bodyPr>
          <a:lstStyle/>
          <a:p>
            <a:pPr algn="ctr">
              <a:lnSpc>
                <a:spcPts val="7205"/>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Conclusion</a:t>
            </a:r>
          </a:p>
        </p:txBody>
      </p:sp>
      <p:sp>
        <p:nvSpPr>
          <p:cNvPr id="5" name="Rectangle 4"/>
          <p:cNvSpPr/>
          <p:nvPr/>
        </p:nvSpPr>
        <p:spPr>
          <a:xfrm>
            <a:off x="684345" y="2438862"/>
            <a:ext cx="9907455" cy="5913157"/>
          </a:xfrm>
          <a:prstGeom prst="rect">
            <a:avLst/>
          </a:prstGeom>
        </p:spPr>
        <p:txBody>
          <a:bodyPr wrap="square">
            <a:spAutoFit/>
          </a:bodyPr>
          <a:lstStyle/>
          <a:p>
            <a:pPr marL="342900" lvl="0" indent="-3429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Faces influence visual and emotional processing </a:t>
            </a:r>
          </a:p>
          <a:p>
            <a:pPr marL="342900" lvl="0" indent="-3429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Political memes involve complex multimodal interpretation </a:t>
            </a:r>
          </a:p>
          <a:p>
            <a:pPr marL="342900" lvl="0" indent="-3429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AI can manipulate facial and emotional cues </a:t>
            </a:r>
          </a:p>
          <a:p>
            <a:pPr marL="342900" lvl="0" indent="-3429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AI imagery may influence attention and credibility </a:t>
            </a:r>
          </a:p>
          <a:p>
            <a:pPr marL="342900" lvl="0" indent="-342900" algn="just">
              <a:lnSpc>
                <a:spcPct val="15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Direct evidence remains limited and inconclusive </a:t>
            </a:r>
          </a:p>
          <a:p>
            <a:pPr lvl="0" algn="just">
              <a:lnSpc>
                <a:spcPct val="150000"/>
              </a:lnSpc>
            </a:pPr>
            <a:r>
              <a:rPr lang="en-US" sz="3200" b="1" dirty="0">
                <a:latin typeface="Times New Roman" panose="02020603050405020304" pitchFamily="18" charset="0"/>
                <a:cs typeface="Times New Roman" panose="02020603050405020304" pitchFamily="18" charset="0"/>
              </a:rPr>
              <a:t>Key Takeaway: </a:t>
            </a:r>
            <a:r>
              <a:rPr lang="en-US" sz="3200" dirty="0">
                <a:latin typeface="Times New Roman" panose="02020603050405020304" pitchFamily="18" charset="0"/>
                <a:cs typeface="Times New Roman" panose="02020603050405020304" pitchFamily="18" charset="0"/>
              </a:rPr>
              <a:t>AI-altered faces may shape what viewers notice, feel and interpret.</a:t>
            </a:r>
          </a:p>
        </p:txBody>
      </p:sp>
      <p:pic>
        <p:nvPicPr>
          <p:cNvPr id="6" name="Picture 5" descr="A comprehensive review on application of cognitive behavioral therapy in emotional  AI solutions for mental well-being | Discover Psychology | Springer Nature  Link"/>
          <p:cNvPicPr>
            <a:picLocks noChangeAspect="1"/>
          </p:cNvPicPr>
          <p:nvPr/>
        </p:nvPicPr>
        <p:blipFill>
          <a:blip r:embed="rId4"/>
          <a:stretch>
            <a:fillRect/>
          </a:stretch>
        </p:blipFill>
        <p:spPr>
          <a:xfrm>
            <a:off x="12461358" y="2066394"/>
            <a:ext cx="5467744" cy="77266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a:extLst>
            <a:ext uri="{FF2B5EF4-FFF2-40B4-BE49-F238E27FC236}">
              <a16:creationId xmlns:a16="http://schemas.microsoft.com/office/drawing/2014/main" id="{A2354E28-5E4C-BC43-6844-7E942F325961}"/>
            </a:ext>
          </a:extLst>
        </p:cNvPr>
        <p:cNvGrpSpPr/>
        <p:nvPr/>
      </p:nvGrpSpPr>
      <p:grpSpPr>
        <a:xfrm>
          <a:off x="0" y="0"/>
          <a:ext cx="0" cy="0"/>
          <a:chOff x="0" y="0"/>
          <a:chExt cx="0" cy="0"/>
        </a:xfrm>
      </p:grpSpPr>
      <p:sp>
        <p:nvSpPr>
          <p:cNvPr id="15" name="Freeform 15">
            <a:extLst>
              <a:ext uri="{FF2B5EF4-FFF2-40B4-BE49-F238E27FC236}">
                <a16:creationId xmlns:a16="http://schemas.microsoft.com/office/drawing/2014/main" id="{F1F6CAE7-CF5B-30DF-F920-AA4373D54C58}"/>
              </a:ext>
            </a:extLst>
          </p:cNvPr>
          <p:cNvSpPr/>
          <p:nvPr/>
        </p:nvSpPr>
        <p:spPr>
          <a:xfrm>
            <a:off x="16625075" y="8341885"/>
            <a:ext cx="2669015" cy="2669015"/>
          </a:xfrm>
          <a:custGeom>
            <a:avLst/>
            <a:gdLst/>
            <a:ahLst/>
            <a:cxnLst/>
            <a:rect l="l" t="t" r="r" b="b"/>
            <a:pathLst>
              <a:path w="2669015" h="2669015">
                <a:moveTo>
                  <a:pt x="0" y="0"/>
                </a:moveTo>
                <a:lnTo>
                  <a:pt x="2669015" y="0"/>
                </a:lnTo>
                <a:lnTo>
                  <a:pt x="2669015" y="2669015"/>
                </a:lnTo>
                <a:lnTo>
                  <a:pt x="0" y="266901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6" name="Freeform 16">
            <a:extLst>
              <a:ext uri="{FF2B5EF4-FFF2-40B4-BE49-F238E27FC236}">
                <a16:creationId xmlns:a16="http://schemas.microsoft.com/office/drawing/2014/main" id="{4C2FB9D5-ED72-2A25-2DEF-9E9D38F67E22}"/>
              </a:ext>
            </a:extLst>
          </p:cNvPr>
          <p:cNvSpPr/>
          <p:nvPr/>
        </p:nvSpPr>
        <p:spPr>
          <a:xfrm flipH="1">
            <a:off x="-1676400" y="-1234386"/>
            <a:ext cx="2669015" cy="2669015"/>
          </a:xfrm>
          <a:custGeom>
            <a:avLst/>
            <a:gdLst/>
            <a:ahLst/>
            <a:cxnLst/>
            <a:rect l="l" t="t" r="r" b="b"/>
            <a:pathLst>
              <a:path w="2669015" h="2669015">
                <a:moveTo>
                  <a:pt x="2669016" y="0"/>
                </a:moveTo>
                <a:lnTo>
                  <a:pt x="0" y="0"/>
                </a:lnTo>
                <a:lnTo>
                  <a:pt x="0" y="2669015"/>
                </a:lnTo>
                <a:lnTo>
                  <a:pt x="2669016" y="2669015"/>
                </a:lnTo>
                <a:lnTo>
                  <a:pt x="2669016" y="0"/>
                </a:lnTo>
                <a:close/>
              </a:path>
            </a:pathLst>
          </a:custGeom>
          <a:blipFill>
            <a:blip>
              <a:extLst>
                <a:ext uri="{96DAC541-7B7A-43D3-8B79-37D633B846F1}">
                  <asvg:svgBlip xmlns:asvg="http://schemas.microsoft.com/office/drawing/2016/SVG/main" r:embed="rId3"/>
                </a:ext>
              </a:extLst>
            </a:blip>
            <a:stretch>
              <a:fillRect/>
            </a:stretch>
          </a:blipFill>
        </p:spPr>
      </p:sp>
      <p:sp>
        <p:nvSpPr>
          <p:cNvPr id="18" name="TextBox 18">
            <a:extLst>
              <a:ext uri="{FF2B5EF4-FFF2-40B4-BE49-F238E27FC236}">
                <a16:creationId xmlns:a16="http://schemas.microsoft.com/office/drawing/2014/main" id="{B61A442F-6C97-8630-EA2E-95520E748B2B}"/>
              </a:ext>
            </a:extLst>
          </p:cNvPr>
          <p:cNvSpPr txBox="1"/>
          <p:nvPr/>
        </p:nvSpPr>
        <p:spPr>
          <a:xfrm>
            <a:off x="3852199" y="240067"/>
            <a:ext cx="13380592" cy="923394"/>
          </a:xfrm>
          <a:prstGeom prst="rect">
            <a:avLst/>
          </a:prstGeom>
        </p:spPr>
        <p:txBody>
          <a:bodyPr lIns="0" tIns="0" rIns="0" bIns="0" rtlCol="0" anchor="t">
            <a:spAutoFit/>
          </a:bodyPr>
          <a:lstStyle/>
          <a:p>
            <a:pPr algn="ctr">
              <a:lnSpc>
                <a:spcPts val="7205"/>
              </a:lnSpc>
            </a:pPr>
            <a:r>
              <a:rPr lang="en-US" sz="6000" b="1" dirty="0">
                <a:solidFill>
                  <a:srgbClr val="16423C"/>
                </a:solidFill>
                <a:latin typeface="Times New Roman" panose="02020603050405020304" pitchFamily="18" charset="0"/>
                <a:ea typeface="Garet Bold"/>
                <a:cs typeface="Times New Roman" panose="02020603050405020304" pitchFamily="18" charset="0"/>
                <a:sym typeface="Garet Bold"/>
              </a:rPr>
              <a:t>References</a:t>
            </a:r>
          </a:p>
        </p:txBody>
      </p:sp>
      <p:sp>
        <p:nvSpPr>
          <p:cNvPr id="6" name="Rectangle 5">
            <a:extLst>
              <a:ext uri="{FF2B5EF4-FFF2-40B4-BE49-F238E27FC236}">
                <a16:creationId xmlns:a16="http://schemas.microsoft.com/office/drawing/2014/main" id="{7BB06B38-F9D4-B05C-FB8A-5B5165883CDA}"/>
              </a:ext>
            </a:extLst>
          </p:cNvPr>
          <p:cNvSpPr/>
          <p:nvPr/>
        </p:nvSpPr>
        <p:spPr>
          <a:xfrm>
            <a:off x="52582" y="1434629"/>
            <a:ext cx="17907000" cy="7804059"/>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Bülow, Laura, and Michael Johann. “Effects and Perception of Multimodal Recontextualization in Political Internet Memes: Evidence from Two Online Experiments in Austria.” *Frontiers in Communication*, vol. 7, 2023, article 1027014, </a:t>
            </a:r>
            <a:r>
              <a:rPr lang="en-US" sz="1600" dirty="0">
                <a:latin typeface="Times New Roman" panose="02020603050405020304" pitchFamily="18" charset="0"/>
                <a:cs typeface="Times New Roman" panose="02020603050405020304" pitchFamily="18" charset="0"/>
                <a:hlinkClick r:id="rId4"/>
              </a:rPr>
              <a:t>https://doi.org/10.3389/fcomm.2022.1027014</a:t>
            </a:r>
            <a:r>
              <a:rPr lang="en-US" sz="1600" dirty="0">
                <a:latin typeface="Times New Roman" panose="02020603050405020304" pitchFamily="18" charset="0"/>
                <a:cs typeface="Times New Roman" panose="02020603050405020304" pitchFamily="18" charset="0"/>
              </a:rPr>
              <a:t> </a:t>
            </a:r>
          </a:p>
          <a:p>
            <a:pPr marL="342900" indent="-34290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Chen, </a:t>
            </a:r>
            <a:r>
              <a:rPr lang="en-US" sz="1600" dirty="0" err="1">
                <a:latin typeface="Times New Roman" panose="02020603050405020304" pitchFamily="18" charset="0"/>
                <a:cs typeface="Times New Roman" panose="02020603050405020304" pitchFamily="18" charset="0"/>
              </a:rPr>
              <a:t>Zhenhui</a:t>
            </a:r>
            <a:r>
              <a:rPr lang="en-US" sz="1600" dirty="0">
                <a:latin typeface="Times New Roman" panose="02020603050405020304" pitchFamily="18" charset="0"/>
                <a:cs typeface="Times New Roman" panose="02020603050405020304" pitchFamily="18" charset="0"/>
              </a:rPr>
              <a:t>, et al. “Synthetic Politics: Prevalence, Spreaders, and Emotional Reception of AI-Generated Political Images on X.” *Proceedings of the 36th ACM Conference on Hypertext and Social Media*, Sept. 2025, pp. 11–21, </a:t>
            </a:r>
            <a:r>
              <a:rPr lang="en-US" sz="1600" dirty="0">
                <a:latin typeface="Times New Roman" panose="02020603050405020304" pitchFamily="18" charset="0"/>
                <a:cs typeface="Times New Roman" panose="02020603050405020304" pitchFamily="18" charset="0"/>
                <a:hlinkClick r:id="rId5"/>
              </a:rPr>
              <a:t>https://doi.org/10.1145/3720553.3746675</a:t>
            </a:r>
            <a:r>
              <a:rPr lang="en-US" sz="1600" dirty="0">
                <a:latin typeface="Times New Roman" panose="02020603050405020304" pitchFamily="18" charset="0"/>
                <a:cs typeface="Times New Roman" panose="02020603050405020304" pitchFamily="18" charset="0"/>
              </a:rPr>
              <a:t> </a:t>
            </a:r>
          </a:p>
          <a:p>
            <a:pPr marL="342900" indent="-34290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Eiserbeck, Anja, et al. “Deepfake Smiles Matter Less—the Psychological and Neural Impact of Presumed AI-Generated Faces.” *Scientific Reports*, vol. 13, no. 1, 2023, article 16111, </a:t>
            </a:r>
            <a:r>
              <a:rPr lang="en-US" sz="1600" dirty="0">
                <a:latin typeface="Times New Roman" panose="02020603050405020304" pitchFamily="18" charset="0"/>
                <a:cs typeface="Times New Roman" panose="02020603050405020304" pitchFamily="18" charset="0"/>
                <a:hlinkClick r:id="rId6"/>
              </a:rPr>
              <a:t>https://doi.org/10.1038/s41598-023-42802-x</a:t>
            </a:r>
            <a:r>
              <a:rPr lang="en-US" sz="1600" dirty="0">
                <a:latin typeface="Times New Roman" panose="02020603050405020304" pitchFamily="18" charset="0"/>
                <a:cs typeface="Times New Roman" panose="02020603050405020304" pitchFamily="18" charset="0"/>
              </a:rPr>
              <a:t> </a:t>
            </a:r>
          </a:p>
          <a:p>
            <a:pPr marL="342900" indent="-34290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Islam, Muhammad B. E., et al. “AI Threats to Politics, Elections, and Democracy: A Blockchain-Based Deepfake Authenticity Verification Framework.” *Blockchains*, vol. 2, no. 4, 2024, pp. 458–481, </a:t>
            </a:r>
            <a:r>
              <a:rPr lang="en-US" sz="1600" dirty="0">
                <a:latin typeface="Times New Roman" panose="02020603050405020304" pitchFamily="18" charset="0"/>
                <a:cs typeface="Times New Roman" panose="02020603050405020304" pitchFamily="18" charset="0"/>
                <a:hlinkClick r:id="rId7"/>
              </a:rPr>
              <a:t>https://doi.org/10.3390/blockchains2040020</a:t>
            </a:r>
            <a:r>
              <a:rPr lang="en-US" sz="1600" dirty="0">
                <a:latin typeface="Times New Roman" panose="02020603050405020304" pitchFamily="18" charset="0"/>
                <a:cs typeface="Times New Roman" panose="02020603050405020304" pitchFamily="18" charset="0"/>
              </a:rPr>
              <a:t> </a:t>
            </a:r>
          </a:p>
          <a:p>
            <a:pPr marL="342900" indent="-34290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Lande, R. S., A. P. Bhagat, and P. A. Khodke. “Current Challenges and Open Issues for Multimodal Visual Memes Content Analysis.” 2025, </a:t>
            </a:r>
            <a:r>
              <a:rPr lang="en-US" sz="1600" dirty="0">
                <a:latin typeface="Times New Roman" panose="02020603050405020304" pitchFamily="18" charset="0"/>
                <a:cs typeface="Times New Roman" panose="02020603050405020304" pitchFamily="18" charset="0"/>
                <a:hlinkClick r:id="rId8"/>
              </a:rPr>
              <a:t>https://oeilresearch.com/wp-content/uploads/50-ORJ1795.pdf</a:t>
            </a:r>
            <a:r>
              <a:rPr lang="en-US" sz="1600" dirty="0">
                <a:latin typeface="Times New Roman" panose="02020603050405020304" pitchFamily="18" charset="0"/>
                <a:cs typeface="Times New Roman" panose="02020603050405020304" pitchFamily="18" charset="0"/>
              </a:rPr>
              <a:t> </a:t>
            </a:r>
          </a:p>
          <a:p>
            <a:pPr marL="342900" indent="-34290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Liu, F., et al. “When Citizens Support AI Policies: The Moderating Roles of AI Efficacy on AI News, Discussion, and Literacy.” *Journal of Information Technology &amp; Politics*, vol. 21, no. 4, 2024, pp. 493–509, </a:t>
            </a:r>
            <a:r>
              <a:rPr lang="en-US" sz="1600" dirty="0">
                <a:latin typeface="Times New Roman" panose="02020603050405020304" pitchFamily="18" charset="0"/>
                <a:cs typeface="Times New Roman" panose="02020603050405020304" pitchFamily="18" charset="0"/>
                <a:hlinkClick r:id="rId9"/>
              </a:rPr>
              <a:t>https://doi.org/10.1080/19331681.2023.2294363</a:t>
            </a:r>
            <a:r>
              <a:rPr lang="en-US" sz="1600" dirty="0">
                <a:latin typeface="Times New Roman" panose="02020603050405020304" pitchFamily="18" charset="0"/>
                <a:cs typeface="Times New Roman" panose="02020603050405020304" pitchFamily="18" charset="0"/>
              </a:rPr>
              <a:t> </a:t>
            </a:r>
          </a:p>
          <a:p>
            <a:pPr marL="342900" indent="-342900" algn="just">
              <a:lnSpc>
                <a:spcPct val="150000"/>
              </a:lnSpc>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Pataranutaporn</a:t>
            </a:r>
            <a:r>
              <a:rPr lang="en-US" sz="1600" dirty="0">
                <a:latin typeface="Times New Roman" panose="02020603050405020304" pitchFamily="18" charset="0"/>
                <a:cs typeface="Times New Roman" panose="02020603050405020304" pitchFamily="18" charset="0"/>
              </a:rPr>
              <a:t>, Pat, et al. “Synthetic Human Memories: AI-Edited Images and Videos Can Implant False Memories and Distort Recollection.” *Proceedings of the 2025 CHI Conference on Human Factors in Computing Systems*, Apr. 2025, pp. 1–20, </a:t>
            </a:r>
            <a:r>
              <a:rPr lang="en-US" sz="1600" dirty="0">
                <a:latin typeface="Times New Roman" panose="02020603050405020304" pitchFamily="18" charset="0"/>
                <a:cs typeface="Times New Roman" panose="02020603050405020304" pitchFamily="18" charset="0"/>
                <a:hlinkClick r:id="rId10"/>
              </a:rPr>
              <a:t>https://doi.org/10.1145/3706598.3713697</a:t>
            </a:r>
            <a:r>
              <a:rPr lang="en-US" sz="1600" dirty="0">
                <a:latin typeface="Times New Roman" panose="02020603050405020304" pitchFamily="18" charset="0"/>
                <a:cs typeface="Times New Roman" panose="02020603050405020304" pitchFamily="18" charset="0"/>
              </a:rPr>
              <a:t>. </a:t>
            </a:r>
          </a:p>
          <a:p>
            <a:pPr marL="342900" indent="-342900" algn="just">
              <a:lnSpc>
                <a:spcPct val="150000"/>
              </a:lnSpc>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Scarpazza</a:t>
            </a:r>
            <a:r>
              <a:rPr lang="en-US" sz="1600" dirty="0">
                <a:latin typeface="Times New Roman" panose="02020603050405020304" pitchFamily="18" charset="0"/>
                <a:cs typeface="Times New Roman" panose="02020603050405020304" pitchFamily="18" charset="0"/>
              </a:rPr>
              <a:t>, Cristina, et al. “The Emotion Authenticity Recognition (EAR) Test: Normative Data of an Innovative Test Using Dynamic Emotional Stimuli to Evaluate the Ability to </a:t>
            </a:r>
            <a:r>
              <a:rPr lang="en-US" sz="1600" dirty="0" err="1">
                <a:latin typeface="Times New Roman" panose="02020603050405020304" pitchFamily="18" charset="0"/>
                <a:cs typeface="Times New Roman" panose="02020603050405020304" pitchFamily="18" charset="0"/>
              </a:rPr>
              <a:t>Recognise</a:t>
            </a:r>
            <a:r>
              <a:rPr lang="en-US" sz="1600" dirty="0">
                <a:latin typeface="Times New Roman" panose="02020603050405020304" pitchFamily="18" charset="0"/>
                <a:cs typeface="Times New Roman" panose="02020603050405020304" pitchFamily="18" charset="0"/>
              </a:rPr>
              <a:t> the Authenticity of Emotions Expressed by Faces.” *Neurological Sciences*, vol. 46, no. 1, 2025, pp. 133–145, </a:t>
            </a:r>
            <a:r>
              <a:rPr lang="en-US" sz="1600" dirty="0">
                <a:latin typeface="Times New Roman" panose="02020603050405020304" pitchFamily="18" charset="0"/>
                <a:cs typeface="Times New Roman" panose="02020603050405020304" pitchFamily="18" charset="0"/>
                <a:hlinkClick r:id="rId11"/>
              </a:rPr>
              <a:t>https://doi.org/10.1007/s10072-024-07689-0</a:t>
            </a:r>
            <a:r>
              <a:rPr lang="en-US" sz="1600" dirty="0">
                <a:latin typeface="Times New Roman" panose="02020603050405020304" pitchFamily="18" charset="0"/>
                <a:cs typeface="Times New Roman" panose="02020603050405020304" pitchFamily="18" charset="0"/>
              </a:rPr>
              <a:t>. </a:t>
            </a:r>
          </a:p>
          <a:p>
            <a:pPr marL="342900" indent="-34290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Wang, J. Z., et al. “Unlocking the Emotional World of Visual Media: An Overview of the Science, Research, and Impact of Understanding Emotion.” *Proceedings of the IEEE*, vol. 111, no. 10, 2023, pp. 1236–1286, </a:t>
            </a:r>
            <a:r>
              <a:rPr lang="en-US" sz="1600" dirty="0">
                <a:latin typeface="Times New Roman" panose="02020603050405020304" pitchFamily="18" charset="0"/>
                <a:cs typeface="Times New Roman" panose="02020603050405020304" pitchFamily="18" charset="0"/>
                <a:hlinkClick r:id="rId12"/>
              </a:rPr>
              <a:t>https://doi.org/10.1109/JPROC.2023.3272408</a:t>
            </a:r>
            <a:r>
              <a:rPr lang="en-US" sz="1600" dirty="0">
                <a:latin typeface="Times New Roman" panose="02020603050405020304" pitchFamily="18" charset="0"/>
                <a:cs typeface="Times New Roman" panose="02020603050405020304" pitchFamily="18" charset="0"/>
              </a:rPr>
              <a:t> </a:t>
            </a:r>
          </a:p>
          <a:p>
            <a:pPr marL="342900" indent="-34290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Xu, X., and K. Wise. “Human vs Artificial Newscasters: Divergent Effects on Viewer Attention and Emotional Processing.” *International Journal of Human–Computer Interaction*, vol. 42, no. 12, 2026, pp. 9526–9545, </a:t>
            </a:r>
            <a:r>
              <a:rPr lang="en-US" sz="1600" dirty="0">
                <a:latin typeface="Times New Roman" panose="02020603050405020304" pitchFamily="18" charset="0"/>
                <a:cs typeface="Times New Roman" panose="02020603050405020304" pitchFamily="18" charset="0"/>
                <a:hlinkClick r:id="rId13"/>
              </a:rPr>
              <a:t>https://doi.org/10.1080/10447318.2025.2578395</a:t>
            </a:r>
            <a:r>
              <a:rPr lang="en-US" sz="1600" dirty="0">
                <a:latin typeface="Times New Roman" panose="02020603050405020304" pitchFamily="18" charset="0"/>
                <a:cs typeface="Times New Roman" panose="02020603050405020304" pitchFamily="18" charset="0"/>
              </a:rPr>
              <a:t> </a:t>
            </a:r>
          </a:p>
          <a:p>
            <a:pPr marL="342900" indent="-34290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Zhu, A., et al. “How Brow Rotation Affects Emotional Expression </a:t>
            </a:r>
            <a:r>
              <a:rPr lang="en-US" sz="1600" dirty="0" err="1">
                <a:latin typeface="Times New Roman" panose="02020603050405020304" pitchFamily="18" charset="0"/>
                <a:cs typeface="Times New Roman" panose="02020603050405020304" pitchFamily="18" charset="0"/>
              </a:rPr>
              <a:t>Utilising</a:t>
            </a:r>
            <a:r>
              <a:rPr lang="en-US" sz="1600" dirty="0">
                <a:latin typeface="Times New Roman" panose="02020603050405020304" pitchFamily="18" charset="0"/>
                <a:cs typeface="Times New Roman" panose="02020603050405020304" pitchFamily="18" charset="0"/>
              </a:rPr>
              <a:t> Artificial Intelligence.” *Aesthetic Plastic Surgery*, vol. 47, no. 6, 2023, pp. 2552–2560, </a:t>
            </a:r>
            <a:r>
              <a:rPr lang="en-US" sz="1600" dirty="0">
                <a:latin typeface="Times New Roman" panose="02020603050405020304" pitchFamily="18" charset="0"/>
                <a:cs typeface="Times New Roman" panose="02020603050405020304" pitchFamily="18" charset="0"/>
                <a:hlinkClick r:id="rId14"/>
              </a:rPr>
              <a:t>https://doi.org/10.1007/s00266-023-03615-5</a:t>
            </a:r>
            <a:r>
              <a:rPr lang="en-US" sz="1600" dirty="0">
                <a:latin typeface="Times New Roman" panose="02020603050405020304" pitchFamily="18" charset="0"/>
                <a:cs typeface="Times New Roman" panose="02020603050405020304" pitchFamily="18" charset="0"/>
              </a:rPr>
              <a:t>. </a:t>
            </a:r>
          </a:p>
          <a:p>
            <a:pPr marL="342900" indent="-342900" algn="just">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Zsidó, A. N. “The Effect of Emotional Arousal on Visual Attentional Performance: A Systematic Review.” *Psychological Research*, vol. 88, no. 1, 2024, pp. 1–24, </a:t>
            </a:r>
            <a:r>
              <a:rPr lang="en-US" sz="1600" dirty="0">
                <a:latin typeface="Times New Roman" panose="02020603050405020304" pitchFamily="18" charset="0"/>
                <a:cs typeface="Times New Roman" panose="02020603050405020304" pitchFamily="18" charset="0"/>
                <a:hlinkClick r:id="rId15"/>
              </a:rPr>
              <a:t>https://doi.org/10.1007/s00426-023-01852-6</a:t>
            </a:r>
            <a:r>
              <a:rPr lang="en-US" sz="16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693387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9EFEC"/>
        </a:solidFill>
        <a:effectLst/>
      </p:bgPr>
    </p:bg>
    <p:spTree>
      <p:nvGrpSpPr>
        <p:cNvPr id="1" name=""/>
        <p:cNvGrpSpPr/>
        <p:nvPr/>
      </p:nvGrpSpPr>
      <p:grpSpPr>
        <a:xfrm>
          <a:off x="0" y="0"/>
          <a:ext cx="0" cy="0"/>
          <a:chOff x="0" y="0"/>
          <a:chExt cx="0" cy="0"/>
        </a:xfrm>
      </p:grpSpPr>
      <p:sp>
        <p:nvSpPr>
          <p:cNvPr id="15" name="Freeform 15"/>
          <p:cNvSpPr/>
          <p:nvPr/>
        </p:nvSpPr>
        <p:spPr>
          <a:xfrm>
            <a:off x="16625075" y="8341885"/>
            <a:ext cx="2669015" cy="2669015"/>
          </a:xfrm>
          <a:custGeom>
            <a:avLst/>
            <a:gdLst/>
            <a:ahLst/>
            <a:cxnLst/>
            <a:rect l="l" t="t" r="r" b="b"/>
            <a:pathLst>
              <a:path w="2669015" h="2669015">
                <a:moveTo>
                  <a:pt x="0" y="0"/>
                </a:moveTo>
                <a:lnTo>
                  <a:pt x="2669015" y="0"/>
                </a:lnTo>
                <a:lnTo>
                  <a:pt x="2669015" y="2669015"/>
                </a:lnTo>
                <a:lnTo>
                  <a:pt x="0" y="266901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6" name="Freeform 16"/>
          <p:cNvSpPr/>
          <p:nvPr/>
        </p:nvSpPr>
        <p:spPr>
          <a:xfrm flipH="1">
            <a:off x="-1676400" y="-1234386"/>
            <a:ext cx="2669015" cy="2669015"/>
          </a:xfrm>
          <a:custGeom>
            <a:avLst/>
            <a:gdLst/>
            <a:ahLst/>
            <a:cxnLst/>
            <a:rect l="l" t="t" r="r" b="b"/>
            <a:pathLst>
              <a:path w="2669015" h="2669015">
                <a:moveTo>
                  <a:pt x="2669016" y="0"/>
                </a:moveTo>
                <a:lnTo>
                  <a:pt x="0" y="0"/>
                </a:lnTo>
                <a:lnTo>
                  <a:pt x="0" y="2669015"/>
                </a:lnTo>
                <a:lnTo>
                  <a:pt x="2669016" y="2669015"/>
                </a:lnTo>
                <a:lnTo>
                  <a:pt x="2669016" y="0"/>
                </a:lnTo>
                <a:close/>
              </a:path>
            </a:pathLst>
          </a:custGeom>
          <a:blipFill>
            <a:blip>
              <a:extLst>
                <a:ext uri="{96DAC541-7B7A-43D3-8B79-37D633B846F1}">
                  <asvg:svgBlip xmlns:asvg="http://schemas.microsoft.com/office/drawing/2016/SVG/main" r:embed="rId3"/>
                </a:ext>
              </a:extLst>
            </a:blip>
            <a:stretch>
              <a:fillRect/>
            </a:stretch>
          </a:blipFill>
        </p:spPr>
      </p:sp>
      <p:sp>
        <p:nvSpPr>
          <p:cNvPr id="18" name="TextBox 18"/>
          <p:cNvSpPr txBox="1"/>
          <p:nvPr/>
        </p:nvSpPr>
        <p:spPr>
          <a:xfrm>
            <a:off x="2743200" y="4381500"/>
            <a:ext cx="13380592" cy="1107291"/>
          </a:xfrm>
          <a:prstGeom prst="rect">
            <a:avLst/>
          </a:prstGeom>
        </p:spPr>
        <p:txBody>
          <a:bodyPr lIns="0" tIns="0" rIns="0" bIns="0" rtlCol="0" anchor="t">
            <a:spAutoFit/>
          </a:bodyPr>
          <a:lstStyle/>
          <a:p>
            <a:pPr algn="ctr">
              <a:lnSpc>
                <a:spcPts val="7205"/>
              </a:lnSpc>
            </a:pPr>
            <a:r>
              <a:rPr lang="en-US" sz="13800" b="1" dirty="0">
                <a:solidFill>
                  <a:srgbClr val="16423C"/>
                </a:solidFill>
                <a:latin typeface="Times New Roman" panose="02020603050405020304" pitchFamily="18" charset="0"/>
                <a:ea typeface="Garet Bold"/>
                <a:cs typeface="Times New Roman" panose="02020603050405020304" pitchFamily="18" charset="0"/>
                <a:sym typeface="Garet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3697</Words>
  <Application>Microsoft Office PowerPoint</Application>
  <PresentationFormat>Custom</PresentationFormat>
  <Paragraphs>149</Paragraphs>
  <Slides>16</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Calibri</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and White Modern Medical Clinical Care Presentation</dc:title>
  <dc:creator/>
  <cp:lastModifiedBy>Dharmendra vaishnav</cp:lastModifiedBy>
  <cp:revision>27</cp:revision>
  <dcterms:created xsi:type="dcterms:W3CDTF">2006-08-16T00:00:00Z</dcterms:created>
  <dcterms:modified xsi:type="dcterms:W3CDTF">2026-09-12T10:30:34Z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3CA7A18723D74A92BF12574A086BC278_12</vt:lpwstr>
  </property>
  <property fmtid="{D5CDD505-2E9C-101B-9397-08002B2CF9AE}" pid="3" name="KSOProductBuildVer">
    <vt:lpwstr>2057-12.2.0.23206</vt:lpwstr>
  </property>
</Properties>
</file>