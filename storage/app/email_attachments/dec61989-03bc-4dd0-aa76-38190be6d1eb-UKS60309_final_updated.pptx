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 TargetMode="External"/><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HydraTrack</a:t>
            </a:r>
            <a:r>
              <a:t> tackles water scarcity with a bottle that records water consumption and reminds users to drink on time. The pitch is looking for £100,000 to enhance the application, order inventory and get customers. Research in the field of hydration helps satisfy the need, whereas a commercial case requires turning the need into repeatable demand (Nishi et al., 2023).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It's not just a water shortage issue; it's a behaviour issue. The user can carry a bottle and drink very little since there is no feedback. Studies on reuse packaging also indicate that convenience plays a role in the willingness to adopt sustainable options, and that making monitoring simple is a key component of HydraTrack's offering (Patreau et al., 2023).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bottle is a single-day product, with an insulated reusable container and intake tracking and visible reminders (</a:t>
            </a:r>
            <a:r>
              <a:t>Alaslani</a:t>
            </a:r>
            <a:r>
              <a:t> et al., 2024). The application does not require any complex manual entry and shows progress. New research has shown that smartphones can aid in monitoring hydration non-invasively, suggesting a viable future trajectory in product development that goes beyond volume monitoring.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HydraTrack will be aimed at consumers who are already using reusable bottles and are digitally savvy, but require behavioural support. Organisational sales offer more sizeable orders and product usage in communities (Hussain et al., 2022). When the information offered in interactive social advertisements is helpful and trustworthy, it can enhance engagement and electronic word of mouth.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HydraTrack sits between the inexpensive, reusable bottle and the connected, more costly bottle. Its £69 price requires reliable sensing, uncomplicated onboarding and responsive customer support. Marketing should highlight a real-world benefit that is sustained without making the bottle the sole option to treat dehydration (Rosinger et al., 2024).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strategic approach is to have affordable pricing, low data collection, and supplier quality controls. </a:t>
            </a:r>
            <a:r>
              <a:t>HydraTrack</a:t>
            </a:r>
            <a:r>
              <a:t> should trademark the brand, secure testing of application code and establish testing standards for documents. Reminders should be flexible and not be </a:t>
            </a:r>
            <a:r>
              <a:t>standardised</a:t>
            </a:r>
            <a:r>
              <a:t> for all users, as hydration requirements vary between different ages and physiologies (Li et al., 2023).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first revenue stream is the bottle, and the other revenue streams come from the replacement lids, cleaning accessories, and additional digital functionality. Direct sales ensure customer relationships are maintained, and </a:t>
            </a:r>
            <a:r>
              <a:t>organisational</a:t>
            </a:r>
            <a:r>
              <a:t> orders provide greater volume predictability. The financial assumptions in </a:t>
            </a:r>
            <a:r>
              <a:t>HydraTrack</a:t>
            </a:r>
            <a:r>
              <a:t> must be clear, verifiable and consistent with the assessment of the markets, and the assessment of the management and forecasts (OECD, 2022).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Marketing focuses on quantifiable campaigns in the digital space, not on general awareness marketing spending. Each channel will monitor acquisition cost based on CAC £12.50 assumption, conversion, and repeat purchasing. Material on fitness will include reminders and real-world effects of fitness habits throughout the day, and evidence illustrating how significant hypohydration affects cognition and mood (Dube et al., 2022).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HydraTrack has a system of authorising suppliers by samples, sensor testing and pre-shipment inspections prior to releasing inventory. If additional capacity and support are required, the operating model will be scaled up. When users believe that apps are useful and require little effort, application reliability takes priority over being an optional addition for mobile health adoption (Calegari et al., 2023).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model assumes a £69 selling price, 400 monthly Year 1 orders, 40% Year 2 growth and 30% Year 3 growth. Gross margin remains 64%, while projected net margin improves from 7.8% to 19.0%. Customer demand must therefore be reviewed monthly and never treated as guaranteed.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With the Year 1 target being just 60 orders per month above breakeven, conversion performance is crucial. The £257,845 Month 36 cash forecast suggests that there is capacity for reinvestment if the forecast sales are </a:t>
            </a:r>
            <a:r>
              <a:t>realised</a:t>
            </a:r>
            <a:r>
              <a:t>. The financial projections, burn rate, market conditions, and ability of the team are all key factors in startup sustainability (Takas et al., 2024).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team goes through product improvement, supplier orders and application testing from months 1 to 3. In month four, marketing commences and partnering begins, with KPI reviews every month thereafter (Hussain et al., 2022). Clear accountability is provided by founder oversight, operations management, marketing execution and technical support, while the advertising evidence helps to inform customer engagement decisions.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200" u="sng"/>
              <a:t>Alaslani</a:t>
            </a:r>
            <a:r>
              <a:rPr sz="1200" u="sng"/>
              <a:t>, R., </a:t>
            </a:r>
            <a:r>
              <a:rPr sz="1200" u="sng"/>
              <a:t>Perzhilla</a:t>
            </a:r>
            <a:r>
              <a:rPr sz="1200" u="sng"/>
              <a:t>, L., Rahman, M.M.U., Laleg-Kirati, T.M. and Al-</a:t>
            </a:r>
            <a:r>
              <a:rPr sz="1200" u="sng"/>
              <a:t>Naffouri</a:t>
            </a:r>
            <a:r>
              <a:rPr sz="1200" u="sng"/>
              <a:t>, T.Y., 2025. You can monitor your hydration level using your smartphone camera. </a:t>
            </a:r>
            <a:r>
              <a:rPr sz="1200" i="1" u="sng"/>
              <a:t>IEEE Transactions on Instrumentation and Measurement</a:t>
            </a:r>
            <a:r>
              <a:rPr sz="1200" u="sng"/>
              <a:t>, </a:t>
            </a:r>
            <a:r>
              <a:rPr sz="1200" i="1" u="sng"/>
              <a:t>74</a:t>
            </a:r>
            <a:r>
              <a:rPr sz="1200" u="sng"/>
              <a:t>, pp.1-14. </a:t>
            </a:r>
            <a:r>
              <a:rPr sz="1200" u="sng">
                <a:hlinkClick r:id="rId3"/>
              </a:rPr>
              <a:t>https://ieeexplore.ieee.org/abstract/document/11062629/</a:t>
            </a:r>
            <a:endParaRPr sz="1200" kern="1200"/>
          </a:p>
          <a:p>
            <a:r>
              <a:rPr sz="1200"/>
              <a:t>Calegari, L.P., Tortorella, G.L. and </a:t>
            </a:r>
            <a:r>
              <a:rPr sz="1200"/>
              <a:t>Fettermann</a:t>
            </a:r>
            <a:r>
              <a:rPr sz="1200"/>
              <a:t>, D.C., 2023. Getting connected to m-health technologies through a meta-analysis. </a:t>
            </a:r>
            <a:r>
              <a:rPr sz="1200" i="1"/>
              <a:t>International journal of environmental research and public health</a:t>
            </a:r>
            <a:r>
              <a:rPr sz="1200"/>
              <a:t>, </a:t>
            </a:r>
            <a:r>
              <a:rPr sz="1200" i="1"/>
              <a:t>20</a:t>
            </a:r>
            <a:r>
              <a:rPr sz="1200"/>
              <a:t>(5), p.4369. </a:t>
            </a:r>
            <a:r>
              <a:rPr sz="1200" u="sng">
                <a:hlinkClick r:id="rId3"/>
              </a:rPr>
              <a:t>https://www.mdpi.com/1660-4601/20/5/4369</a:t>
            </a:r>
            <a:endParaRPr sz="1200" kern="1200"/>
          </a:p>
          <a:p>
            <a:r>
              <a:rPr sz="1200"/>
              <a:t>Dube, A., Gouws, C. and </a:t>
            </a:r>
            <a:r>
              <a:rPr sz="1200"/>
              <a:t>Breukelman</a:t>
            </a:r>
            <a:r>
              <a:rPr sz="1200"/>
              <a:t>, G., 2022. Effects of hypohydration and fluid balance in athletes' cognitive performance: a systematic review. </a:t>
            </a:r>
            <a:r>
              <a:rPr sz="1200" i="1"/>
              <a:t>African health sciences</a:t>
            </a:r>
            <a:r>
              <a:rPr sz="1200"/>
              <a:t>, </a:t>
            </a:r>
            <a:r>
              <a:rPr sz="1200" i="1"/>
              <a:t>22</a:t>
            </a:r>
            <a:r>
              <a:rPr sz="1200"/>
              <a:t>(1), p.367. </a:t>
            </a:r>
            <a:r>
              <a:rPr sz="1200" u="sng">
                <a:hlinkClick r:id="rId3"/>
              </a:rPr>
              <a:t>https://pmc.ncbi.nlm.nih.gov/articles/PMC9382508/</a:t>
            </a:r>
            <a:endParaRPr sz="1200" kern="1200"/>
          </a:p>
          <a:p>
            <a:r>
              <a:rPr sz="1200"/>
              <a:t>Hussain, A., Ting, D.H. and Mazhar, M., 2022. Driving consumer value co-creation and purchase intention by social media advertising value. </a:t>
            </a:r>
            <a:r>
              <a:rPr sz="1200" i="1"/>
              <a:t>Frontiers in psychology</a:t>
            </a:r>
            <a:r>
              <a:rPr sz="1200"/>
              <a:t>, </a:t>
            </a:r>
            <a:r>
              <a:rPr sz="1200" i="1"/>
              <a:t>13</a:t>
            </a:r>
            <a:r>
              <a:rPr sz="1200"/>
              <a:t>, p.800206. </a:t>
            </a:r>
            <a:r>
              <a:rPr sz="1200" u="sng">
                <a:hlinkClick r:id="rId3"/>
              </a:rPr>
              <a:t>https://www.frontiersin.org/journals/psychology/articles/10.3389/fpsyg.2022.800206/full</a:t>
            </a:r>
            <a:endParaRPr sz="1200" kern="1200"/>
          </a:p>
          <a:p>
            <a:r>
              <a:rPr sz="1200"/>
              <a:t>Li, S., Xiao, X. and Zhang, X., 2023. Hydration status in older adults: current knowledge and future challenges. </a:t>
            </a:r>
            <a:r>
              <a:rPr sz="1200" i="1"/>
              <a:t>Nutrients</a:t>
            </a:r>
            <a:r>
              <a:rPr sz="1200"/>
              <a:t>, </a:t>
            </a:r>
            <a:r>
              <a:rPr sz="1200" i="1"/>
              <a:t>15</a:t>
            </a:r>
            <a:r>
              <a:rPr sz="1200"/>
              <a:t>(11), p.2609. </a:t>
            </a:r>
            <a:r>
              <a:rPr sz="1200" u="sng">
                <a:hlinkClick r:id="rId3"/>
              </a:rPr>
              <a:t>https://www.mdpi.com/2072-6643/15/11/2609</a:t>
            </a:r>
            <a:endParaRPr sz="1200" kern="1200"/>
          </a:p>
          <a:p>
            <a:r>
              <a:rPr sz="1200"/>
              <a:t>Naem, M.S.A., </a:t>
            </a:r>
            <a:r>
              <a:rPr sz="1200"/>
              <a:t>Koudil</a:t>
            </a:r>
            <a:r>
              <a:rPr sz="1200"/>
              <a:t>, M. and </a:t>
            </a:r>
            <a:r>
              <a:rPr sz="1200"/>
              <a:t>Ouldimam</a:t>
            </a:r>
            <a:r>
              <a:rPr sz="1200"/>
              <a:t>, Z., 2022. Product quality assessment in the internet of things: a consumer-oriented approach. </a:t>
            </a:r>
            <a:r>
              <a:rPr sz="1200" i="1"/>
              <a:t>Sensors</a:t>
            </a:r>
            <a:r>
              <a:rPr sz="1200"/>
              <a:t>, </a:t>
            </a:r>
            <a:r>
              <a:rPr sz="1200" i="1"/>
              <a:t>22</a:t>
            </a:r>
            <a:r>
              <a:rPr sz="1200"/>
              <a:t>(6), p.2215. </a:t>
            </a:r>
            <a:r>
              <a:rPr sz="1200" u="sng">
                <a:hlinkClick r:id="rId3"/>
              </a:rPr>
              <a:t>https://www.mdpi.com/1424-8220/22/6/2215</a:t>
            </a:r>
            <a:endParaRPr sz="1200" kern="1200"/>
          </a:p>
          <a:p>
            <a:r>
              <a:rPr sz="1200"/>
              <a:t>Nishi, S.K., </a:t>
            </a:r>
            <a:r>
              <a:rPr sz="1200"/>
              <a:t>Babio</a:t>
            </a:r>
            <a:r>
              <a:rPr sz="1200"/>
              <a:t>, N., Paz-Graniel, I., Serra-</a:t>
            </a:r>
            <a:r>
              <a:rPr sz="1200"/>
              <a:t>Majem</a:t>
            </a:r>
            <a:r>
              <a:rPr sz="1200"/>
              <a:t>, L., </a:t>
            </a:r>
            <a:r>
              <a:rPr sz="1200"/>
              <a:t>Vioque</a:t>
            </a:r>
            <a:r>
              <a:rPr sz="1200"/>
              <a:t>, J., Fitó, M., Corella, D., </a:t>
            </a:r>
            <a:r>
              <a:rPr sz="1200"/>
              <a:t>Pintó</a:t>
            </a:r>
            <a:r>
              <a:rPr sz="1200"/>
              <a:t>, X., Bueno-</a:t>
            </a:r>
            <a:r>
              <a:rPr sz="1200"/>
              <a:t>Cavanillas</a:t>
            </a:r>
            <a:r>
              <a:rPr sz="1200"/>
              <a:t>, A., Tur, J.A. and Diez-</a:t>
            </a:r>
            <a:r>
              <a:rPr sz="1200"/>
              <a:t>Ricote</a:t>
            </a:r>
            <a:r>
              <a:rPr sz="1200"/>
              <a:t>, L., 2023. Water intake, hydration status and 2-year changes in cognitive performance: a prospective cohort study. </a:t>
            </a:r>
            <a:r>
              <a:rPr sz="1200" i="1"/>
              <a:t>BMC medicine</a:t>
            </a:r>
            <a:r>
              <a:rPr sz="1200"/>
              <a:t>, </a:t>
            </a:r>
            <a:r>
              <a:rPr sz="1200" i="1"/>
              <a:t>21</a:t>
            </a:r>
            <a:r>
              <a:rPr sz="1200"/>
              <a:t>(1), p.82. </a:t>
            </a:r>
            <a:r>
              <a:rPr sz="1200" u="sng">
                <a:hlinkClick r:id="rId3"/>
              </a:rPr>
              <a:t>https://link.springer.com/article/10.1186/s12916-023-02771-4</a:t>
            </a:r>
            <a:endParaRPr sz="1200" kern="1200"/>
          </a:p>
          <a:p>
            <a:r>
              <a:rPr sz="1200"/>
              <a:t>OECD (2022) Financing SMEs and Entrepreneurs 2022: An OECD Scoreboard. Paris: OECD Publishing. </a:t>
            </a:r>
            <a:r>
              <a:rPr sz="1200" u="sng">
                <a:hlinkClick r:id="rId3"/>
              </a:rPr>
              <a:t>https://doi.org/10.1787/e9073a0f-en</a:t>
            </a:r>
            <a:r>
              <a:rPr sz="1200"/>
              <a:t>.</a:t>
            </a:r>
            <a:endParaRPr sz="1200" kern="1200"/>
          </a:p>
          <a:p>
            <a:r>
              <a:rPr sz="1200"/>
              <a:t>Patreau</a:t>
            </a:r>
            <a:r>
              <a:rPr sz="1200"/>
              <a:t>, V., Bernard, S., Leroux, J., Bellemare, M. and Morissette, J., 2023. Consumer interest and willingness to pay for in-bulk products with reusable packaging options. </a:t>
            </a:r>
            <a:r>
              <a:rPr sz="1200" i="1"/>
              <a:t>Frontiers in Sustainability</a:t>
            </a:r>
            <a:r>
              <a:rPr sz="1200"/>
              <a:t>, </a:t>
            </a:r>
            <a:r>
              <a:rPr sz="1200" i="1"/>
              <a:t>4</a:t>
            </a:r>
            <a:r>
              <a:rPr sz="1200"/>
              <a:t>, p.1228917. </a:t>
            </a:r>
            <a:r>
              <a:rPr sz="1200" u="sng">
                <a:hlinkClick r:id="rId3"/>
              </a:rPr>
              <a:t>https://www.frontiersin.org/journals/sustainability/articles/10.3389/frsus.2023.1228917/full</a:t>
            </a:r>
            <a:endParaRPr sz="1200" kern="1200"/>
          </a:p>
          <a:p>
            <a:r>
              <a:rPr sz="1200"/>
              <a:t>Rosinger, A.Y., John, J.D. and Murdock, K.W., 2024. Ad libitum dehydration is associated with poorer performance on a sustained attention task but not other measures of cognitive performance among middle‐to‐older aged community‐dwelling adults: A short‐term longitudinal study. </a:t>
            </a:r>
            <a:r>
              <a:rPr sz="1200" i="1"/>
              <a:t>American Journal of Human Biology</a:t>
            </a:r>
            <a:r>
              <a:rPr sz="1200"/>
              <a:t>, </a:t>
            </a:r>
            <a:r>
              <a:rPr sz="1200" i="1"/>
              <a:t>36</a:t>
            </a:r>
            <a:r>
              <a:rPr sz="1200"/>
              <a:t>(6), p.e24051. </a:t>
            </a:r>
            <a:r>
              <a:rPr sz="1200" u="sng">
                <a:hlinkClick r:id="rId3"/>
              </a:rPr>
              <a:t>https://onlinelibrary.wiley.com/doi/abs/10.1002/ajhb.24051</a:t>
            </a:r>
            <a:endParaRPr sz="1200" kern="1200"/>
          </a:p>
          <a:p>
            <a:r>
              <a:rPr sz="1200"/>
              <a:t>Shahid, J., Ahmad, R., Kiani, A.K., Ahmad, T., Saeed, S. and </a:t>
            </a:r>
            <a:r>
              <a:rPr sz="1200"/>
              <a:t>Almuhaideb</a:t>
            </a:r>
            <a:r>
              <a:rPr sz="1200"/>
              <a:t>, A.M., 2022. Data protection and privacy of the internet of healthcare things (</a:t>
            </a:r>
            <a:r>
              <a:rPr sz="1200"/>
              <a:t>IoHTs</a:t>
            </a:r>
            <a:r>
              <a:rPr sz="1200"/>
              <a:t>). </a:t>
            </a:r>
            <a:r>
              <a:rPr sz="1200" i="1"/>
              <a:t>Applied Sciences</a:t>
            </a:r>
            <a:r>
              <a:rPr sz="1200"/>
              <a:t>, </a:t>
            </a:r>
            <a:r>
              <a:rPr sz="1200" i="1"/>
              <a:t>12</a:t>
            </a:r>
            <a:r>
              <a:rPr sz="1200"/>
              <a:t>(4), p.1927. </a:t>
            </a:r>
            <a:r>
              <a:rPr sz="1200" u="sng">
                <a:hlinkClick r:id="rId3"/>
              </a:rPr>
              <a:t>https://www.mdpi.com/2076-3417/12/4/1927</a:t>
            </a:r>
            <a:endParaRPr sz="1200" kern="1200"/>
          </a:p>
          <a:p>
            <a:r>
              <a:rPr sz="1200"/>
              <a:t>Takas, N., </a:t>
            </a:r>
            <a:r>
              <a:rPr sz="1200"/>
              <a:t>Kouloumpris</a:t>
            </a:r>
            <a:r>
              <a:rPr sz="1200"/>
              <a:t>, E., </a:t>
            </a:r>
            <a:r>
              <a:rPr sz="1200"/>
              <a:t>Moutsianas</a:t>
            </a:r>
            <a:r>
              <a:rPr sz="1200"/>
              <a:t>, K., Liapis, G., </a:t>
            </a:r>
            <a:r>
              <a:rPr sz="1200"/>
              <a:t>Vlahavas</a:t>
            </a:r>
            <a:r>
              <a:rPr sz="1200"/>
              <a:t>, I. and </a:t>
            </a:r>
            <a:r>
              <a:rPr sz="1200"/>
              <a:t>Kousenidis</a:t>
            </a:r>
            <a:r>
              <a:rPr sz="1200"/>
              <a:t>, D., 2024. Startup sustainability forecasting with artificial intelligence. </a:t>
            </a:r>
            <a:r>
              <a:rPr sz="1200" i="1"/>
              <a:t>Applied Sciences</a:t>
            </a:r>
            <a:r>
              <a:rPr sz="1200"/>
              <a:t>, </a:t>
            </a:r>
            <a:r>
              <a:rPr sz="1200" i="1"/>
              <a:t>14</a:t>
            </a:r>
            <a:r>
              <a:rPr sz="1200"/>
              <a:t>(19), p.8925. </a:t>
            </a:r>
            <a:r>
              <a:rPr sz="1200" u="sng"/>
              <a:t>https://www.mdpi.com/2076-3417/14/19/8925</a:t>
            </a:r>
            <a:endParaRPr sz="1200" kern="1200"/>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9" Type="http://schemas.openxmlformats.org/officeDocument/2006/relationships/hyperlink" Target="https://doi.org/10.1787/e9073a0f-en" TargetMode="External"/><Relationship Id="rId8" Type="http://schemas.openxmlformats.org/officeDocument/2006/relationships/hyperlink" Target="https://link.springer.com/article/10.1186/s12916-023-02771-4" TargetMode="External"/><Relationship Id="rId7" Type="http://schemas.openxmlformats.org/officeDocument/2006/relationships/hyperlink" Target="https://www.mdpi.com/1424-8220/22/6/2215" TargetMode="External"/><Relationship Id="rId6" Type="http://schemas.openxmlformats.org/officeDocument/2006/relationships/hyperlink" Target="https://www.mdpi.com/2072-6643/15/11/2609" TargetMode="External"/><Relationship Id="rId5" Type="http://schemas.openxmlformats.org/officeDocument/2006/relationships/hyperlink" Target="https://www.frontiersin.org/journals/psychology/articles/10.3389/fpsyg.2022.800206/full" TargetMode="External"/><Relationship Id="rId4" Type="http://schemas.openxmlformats.org/officeDocument/2006/relationships/hyperlink" Target="https://pmc.ncbi.nlm.nih.gov/articles/PMC9382508/" TargetMode="External"/><Relationship Id="rId3" Type="http://schemas.openxmlformats.org/officeDocument/2006/relationships/hyperlink" Target="https://www.mdpi.com/1660-4601/20/5/4369" TargetMode="External"/><Relationship Id="rId2" Type="http://schemas.openxmlformats.org/officeDocument/2006/relationships/hyperlink" Target="https://ieeexplore.ieee.org/abstract/document/11062629/" TargetMode="External"/><Relationship Id="rId15" Type="http://schemas.openxmlformats.org/officeDocument/2006/relationships/notesSlide" Target="../notesSlides/notesSlide15.xml"/><Relationship Id="rId14" Type="http://schemas.openxmlformats.org/officeDocument/2006/relationships/slideLayout" Target="../slideLayouts/slideLayout1.xml"/><Relationship Id="rId13" Type="http://schemas.openxmlformats.org/officeDocument/2006/relationships/hyperlink" Target="https://www.mdpi.com/2076-3417/14/19/8925" TargetMode="External"/><Relationship Id="rId12" Type="http://schemas.openxmlformats.org/officeDocument/2006/relationships/hyperlink" Target="https://www.mdpi.com/2076-3417/12/4/1927" TargetMode="External"/><Relationship Id="rId11" Type="http://schemas.openxmlformats.org/officeDocument/2006/relationships/hyperlink" Target="https://onlinelibrary.wiley.com/doi/abs/10.1002/ajhb.24051" TargetMode="External"/><Relationship Id="rId10" Type="http://schemas.openxmlformats.org/officeDocument/2006/relationships/hyperlink" Target="https://www.frontiersin.org/journals/sustainability/articles/10.3389/frsus.2023.1228917/full" TargetMode="Externa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cover-title"/>
          <p:cNvSpPr>
            <a:spLocks noGrp="1"/>
          </p:cNvSpPr>
          <p:nvPr/>
        </p:nvSpPr>
        <p:spPr>
          <a:xfrm>
            <a:off x="904875" y="1714500"/>
            <a:ext cx="8572500" cy="1143000"/>
          </a:xfrm>
          <a:prstGeom prst="rect">
            <a:avLst/>
          </a:prstGeom>
          <a:noFill/>
          <a:ln w="0">
            <a:noFill/>
          </a:ln>
        </p:spPr>
        <p:txBody>
          <a:bodyPr anchor="ctr">
            <a:normAutofit fontScale="95963"/>
          </a:bodyPr>
          <a:lstStyle/>
          <a:p>
            <a:pPr algn="ctr">
              <a:buNone/>
              <a:defRPr sz="3600" b="1">
                <a:solidFill>
                  <a:srgbClr val="FFFFFF"/>
                </a:solidFill>
                <a:latin typeface="Arial" panose="020B0604020202090204"/>
                <a:ea typeface="Arial" panose="020B0604020202090204"/>
                <a:cs typeface="Arial" panose="020B0604020202090204"/>
              </a:defRPr>
            </a:pPr>
            <a:r>
              <a:rPr sz="3600" b="1">
                <a:solidFill>
                  <a:srgbClr val="FFFFFF"/>
                </a:solidFill>
                <a:latin typeface="Arial" panose="020B0604020202090204"/>
                <a:ea typeface="Arial" panose="020B0604020202090204"/>
                <a:cs typeface="Arial" panose="020B0604020202090204"/>
              </a:rPr>
              <a:t>HYDRATRACK SMART WATER BOTTLE</a:t>
            </a:r>
            <a:endParaRPr sz="3525" b="1">
              <a:solidFill>
                <a:srgbClr val="F5F5F5"/>
              </a:solidFill>
              <a:latin typeface="Times New Roman" panose="02020503050405090304"/>
              <a:ea typeface="Times New Roman" panose="02020503050405090304"/>
              <a:cs typeface="Times New Roman" panose="02020503050405090304"/>
            </a:endParaRPr>
          </a:p>
        </p:txBody>
      </p:sp>
      <p:sp>
        <p:nvSpPr>
          <p:cNvPr id="3" name="cover-subtitle"/>
          <p:cNvSpPr>
            <a:spLocks noGrp="1"/>
          </p:cNvSpPr>
          <p:nvPr/>
        </p:nvSpPr>
        <p:spPr>
          <a:xfrm>
            <a:off x="952500" y="2952750"/>
            <a:ext cx="7239000" cy="1047750"/>
          </a:xfrm>
          <a:prstGeom prst="rect">
            <a:avLst/>
          </a:prstGeom>
          <a:noFill/>
          <a:ln w="0">
            <a:noFill/>
          </a:ln>
        </p:spPr>
        <p:txBody>
          <a:bodyPr anchor="ctr">
            <a:normAutofit/>
          </a:bodyPr>
          <a:lstStyle/>
          <a:p>
            <a:pPr algn="ctr">
              <a:buNone/>
              <a:defRPr sz="1500" b="0">
                <a:solidFill>
                  <a:srgbClr val="F5DDF0"/>
                </a:solidFill>
                <a:latin typeface="Arial" panose="020B0604020202090204"/>
                <a:ea typeface="Arial" panose="020B0604020202090204"/>
                <a:cs typeface="Arial" panose="020B0604020202090204"/>
              </a:defRPr>
            </a:pPr>
            <a:r>
              <a:rPr sz="1500" b="0">
                <a:solidFill>
                  <a:srgbClr val="F5DDF0"/>
                </a:solidFill>
                <a:latin typeface="Arial" panose="020B0604020202090204"/>
                <a:ea typeface="Arial" panose="020B0604020202090204"/>
                <a:cs typeface="Arial" panose="020B0604020202090204"/>
              </a:rPr>
              <a:t>AN INTELLIGENT HYDRATION SOLUTION FOR HEALTHIER DAILY HABITS AND SUSTAINABLE GROWTH</a:t>
            </a:r>
            <a:endParaRPr sz="1800">
              <a:solidFill>
                <a:srgbClr val="F5F5F5"/>
              </a:solidFill>
              <a:latin typeface="Times New Roman" panose="02020503050405090304"/>
              <a:ea typeface="Times New Roman" panose="02020503050405090304"/>
              <a:cs typeface="Times New Roman" panose="0202050305040509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4"/>
          <p:cNvPicPr>
            <a:picLocks noChangeAspect="1"/>
          </p:cNvPicPr>
          <p:nvPr/>
        </p:nvPicPr>
        <p:blipFill>
          <a:blip r:embed="rId1"/>
          <a:srcRect t="27" b="27"/>
          <a:stretch>
            <a:fillRect/>
          </a:stretch>
        </p:blipFill>
        <p:spPr>
          <a:xfrm>
            <a:off x="0" y="0"/>
            <a:ext cx="12192000" cy="6858000"/>
          </a:xfrm>
          <a:prstGeom prst="rect">
            <a:avLst/>
          </a:prstGeom>
        </p:spPr>
      </p:pic>
      <p:sp>
        <p:nvSpPr>
          <p:cNvPr id="2" name="title-2"/>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Contents</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toc-left"/>
          <p:cNvSpPr>
            <a:spLocks noGrp="1"/>
          </p:cNvSpPr>
          <p:nvPr/>
        </p:nvSpPr>
        <p:spPr>
          <a:xfrm>
            <a:off x="904875" y="1762125"/>
            <a:ext cx="4762500" cy="3714750"/>
          </a:xfrm>
          <a:prstGeom prst="rect">
            <a:avLst/>
          </a:prstGeom>
          <a:noFill/>
          <a:ln w="0">
            <a:noFill/>
          </a:ln>
        </p:spPr>
        <p:txBody>
          <a:bodyPr anchor="t">
            <a:normAutofit/>
          </a:bodyPr>
          <a:lstStyle/>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1. HydraTrack Investment Pitch</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2. Customer Problem</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3. HydraTrack Solution and Value Proposition</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4. Target Market and Market Opportunity</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5. Competitor Positioning</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6. Strategic Analysis</a:t>
            </a:r>
            <a:endParaRPr sz="1575">
              <a:solidFill>
                <a:srgbClr val="30205A"/>
              </a:solidFill>
              <a:latin typeface="Times New Roman" panose="02020503050405090304"/>
              <a:ea typeface="Times New Roman" panose="02020503050405090304"/>
              <a:cs typeface="Times New Roman" panose="02020503050405090304"/>
            </a:endParaRPr>
          </a:p>
        </p:txBody>
      </p:sp>
      <p:sp>
        <p:nvSpPr>
          <p:cNvPr id="4" name="toc-right"/>
          <p:cNvSpPr>
            <a:spLocks noGrp="1"/>
          </p:cNvSpPr>
          <p:nvPr/>
        </p:nvSpPr>
        <p:spPr>
          <a:xfrm>
            <a:off x="6334125" y="1762125"/>
            <a:ext cx="4762500" cy="3714750"/>
          </a:xfrm>
          <a:prstGeom prst="rect">
            <a:avLst/>
          </a:prstGeom>
          <a:noFill/>
          <a:ln w="0">
            <a:noFill/>
          </a:ln>
        </p:spPr>
        <p:txBody>
          <a:bodyPr anchor="t">
            <a:normAutofit/>
          </a:bodyPr>
          <a:lstStyle/>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7. Business and Revenue Model</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8. Marketing and Sales Strategy</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9. Operations and Scalability</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10. Three-Year Financial Forecast</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11. Break-Even KPIs and Growth Potential</a:t>
            </a:r>
            <a:endParaRPr sz="1575">
              <a:solidFill>
                <a:srgbClr val="30205A"/>
              </a:solidFill>
              <a:latin typeface="Times New Roman" panose="02020503050405090304"/>
              <a:ea typeface="Times New Roman" panose="02020503050405090304"/>
              <a:cs typeface="Times New Roman" panose="02020503050405090304"/>
            </a:endParaRPr>
          </a:p>
          <a:p>
            <a:endParaRPr sz="1575">
              <a:solidFill>
                <a:srgbClr val="30205A"/>
              </a:solidFill>
              <a:latin typeface="Times New Roman" panose="02020503050405090304"/>
              <a:ea typeface="Times New Roman" panose="02020503050405090304"/>
              <a:cs typeface="Times New Roman" panose="02020503050405090304"/>
            </a:endParaRPr>
          </a:p>
          <a:p>
            <a:pPr>
              <a:buNone/>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12. Investment Implementation and Team</a:t>
            </a:r>
            <a:endParaRPr sz="1575">
              <a:solidFill>
                <a:srgbClr val="30205A"/>
              </a:solidFill>
              <a:latin typeface="Times New Roman" panose="02020503050405090304"/>
              <a:ea typeface="Times New Roman" panose="02020503050405090304"/>
              <a:cs typeface="Times New Roman" panose="0202050305040509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3"/>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1: </a:t>
            </a:r>
            <a:r>
              <a:rPr sz="2400" b="1">
                <a:solidFill>
                  <a:srgbClr val="FFFFFF"/>
                </a:solidFill>
                <a:latin typeface="Arial" panose="020B0604020202090204"/>
                <a:ea typeface="Arial" panose="020B0604020202090204"/>
                <a:cs typeface="Arial" panose="020B0604020202090204"/>
              </a:rPr>
              <a:t>HydraTrack</a:t>
            </a:r>
            <a:r>
              <a:rPr sz="2400" b="1">
                <a:solidFill>
                  <a:srgbClr val="FFFFFF"/>
                </a:solidFill>
                <a:latin typeface="Arial" panose="020B0604020202090204"/>
                <a:ea typeface="Arial" panose="020B0604020202090204"/>
                <a:cs typeface="Arial" panose="020B0604020202090204"/>
              </a:rPr>
              <a:t> Investment Pitch</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1"/>
          <p:cNvSpPr>
            <a:spLocks noGrp="1"/>
          </p:cNvSpPr>
          <p:nvPr/>
        </p:nvSpPr>
        <p:spPr>
          <a:xfrm>
            <a:off x="857250" y="1762125"/>
            <a:ext cx="5619750" cy="3381375"/>
          </a:xfrm>
          <a:prstGeom prst="rect">
            <a:avLst/>
          </a:prstGeom>
          <a:noFill/>
          <a:ln w="0">
            <a:noFill/>
          </a:ln>
        </p:spPr>
        <p:txBody>
          <a:bodyPr anchor="t">
            <a:normAutofit/>
          </a:bodyPr>
          <a:lstStyle/>
          <a:p>
            <a:pPr marL="266700" indent="-127000">
              <a:spcAft>
                <a:spcPts val="1800"/>
              </a:spcAft>
              <a:buChar char="•"/>
              <a:defRPr sz="1650" b="0">
                <a:solidFill>
                  <a:srgbClr val="171B38"/>
                </a:solidFill>
                <a:latin typeface="Arial" panose="020B0604020202090204"/>
                <a:ea typeface="Arial" panose="020B0604020202090204"/>
                <a:cs typeface="Arial" panose="020B0604020202090204"/>
              </a:defRPr>
            </a:pPr>
            <a:r>
              <a:rPr sz="1650" b="0">
                <a:solidFill>
                  <a:srgbClr val="171B38"/>
                </a:solidFill>
                <a:latin typeface="Arial" panose="020B0604020202090204"/>
                <a:ea typeface="Arial" panose="020B0604020202090204"/>
                <a:cs typeface="Arial" panose="020B0604020202090204"/>
              </a:rPr>
              <a:t>HydraTrack Ltd offers a £69 Smart Water Bottle connected to a mobile hydration application.</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650" b="0">
                <a:solidFill>
                  <a:srgbClr val="171B38"/>
                </a:solidFill>
                <a:latin typeface="Arial" panose="020B0604020202090204"/>
                <a:ea typeface="Arial" panose="020B0604020202090204"/>
                <a:cs typeface="Arial" panose="020B0604020202090204"/>
              </a:defRPr>
            </a:pPr>
            <a:r>
              <a:rPr sz="1650" b="0">
                <a:solidFill>
                  <a:srgbClr val="171B38"/>
                </a:solidFill>
                <a:latin typeface="Arial" panose="020B0604020202090204"/>
                <a:ea typeface="Arial" panose="020B0604020202090204"/>
                <a:cs typeface="Arial" panose="020B0604020202090204"/>
              </a:rPr>
              <a:t>The venture seeks £100,000 in equity investment alongside £10,000 of founder funding.</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650" b="0">
                <a:solidFill>
                  <a:srgbClr val="171B38"/>
                </a:solidFill>
                <a:latin typeface="Arial" panose="020B0604020202090204"/>
                <a:ea typeface="Arial" panose="020B0604020202090204"/>
                <a:cs typeface="Arial" panose="020B0604020202090204"/>
              </a:defRPr>
            </a:pPr>
            <a:r>
              <a:rPr sz="1650" b="0">
                <a:solidFill>
                  <a:srgbClr val="171B38"/>
                </a:solidFill>
                <a:latin typeface="Arial" panose="020B0604020202090204"/>
                <a:ea typeface="Arial" panose="020B0604020202090204"/>
                <a:cs typeface="Arial" panose="020B0604020202090204"/>
              </a:rPr>
              <a:t>The investment case consists of a clear customer need, a scalable sales process and measurable financial goals (OECD, 2022).</a:t>
            </a:r>
            <a:endParaRPr sz="1875">
              <a:solidFill>
                <a:srgbClr val="30205A"/>
              </a:solidFill>
              <a:latin typeface="Times New Roman" panose="02020503050405090304"/>
              <a:ea typeface="Times New Roman" panose="02020503050405090304"/>
              <a:cs typeface="Times New Roman" panose="02020503050405090304"/>
            </a:endParaRPr>
          </a:p>
        </p:txBody>
      </p:sp>
      <p:pic>
        <p:nvPicPr>
          <p:cNvPr id="10" name="Picture 4"/>
          <p:cNvPicPr>
            <a:picLocks noChangeAspect="1"/>
          </p:cNvPicPr>
          <p:nvPr/>
        </p:nvPicPr>
        <p:blipFill>
          <a:blip r:embed="rId2"/>
          <a:stretch>
            <a:fillRect/>
          </a:stretch>
        </p:blipFill>
        <p:spPr>
          <a:xfrm>
            <a:off x="7000875" y="1666875"/>
            <a:ext cx="1905000" cy="2800350"/>
          </a:xfrm>
          <a:prstGeom prst="rect">
            <a:avLst/>
          </a:prstGeom>
        </p:spPr>
      </p:pic>
      <p:pic>
        <p:nvPicPr>
          <p:cNvPr id="11" name="Picture 5"/>
          <p:cNvPicPr>
            <a:picLocks noChangeAspect="1"/>
          </p:cNvPicPr>
          <p:nvPr/>
        </p:nvPicPr>
        <p:blipFill>
          <a:blip r:embed="rId3"/>
          <a:stretch>
            <a:fillRect/>
          </a:stretch>
        </p:blipFill>
        <p:spPr>
          <a:xfrm>
            <a:off x="9144000" y="1666875"/>
            <a:ext cx="2381250" cy="2800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4"/>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2: Customer Problem</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2"/>
          <p:cNvSpPr>
            <a:spLocks noGrp="1"/>
          </p:cNvSpPr>
          <p:nvPr/>
        </p:nvSpPr>
        <p:spPr>
          <a:xfrm>
            <a:off x="809625" y="1714500"/>
            <a:ext cx="4762500" cy="3619500"/>
          </a:xfrm>
          <a:prstGeom prst="rect">
            <a:avLst/>
          </a:prstGeom>
          <a:noFill/>
          <a:ln w="0">
            <a:noFill/>
          </a:ln>
        </p:spPr>
        <p:txBody>
          <a:bodyPr anchor="t">
            <a:normAutofit/>
          </a:bodyPr>
          <a:lstStyle/>
          <a:p>
            <a:pPr marL="266700" indent="-127000" algn="just">
              <a:spcAft>
                <a:spcPts val="1800"/>
              </a:spcAft>
              <a:buChar char="•"/>
              <a:defRPr sz="1575" b="0">
                <a:solidFill>
                  <a:srgbClr val="171B38"/>
                </a:solidFill>
                <a:latin typeface="Arial" panose="020B0604020202090204"/>
                <a:ea typeface="Arial" panose="020B0604020202090204"/>
                <a:cs typeface="Arial" panose="020B0604020202090204"/>
              </a:defRPr>
            </a:pPr>
            <a:r>
              <a:rPr sz="1575" b="0">
                <a:solidFill>
                  <a:srgbClr val="171B38"/>
                </a:solidFill>
                <a:latin typeface="Arial" panose="020B0604020202090204" pitchFamily="34" charset="0"/>
                <a:ea typeface="Arial" panose="020B0604020202090204"/>
                <a:cs typeface="Arial" panose="020B0604020202090204" pitchFamily="34" charset="0"/>
              </a:rPr>
              <a:t>It's easy for busy professionals, students, or fitness enthusiasts to forget to drink water regularly during a hectic work or school schedule.</a:t>
            </a:r>
            <a:endParaRPr sz="1875">
              <a:solidFill>
                <a:srgbClr val="30205A"/>
              </a:solidFill>
              <a:latin typeface="Arial" panose="020B0604020202090204" pitchFamily="34" charset="0"/>
              <a:ea typeface="Times New Roman" panose="02020503050405090304"/>
              <a:cs typeface="Arial" panose="020B0604020202090204" pitchFamily="34" charset="0"/>
            </a:endParaRPr>
          </a:p>
          <a:p>
            <a:pPr marL="266700" indent="-127000" algn="just">
              <a:spcAft>
                <a:spcPts val="1800"/>
              </a:spcAft>
              <a:buChar char="•"/>
              <a:defRPr sz="1575" b="0">
                <a:solidFill>
                  <a:srgbClr val="171B38"/>
                </a:solidFill>
                <a:latin typeface="Arial" panose="020B0604020202090204"/>
                <a:ea typeface="Arial" panose="020B0604020202090204"/>
                <a:cs typeface="Arial" panose="020B0604020202090204"/>
              </a:defRPr>
            </a:pPr>
            <a:r>
              <a:rPr sz="1575" b="0">
                <a:solidFill>
                  <a:srgbClr val="171B38"/>
                </a:solidFill>
                <a:latin typeface="Arial" panose="020B0604020202090204" pitchFamily="34" charset="0"/>
                <a:ea typeface="Arial" panose="020B0604020202090204"/>
                <a:cs typeface="Arial" panose="020B0604020202090204" pitchFamily="34" charset="0"/>
              </a:rPr>
              <a:t>Ordinary reusable bottles store water but provide no intake measurement or reminder mechanism.</a:t>
            </a:r>
            <a:endParaRPr sz="1875">
              <a:solidFill>
                <a:srgbClr val="30205A"/>
              </a:solidFill>
              <a:latin typeface="Arial" panose="020B0604020202090204" pitchFamily="34" charset="0"/>
              <a:ea typeface="Times New Roman" panose="02020503050405090304"/>
              <a:cs typeface="Arial" panose="020B0604020202090204" pitchFamily="34" charset="0"/>
            </a:endParaRPr>
          </a:p>
          <a:p>
            <a:pPr marL="266700" indent="-127000" algn="just">
              <a:spcAft>
                <a:spcPts val="1800"/>
              </a:spcAft>
              <a:buChar char="•"/>
              <a:defRPr sz="1575" b="0">
                <a:solidFill>
                  <a:srgbClr val="171B38"/>
                </a:solidFill>
                <a:latin typeface="Arial" panose="020B0604020202090204"/>
                <a:ea typeface="Arial" panose="020B0604020202090204"/>
                <a:cs typeface="Arial" panose="020B0604020202090204"/>
              </a:defRPr>
            </a:pPr>
            <a:r>
              <a:rPr sz="1575" b="0">
                <a:solidFill>
                  <a:srgbClr val="171B38"/>
                </a:solidFill>
                <a:latin typeface="Arial" panose="020B0604020202090204" pitchFamily="34" charset="0"/>
                <a:ea typeface="Arial" panose="020B0604020202090204"/>
                <a:cs typeface="Arial" panose="020B0604020202090204" pitchFamily="34" charset="0"/>
              </a:rPr>
              <a:t>Hypohydration can impair mood and cognitive performance when fluid loss becomes substantial (Dube et al., 2022).</a:t>
            </a:r>
            <a:endParaRPr sz="1875">
              <a:solidFill>
                <a:srgbClr val="30205A"/>
              </a:solidFill>
              <a:latin typeface="Arial" panose="020B0604020202090204" pitchFamily="34" charset="0"/>
              <a:ea typeface="Times New Roman" panose="02020503050405090304"/>
              <a:cs typeface="Arial" panose="020B0604020202090204" pitchFamily="34" charset="0"/>
            </a:endParaRPr>
          </a:p>
        </p:txBody>
      </p:sp>
      <p:pic>
        <p:nvPicPr>
          <p:cNvPr id="9" name="Picture 4"/>
          <p:cNvPicPr>
            <a:picLocks noChangeAspect="1"/>
          </p:cNvPicPr>
          <p:nvPr/>
        </p:nvPicPr>
        <p:blipFill>
          <a:blip r:embed="rId2"/>
          <a:stretch>
            <a:fillRect/>
          </a:stretch>
        </p:blipFill>
        <p:spPr>
          <a:xfrm>
            <a:off x="5810250" y="1714500"/>
            <a:ext cx="5619750" cy="29146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5"/>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3: </a:t>
            </a:r>
            <a:r>
              <a:rPr sz="2400" b="1">
                <a:solidFill>
                  <a:srgbClr val="FFFFFF"/>
                </a:solidFill>
                <a:latin typeface="Arial" panose="020B0604020202090204"/>
                <a:ea typeface="Arial" panose="020B0604020202090204"/>
                <a:cs typeface="Arial" panose="020B0604020202090204"/>
              </a:rPr>
              <a:t>HydraTrack</a:t>
            </a:r>
            <a:r>
              <a:rPr sz="2400" b="1">
                <a:solidFill>
                  <a:srgbClr val="FFFFFF"/>
                </a:solidFill>
                <a:latin typeface="Arial" panose="020B0604020202090204"/>
                <a:ea typeface="Arial" panose="020B0604020202090204"/>
                <a:cs typeface="Arial" panose="020B0604020202090204"/>
              </a:rPr>
              <a:t> Solution and Value Proposition</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3"/>
          <p:cNvSpPr>
            <a:spLocks noGrp="1"/>
          </p:cNvSpPr>
          <p:nvPr/>
        </p:nvSpPr>
        <p:spPr>
          <a:xfrm>
            <a:off x="809625" y="1714500"/>
            <a:ext cx="5143500" cy="3619500"/>
          </a:xfrm>
          <a:prstGeom prst="rect">
            <a:avLst/>
          </a:prstGeom>
          <a:noFill/>
          <a:ln w="0">
            <a:noFill/>
          </a:ln>
        </p:spPr>
        <p:txBody>
          <a:bodyPr anchor="t">
            <a:normAutofit/>
          </a:bodyPr>
          <a:lstStyle/>
          <a:p>
            <a:pPr marL="266700" indent="-127000" algn="just">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The drinking activity is logged and recorded by integrated sensors, which then upload the data to the </a:t>
            </a:r>
            <a:r>
              <a:rPr sz="1500" b="0">
                <a:solidFill>
                  <a:srgbClr val="171B38"/>
                </a:solidFill>
                <a:latin typeface="Arial" panose="020B0604020202090204"/>
                <a:ea typeface="Arial" panose="020B0604020202090204"/>
                <a:cs typeface="Arial" panose="020B0604020202090204"/>
              </a:rPr>
              <a:t>HydraTrack</a:t>
            </a:r>
            <a:r>
              <a:rPr sz="1500" b="0">
                <a:solidFill>
                  <a:srgbClr val="171B38"/>
                </a:solidFill>
                <a:latin typeface="Arial" panose="020B0604020202090204"/>
                <a:ea typeface="Arial" panose="020B0604020202090204"/>
                <a:cs typeface="Arial" panose="020B0604020202090204"/>
              </a:rPr>
              <a:t> application (Calegari et al., 2023).</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lgn="just">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Personalised</a:t>
            </a:r>
            <a:r>
              <a:rPr sz="1500" b="0">
                <a:solidFill>
                  <a:srgbClr val="171B38"/>
                </a:solidFill>
                <a:latin typeface="Arial" panose="020B0604020202090204"/>
                <a:ea typeface="Arial" panose="020B0604020202090204"/>
                <a:cs typeface="Arial" panose="020B0604020202090204"/>
              </a:rPr>
              <a:t> alerts prompt users according to their selected daily target and recorded progress.</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lgn="just">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The acceptance of mobile health technology is significantly affected by perceived usefulness and ease of use.</a:t>
            </a:r>
            <a:endParaRPr sz="1875">
              <a:solidFill>
                <a:srgbClr val="30205A"/>
              </a:solidFill>
              <a:latin typeface="Times New Roman" panose="02020503050405090304"/>
              <a:ea typeface="Times New Roman" panose="02020503050405090304"/>
              <a:cs typeface="Times New Roman" panose="02020503050405090304"/>
            </a:endParaRPr>
          </a:p>
        </p:txBody>
      </p:sp>
      <p:pic>
        <p:nvPicPr>
          <p:cNvPr id="9" name="Picture 5"/>
          <p:cNvPicPr>
            <a:picLocks noChangeAspect="1"/>
          </p:cNvPicPr>
          <p:nvPr/>
        </p:nvPicPr>
        <p:blipFill>
          <a:blip r:embed="rId2"/>
          <a:stretch>
            <a:fillRect/>
          </a:stretch>
        </p:blipFill>
        <p:spPr>
          <a:xfrm>
            <a:off x="6238875" y="1666875"/>
            <a:ext cx="5095875" cy="3238500"/>
          </a:xfrm>
          <a:prstGeom prst="rect">
            <a:avLst/>
          </a:prstGeom>
          <a:ln w="19050">
            <a:solidFill>
              <a:schemeClr val="tx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6"/>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4: Target Market and Market Opportunity</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4"/>
          <p:cNvSpPr>
            <a:spLocks noGrp="1"/>
          </p:cNvSpPr>
          <p:nvPr/>
        </p:nvSpPr>
        <p:spPr>
          <a:xfrm>
            <a:off x="1000125" y="1809750"/>
            <a:ext cx="10001250" cy="3333750"/>
          </a:xfrm>
          <a:prstGeom prst="rect">
            <a:avLst/>
          </a:prstGeom>
          <a:noFill/>
          <a:ln w="0">
            <a:noFill/>
          </a:ln>
        </p:spPr>
        <p:txBody>
          <a:bodyPr anchor="t">
            <a:normAutofit/>
          </a:bodyPr>
          <a:lstStyle/>
          <a:p>
            <a:pPr marL="266700" indent="-127000">
              <a:spcAft>
                <a:spcPts val="1800"/>
              </a:spcAft>
              <a:buChar char="•"/>
              <a:defRPr sz="1800" b="0">
                <a:solidFill>
                  <a:srgbClr val="171B38"/>
                </a:solidFill>
                <a:latin typeface="Arial" panose="020B0604020202090204"/>
                <a:ea typeface="Arial" panose="020B0604020202090204"/>
                <a:cs typeface="Arial" panose="020B0604020202090204"/>
              </a:defRPr>
            </a:pPr>
            <a:r>
              <a:rPr sz="1800" b="0">
                <a:solidFill>
                  <a:srgbClr val="171B38"/>
                </a:solidFill>
                <a:latin typeface="Arial" panose="020B0604020202090204"/>
                <a:ea typeface="Arial" panose="020B0604020202090204"/>
                <a:cs typeface="Arial" panose="020B0604020202090204"/>
              </a:rPr>
              <a:t>The primary consumer market is UK students, professionals and fitness users aged 18-45.</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800" b="0">
                <a:solidFill>
                  <a:srgbClr val="171B38"/>
                </a:solidFill>
                <a:latin typeface="Arial" panose="020B0604020202090204"/>
                <a:ea typeface="Arial" panose="020B0604020202090204"/>
                <a:cs typeface="Arial" panose="020B0604020202090204"/>
              </a:defRPr>
            </a:pPr>
            <a:r>
              <a:rPr sz="1800" b="0">
                <a:solidFill>
                  <a:srgbClr val="171B38"/>
                </a:solidFill>
                <a:latin typeface="Arial" panose="020B0604020202090204"/>
                <a:ea typeface="Arial" panose="020B0604020202090204"/>
                <a:cs typeface="Arial" panose="020B0604020202090204"/>
              </a:rPr>
              <a:t>Secondary buyers include gyms, universities and employers seeking branded wellbeing products (Li et al., 2023).</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800" b="0">
                <a:solidFill>
                  <a:srgbClr val="171B38"/>
                </a:solidFill>
                <a:latin typeface="Arial" panose="020B0604020202090204"/>
                <a:ea typeface="Arial" panose="020B0604020202090204"/>
                <a:cs typeface="Arial" panose="020B0604020202090204"/>
              </a:defRPr>
            </a:pPr>
            <a:r>
              <a:rPr sz="1800" b="0">
                <a:solidFill>
                  <a:srgbClr val="171B38"/>
                </a:solidFill>
                <a:latin typeface="Arial" panose="020B0604020202090204"/>
                <a:ea typeface="Arial" panose="020B0604020202090204"/>
                <a:cs typeface="Arial" panose="020B0604020202090204"/>
              </a:rPr>
              <a:t>Adjustable reminders recognise that hydration requirements differ between users and circumstances.</a:t>
            </a:r>
            <a:endParaRPr sz="1875">
              <a:solidFill>
                <a:srgbClr val="30205A"/>
              </a:solidFill>
              <a:latin typeface="Times New Roman" panose="02020503050405090304"/>
              <a:ea typeface="Times New Roman" panose="02020503050405090304"/>
              <a:cs typeface="Times New Roman" panose="0202050305040509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7"/>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5: Competitor Positioning</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5"/>
          <p:cNvSpPr>
            <a:spLocks noGrp="1"/>
          </p:cNvSpPr>
          <p:nvPr/>
        </p:nvSpPr>
        <p:spPr>
          <a:xfrm>
            <a:off x="1000125" y="1809750"/>
            <a:ext cx="10001250" cy="3333750"/>
          </a:xfrm>
          <a:prstGeom prst="rect">
            <a:avLst/>
          </a:prstGeom>
          <a:noFill/>
          <a:ln w="0">
            <a:noFill/>
          </a:ln>
        </p:spPr>
        <p:txBody>
          <a:bodyPr anchor="t">
            <a:normAutofit/>
          </a:bodyPr>
          <a:lstStyle/>
          <a:p>
            <a:pPr marL="266700" indent="-127000">
              <a:spcAft>
                <a:spcPts val="1800"/>
              </a:spcAft>
              <a:buChar char="•"/>
              <a:defRPr sz="1725" b="0">
                <a:solidFill>
                  <a:srgbClr val="171B38"/>
                </a:solidFill>
                <a:latin typeface="Arial" panose="020B0604020202090204"/>
                <a:ea typeface="Arial" panose="020B0604020202090204"/>
                <a:cs typeface="Arial" panose="020B0604020202090204"/>
              </a:defRPr>
            </a:pPr>
            <a:r>
              <a:rPr sz="1725" b="0">
                <a:solidFill>
                  <a:srgbClr val="171B38"/>
                </a:solidFill>
                <a:latin typeface="Arial" panose="020B0604020202090204"/>
                <a:ea typeface="Arial" panose="020B0604020202090204"/>
                <a:cs typeface="Arial" panose="020B0604020202090204"/>
              </a:rPr>
              <a:t>Common insulated bottles can be had for under £30 and do not have connected reminder or intake tracking features (Naem et al., 2022).</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725" b="0">
                <a:solidFill>
                  <a:srgbClr val="171B38"/>
                </a:solidFill>
                <a:latin typeface="Arial" panose="020B0604020202090204"/>
                <a:ea typeface="Arial" panose="020B0604020202090204"/>
                <a:cs typeface="Arial" panose="020B0604020202090204"/>
              </a:defRPr>
            </a:pPr>
            <a:r>
              <a:rPr sz="1725" b="0">
                <a:solidFill>
                  <a:srgbClr val="171B38"/>
                </a:solidFill>
                <a:latin typeface="Arial" panose="020B0604020202090204"/>
                <a:ea typeface="Arial" panose="020B0604020202090204"/>
                <a:cs typeface="Arial" panose="020B0604020202090204"/>
              </a:rPr>
              <a:t>Premium smart bottles offer digital functions but often require a higher purchase commitment.</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725" b="0">
                <a:solidFill>
                  <a:srgbClr val="171B38"/>
                </a:solidFill>
                <a:latin typeface="Arial" panose="020B0604020202090204"/>
                <a:ea typeface="Arial" panose="020B0604020202090204"/>
                <a:cs typeface="Arial" panose="020B0604020202090204"/>
              </a:defRPr>
            </a:pPr>
            <a:r>
              <a:rPr sz="1725" b="0">
                <a:solidFill>
                  <a:srgbClr val="171B38"/>
                </a:solidFill>
                <a:latin typeface="Arial" panose="020B0604020202090204"/>
                <a:ea typeface="Arial" panose="020B0604020202090204"/>
                <a:cs typeface="Arial" panose="020B0604020202090204"/>
              </a:rPr>
              <a:t>IoT buyers evaluate functionality, sensor information, privacy risk and price when comparing connected products.</a:t>
            </a:r>
            <a:endParaRPr sz="1875">
              <a:solidFill>
                <a:srgbClr val="30205A"/>
              </a:solidFill>
              <a:latin typeface="Times New Roman" panose="02020503050405090304"/>
              <a:ea typeface="Times New Roman" panose="02020503050405090304"/>
              <a:cs typeface="Times New Roman" panose="0202050305040509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8"/>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6: Strategic Analysis</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6"/>
          <p:cNvSpPr>
            <a:spLocks noGrp="1"/>
          </p:cNvSpPr>
          <p:nvPr/>
        </p:nvSpPr>
        <p:spPr>
          <a:xfrm>
            <a:off x="809625" y="1714500"/>
            <a:ext cx="5095875" cy="3619500"/>
          </a:xfrm>
          <a:prstGeom prst="rect">
            <a:avLst/>
          </a:prstGeom>
          <a:noFill/>
          <a:ln w="0">
            <a:noFill/>
          </a:ln>
        </p:spPr>
        <p:txBody>
          <a:bodyPr anchor="t">
            <a:normAutofit/>
          </a:bodyPr>
          <a:lstStyle/>
          <a:p>
            <a:pPr marL="266700" indent="-127000">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The awareness and adoption of reusable products and the price sensitivity from household spending pressure drive the demand.</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Supplier dependence and rapid imitation create operational and competitive risks for a small entrant (Shahid et al., 2022).</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The data collection and secure storage of connected health products must be transparent and comply with privacy requirements.</a:t>
            </a:r>
            <a:endParaRPr sz="1875">
              <a:solidFill>
                <a:srgbClr val="30205A"/>
              </a:solidFill>
              <a:latin typeface="Times New Roman" panose="02020503050405090304"/>
              <a:ea typeface="Times New Roman" panose="02020503050405090304"/>
              <a:cs typeface="Times New Roman" panose="02020503050405090304"/>
            </a:endParaRPr>
          </a:p>
        </p:txBody>
      </p:sp>
      <p:pic>
        <p:nvPicPr>
          <p:cNvPr id="9" name="Picture 5"/>
          <p:cNvPicPr>
            <a:picLocks noChangeAspect="1"/>
          </p:cNvPicPr>
          <p:nvPr/>
        </p:nvPicPr>
        <p:blipFill>
          <a:blip r:embed="rId2"/>
          <a:stretch>
            <a:fillRect/>
          </a:stretch>
        </p:blipFill>
        <p:spPr>
          <a:xfrm>
            <a:off x="6238875" y="1714500"/>
            <a:ext cx="5000625" cy="28670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9"/>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7: Business and Revenue Model</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7"/>
          <p:cNvSpPr>
            <a:spLocks noGrp="1"/>
          </p:cNvSpPr>
          <p:nvPr/>
        </p:nvSpPr>
        <p:spPr>
          <a:xfrm>
            <a:off x="809625" y="1714500"/>
            <a:ext cx="4857750" cy="3524250"/>
          </a:xfrm>
          <a:prstGeom prst="rect">
            <a:avLst/>
          </a:prstGeom>
          <a:noFill/>
          <a:ln w="0">
            <a:noFill/>
          </a:ln>
        </p:spPr>
        <p:txBody>
          <a:bodyPr anchor="t">
            <a:normAutofit/>
          </a:bodyPr>
          <a:lstStyle/>
          <a:p>
            <a:pPr marL="266700" indent="-127000">
              <a:spcAft>
                <a:spcPts val="1800"/>
              </a:spcAft>
              <a:buChar char="•"/>
              <a:defRPr sz="1575" b="0">
                <a:solidFill>
                  <a:srgbClr val="171B38"/>
                </a:solidFill>
                <a:latin typeface="Arial" panose="020B0604020202090204"/>
                <a:ea typeface="Arial" panose="020B0604020202090204"/>
                <a:cs typeface="Arial" panose="020B0604020202090204"/>
              </a:defRPr>
            </a:pPr>
            <a:r>
              <a:rPr sz="1575" b="0">
                <a:solidFill>
                  <a:srgbClr val="171B38"/>
                </a:solidFill>
                <a:latin typeface="Arial" panose="020B0604020202090204"/>
                <a:ea typeface="Arial" panose="020B0604020202090204"/>
                <a:cs typeface="Arial" panose="020B0604020202090204"/>
              </a:rPr>
              <a:t>Online sales of direct bottles create £69 per order and offer insight into customer feedback.</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575" b="0">
                <a:solidFill>
                  <a:srgbClr val="171B38"/>
                </a:solidFill>
                <a:latin typeface="Arial" panose="020B0604020202090204"/>
                <a:ea typeface="Arial" panose="020B0604020202090204"/>
                <a:cs typeface="Arial" panose="020B0604020202090204"/>
              </a:defRPr>
            </a:pPr>
            <a:r>
              <a:rPr sz="1575" b="0">
                <a:solidFill>
                  <a:srgbClr val="171B38"/>
                </a:solidFill>
                <a:latin typeface="Arial" panose="020B0604020202090204"/>
                <a:ea typeface="Arial" panose="020B0604020202090204"/>
                <a:cs typeface="Arial" panose="020B0604020202090204"/>
              </a:rPr>
              <a:t>Accessories and optional application services increase projected annual customer spending to £89.</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575" b="0">
                <a:solidFill>
                  <a:srgbClr val="171B38"/>
                </a:solidFill>
                <a:latin typeface="Arial" panose="020B0604020202090204"/>
                <a:ea typeface="Arial" panose="020B0604020202090204"/>
                <a:cs typeface="Arial" panose="020B0604020202090204"/>
              </a:defRPr>
            </a:pPr>
            <a:r>
              <a:rPr sz="1575" b="0">
                <a:solidFill>
                  <a:srgbClr val="171B38"/>
                </a:solidFill>
                <a:latin typeface="Arial" panose="020B0604020202090204"/>
                <a:ea typeface="Arial" panose="020B0604020202090204"/>
                <a:cs typeface="Arial" panose="020B0604020202090204"/>
              </a:rPr>
              <a:t>Connected monitoring can help sustain attention by preventing user dehydration.</a:t>
            </a:r>
            <a:endParaRPr sz="1875">
              <a:solidFill>
                <a:srgbClr val="30205A"/>
              </a:solidFill>
              <a:latin typeface="Times New Roman" panose="02020503050405090304"/>
              <a:ea typeface="Times New Roman" panose="02020503050405090304"/>
              <a:cs typeface="Times New Roman" panose="02020503050405090304"/>
            </a:endParaRPr>
          </a:p>
        </p:txBody>
      </p:sp>
      <p:pic>
        <p:nvPicPr>
          <p:cNvPr id="9" name="Picture 4"/>
          <p:cNvPicPr>
            <a:picLocks noChangeAspect="1"/>
          </p:cNvPicPr>
          <p:nvPr/>
        </p:nvPicPr>
        <p:blipFill>
          <a:blip r:embed="rId2"/>
          <a:stretch>
            <a:fillRect/>
          </a:stretch>
        </p:blipFill>
        <p:spPr>
          <a:xfrm>
            <a:off x="5905500" y="1714500"/>
            <a:ext cx="5381625" cy="30384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10"/>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8: Marketing and Sales Strategy</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8"/>
          <p:cNvSpPr>
            <a:spLocks noGrp="1"/>
          </p:cNvSpPr>
          <p:nvPr/>
        </p:nvSpPr>
        <p:spPr>
          <a:xfrm>
            <a:off x="809625" y="1714500"/>
            <a:ext cx="4762500" cy="3571875"/>
          </a:xfrm>
          <a:prstGeom prst="rect">
            <a:avLst/>
          </a:prstGeom>
          <a:noFill/>
          <a:ln w="0">
            <a:noFill/>
          </a:ln>
        </p:spPr>
        <p:txBody>
          <a:bodyPr anchor="t">
            <a:normAutofit/>
          </a:bodyPr>
          <a:lstStyle/>
          <a:p>
            <a:pPr marL="266700" indent="-127000" algn="just">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The Year 1 plan allocates £4,500 monthly to paid social media, search and retargeting.</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lgn="just">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Gym and University partnerships offer demonstrations, referral codes and focused user groups (</a:t>
            </a:r>
            <a:r>
              <a:rPr sz="1500" b="0">
                <a:solidFill>
                  <a:srgbClr val="171B38"/>
                </a:solidFill>
                <a:latin typeface="Arial" panose="020B0604020202090204"/>
                <a:ea typeface="Arial" panose="020B0604020202090204"/>
                <a:cs typeface="Arial" panose="020B0604020202090204"/>
              </a:rPr>
              <a:t>Patreau</a:t>
            </a:r>
            <a:r>
              <a:rPr sz="1500" b="0">
                <a:solidFill>
                  <a:srgbClr val="171B38"/>
                </a:solidFill>
                <a:latin typeface="Arial" panose="020B0604020202090204"/>
                <a:ea typeface="Arial" panose="020B0604020202090204"/>
                <a:cs typeface="Arial" panose="020B0604020202090204"/>
              </a:rPr>
              <a:t> et al., 2023).</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lgn="just">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Convenience and environmental attitudes influence willingness to adopt reusable-product systems.</a:t>
            </a:r>
            <a:endParaRPr sz="1875">
              <a:solidFill>
                <a:srgbClr val="30205A"/>
              </a:solidFill>
              <a:latin typeface="Times New Roman" panose="02020503050405090304"/>
              <a:ea typeface="Times New Roman" panose="02020503050405090304"/>
              <a:cs typeface="Times New Roman" panose="02020503050405090304"/>
            </a:endParaRPr>
          </a:p>
        </p:txBody>
      </p:sp>
      <p:pic>
        <p:nvPicPr>
          <p:cNvPr id="9" name="Picture 5"/>
          <p:cNvPicPr>
            <a:picLocks noChangeAspect="1"/>
          </p:cNvPicPr>
          <p:nvPr/>
        </p:nvPicPr>
        <p:blipFill>
          <a:blip r:embed="rId2"/>
          <a:stretch>
            <a:fillRect/>
          </a:stretch>
        </p:blipFill>
        <p:spPr>
          <a:xfrm>
            <a:off x="5810250" y="1714500"/>
            <a:ext cx="5476875" cy="29432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11"/>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9: Operations and Scalability</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9"/>
          <p:cNvSpPr>
            <a:spLocks noGrp="1"/>
          </p:cNvSpPr>
          <p:nvPr/>
        </p:nvSpPr>
        <p:spPr>
          <a:xfrm>
            <a:off x="1000125" y="1809750"/>
            <a:ext cx="10001250" cy="3333750"/>
          </a:xfrm>
          <a:prstGeom prst="rect">
            <a:avLst/>
          </a:prstGeom>
          <a:noFill/>
          <a:ln w="0">
            <a:noFill/>
          </a:ln>
        </p:spPr>
        <p:txBody>
          <a:bodyPr anchor="t">
            <a:normAutofit/>
          </a:bodyPr>
          <a:lstStyle/>
          <a:p>
            <a:pPr marL="266700" indent="-127000">
              <a:spcAft>
                <a:spcPts val="1800"/>
              </a:spcAft>
              <a:buChar char="•"/>
              <a:defRPr sz="1725" b="0">
                <a:solidFill>
                  <a:srgbClr val="171B38"/>
                </a:solidFill>
                <a:latin typeface="Arial" panose="020B0604020202090204"/>
                <a:ea typeface="Arial" panose="020B0604020202090204"/>
                <a:cs typeface="Arial" panose="020B0604020202090204"/>
              </a:defRPr>
            </a:pPr>
            <a:r>
              <a:rPr sz="1725" b="0">
                <a:solidFill>
                  <a:srgbClr val="171B38"/>
                </a:solidFill>
                <a:latin typeface="Arial" panose="020B0604020202090204"/>
                <a:ea typeface="Arial" panose="020B0604020202090204"/>
                <a:cs typeface="Arial" panose="020B0604020202090204"/>
              </a:rPr>
              <a:t>External manufacturing minimises fixed investment in manufacturing, and HydraTrack maintains specification and quality approval (Alaslani et al., 2024).</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725" b="0">
                <a:solidFill>
                  <a:srgbClr val="171B38"/>
                </a:solidFill>
                <a:latin typeface="Arial" panose="020B0604020202090204"/>
                <a:ea typeface="Arial" panose="020B0604020202090204"/>
                <a:cs typeface="Arial" panose="020B0604020202090204"/>
              </a:defRPr>
            </a:pPr>
            <a:r>
              <a:rPr sz="1725" b="0">
                <a:solidFill>
                  <a:srgbClr val="171B38"/>
                </a:solidFill>
                <a:latin typeface="Arial" panose="020B0604020202090204"/>
                <a:ea typeface="Arial" panose="020B0604020202090204"/>
                <a:cs typeface="Arial" panose="020B0604020202090204"/>
              </a:rPr>
              <a:t>The £30,000 initial inventory allocation supports the forecast of 400 monthly Year 1 orders.</a:t>
            </a:r>
            <a:endParaRPr sz="1875">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725" b="0">
                <a:solidFill>
                  <a:srgbClr val="171B38"/>
                </a:solidFill>
                <a:latin typeface="Arial" panose="020B0604020202090204"/>
                <a:ea typeface="Arial" panose="020B0604020202090204"/>
                <a:cs typeface="Arial" panose="020B0604020202090204"/>
              </a:defRPr>
            </a:pPr>
            <a:r>
              <a:rPr sz="1725" b="0">
                <a:solidFill>
                  <a:srgbClr val="171B38"/>
                </a:solidFill>
                <a:latin typeface="Arial" panose="020B0604020202090204"/>
                <a:ea typeface="Arial" panose="020B0604020202090204"/>
                <a:cs typeface="Arial" panose="020B0604020202090204"/>
              </a:rPr>
              <a:t>Smartphone-based hydration research demonstrates continuing innovation in low-cost monitoring methods.</a:t>
            </a:r>
            <a:endParaRPr sz="1875">
              <a:solidFill>
                <a:srgbClr val="30205A"/>
              </a:solidFill>
              <a:latin typeface="Times New Roman" panose="02020503050405090304"/>
              <a:ea typeface="Times New Roman" panose="02020503050405090304"/>
              <a:cs typeface="Times New Roman" panose="0202050305040509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4"/>
          <p:cNvPicPr>
            <a:picLocks noChangeAspect="1"/>
          </p:cNvPicPr>
          <p:nvPr/>
        </p:nvPicPr>
        <p:blipFill>
          <a:blip r:embed="rId1"/>
          <a:srcRect t="27" b="27"/>
          <a:stretch>
            <a:fillRect/>
          </a:stretch>
        </p:blipFill>
        <p:spPr>
          <a:xfrm>
            <a:off x="0" y="0"/>
            <a:ext cx="12192000" cy="6858000"/>
          </a:xfrm>
          <a:prstGeom prst="rect">
            <a:avLst/>
          </a:prstGeom>
        </p:spPr>
      </p:pic>
      <p:sp>
        <p:nvSpPr>
          <p:cNvPr id="2" name="title-12"/>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10: Three-Year Financial Forecast</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10"/>
          <p:cNvSpPr>
            <a:spLocks noGrp="1"/>
          </p:cNvSpPr>
          <p:nvPr/>
        </p:nvSpPr>
        <p:spPr>
          <a:xfrm>
            <a:off x="762000" y="1571625"/>
            <a:ext cx="4667250" cy="2571750"/>
          </a:xfrm>
          <a:prstGeom prst="rect">
            <a:avLst/>
          </a:prstGeom>
          <a:noFill/>
          <a:ln w="0">
            <a:noFill/>
          </a:ln>
        </p:spPr>
        <p:txBody>
          <a:bodyPr anchor="t">
            <a:normAutofit/>
          </a:bodyPr>
          <a:lstStyle/>
          <a:p>
            <a:pPr marL="266700" indent="-127000">
              <a:spcAft>
                <a:spcPts val="1800"/>
              </a:spcAft>
              <a:buChar char="•"/>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Revenue increases from £331,200 in Year 1 to £463,680 in Year 2 and £602,784 in Year 3.</a:t>
            </a:r>
            <a:endParaRPr sz="1650">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Net profit rises from £25,894 to £68,328 and £114,633 as revenue grows faster than operating expenditure.</a:t>
            </a:r>
            <a:endParaRPr sz="1650">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425" b="0">
                <a:solidFill>
                  <a:srgbClr val="171B38"/>
                </a:solidFill>
                <a:latin typeface="Arial" panose="020B0604020202090204"/>
                <a:ea typeface="Arial" panose="020B0604020202090204"/>
                <a:cs typeface="Arial" panose="020B0604020202090204"/>
              </a:defRPr>
            </a:pPr>
            <a:r>
              <a:rPr sz="1425" b="0">
                <a:solidFill>
                  <a:srgbClr val="171B38"/>
                </a:solidFill>
                <a:latin typeface="Arial" panose="020B0604020202090204"/>
                <a:ea typeface="Arial" panose="020B0604020202090204"/>
                <a:cs typeface="Arial" panose="020B0604020202090204"/>
              </a:rPr>
              <a:t>Startup forecasting should integrate profitability, growth, cash requirements and market conditions.</a:t>
            </a:r>
            <a:endParaRPr sz="1650">
              <a:solidFill>
                <a:srgbClr val="30205A"/>
              </a:solidFill>
              <a:latin typeface="Times New Roman" panose="02020503050405090304"/>
              <a:ea typeface="Times New Roman" panose="02020503050405090304"/>
              <a:cs typeface="Times New Roman" panose="02020503050405090304"/>
            </a:endParaRPr>
          </a:p>
        </p:txBody>
      </p:sp>
      <p:pic>
        <p:nvPicPr>
          <p:cNvPr id="10" name="Picture 5"/>
          <p:cNvPicPr>
            <a:picLocks noChangeAspect="1"/>
          </p:cNvPicPr>
          <p:nvPr/>
        </p:nvPicPr>
        <p:blipFill>
          <a:blip r:embed="rId2"/>
          <a:stretch>
            <a:fillRect/>
          </a:stretch>
        </p:blipFill>
        <p:spPr>
          <a:xfrm>
            <a:off x="6572250" y="1571625"/>
            <a:ext cx="3058795" cy="3749040"/>
          </a:xfrm>
          <a:prstGeom prst="rect">
            <a:avLst/>
          </a:prstGeom>
        </p:spPr>
      </p:pic>
      <p:pic>
        <p:nvPicPr>
          <p:cNvPr id="11" name="Picture 8"/>
          <p:cNvPicPr>
            <a:picLocks noChangeAspect="1"/>
          </p:cNvPicPr>
          <p:nvPr/>
        </p:nvPicPr>
        <p:blipFill>
          <a:blip r:embed="rId3"/>
          <a:stretch>
            <a:fillRect/>
          </a:stretch>
        </p:blipFill>
        <p:spPr>
          <a:xfrm>
            <a:off x="962025" y="3805555"/>
            <a:ext cx="4267200" cy="1640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5"/>
          <p:cNvPicPr>
            <a:picLocks noChangeAspect="1"/>
          </p:cNvPicPr>
          <p:nvPr/>
        </p:nvPicPr>
        <p:blipFill>
          <a:blip r:embed="rId1"/>
          <a:srcRect t="27" b="27"/>
          <a:stretch>
            <a:fillRect/>
          </a:stretch>
        </p:blipFill>
        <p:spPr>
          <a:xfrm>
            <a:off x="0" y="0"/>
            <a:ext cx="12192000" cy="6858000"/>
          </a:xfrm>
          <a:prstGeom prst="rect">
            <a:avLst/>
          </a:prstGeom>
        </p:spPr>
      </p:pic>
      <p:sp>
        <p:nvSpPr>
          <p:cNvPr id="2" name="title-13"/>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11: Break-Even KPIs and Growth Potential</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11"/>
          <p:cNvSpPr>
            <a:spLocks noGrp="1"/>
          </p:cNvSpPr>
          <p:nvPr/>
        </p:nvSpPr>
        <p:spPr>
          <a:xfrm>
            <a:off x="762000" y="1571625"/>
            <a:ext cx="4667250" cy="2381250"/>
          </a:xfrm>
          <a:prstGeom prst="rect">
            <a:avLst/>
          </a:prstGeom>
          <a:noFill/>
          <a:ln w="0">
            <a:noFill/>
          </a:ln>
        </p:spPr>
        <p:txBody>
          <a:bodyPr anchor="t">
            <a:normAutofit/>
          </a:bodyPr>
          <a:lstStyle/>
          <a:p>
            <a:pPr marL="266700" indent="-127000">
              <a:spcAft>
                <a:spcPts val="1800"/>
              </a:spcAft>
              <a:buChar char="•"/>
              <a:defRPr sz="1390" b="0">
                <a:solidFill>
                  <a:srgbClr val="171B38"/>
                </a:solidFill>
                <a:latin typeface="Arial" panose="020B0604020202090204"/>
                <a:ea typeface="Arial" panose="020B0604020202090204"/>
                <a:cs typeface="Arial" panose="020B0604020202090204"/>
              </a:defRPr>
            </a:pPr>
            <a:r>
              <a:rPr sz="1390" b="0">
                <a:solidFill>
                  <a:srgbClr val="171B38"/>
                </a:solidFill>
                <a:latin typeface="Arial" panose="020B0604020202090204"/>
                <a:ea typeface="Arial" panose="020B0604020202090204"/>
                <a:cs typeface="Arial" panose="020B0604020202090204"/>
              </a:rPr>
              <a:t>Monthly break-even equals approximately 340 bottles or £23,438 in sales, against a 400-order forecast.</a:t>
            </a:r>
            <a:endParaRPr sz="1650">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390" b="0">
                <a:solidFill>
                  <a:srgbClr val="171B38"/>
                </a:solidFill>
                <a:latin typeface="Arial" panose="020B0604020202090204"/>
                <a:ea typeface="Arial" panose="020B0604020202090204"/>
                <a:cs typeface="Arial" panose="020B0604020202090204"/>
              </a:defRPr>
            </a:pPr>
            <a:r>
              <a:rPr sz="1390" b="0">
                <a:solidFill>
                  <a:srgbClr val="171B38"/>
                </a:solidFill>
                <a:latin typeface="Arial" panose="020B0604020202090204"/>
                <a:ea typeface="Arial" panose="020B0604020202090204"/>
                <a:cs typeface="Arial" panose="020B0604020202090204"/>
              </a:rPr>
              <a:t>Customer acquisition cost is £12.50, estimated lifetime value is £44.30 and LTV:CAC equals 3.54:1.</a:t>
            </a:r>
            <a:endParaRPr sz="1650">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390" b="0">
                <a:solidFill>
                  <a:srgbClr val="171B38"/>
                </a:solidFill>
                <a:latin typeface="Arial" panose="020B0604020202090204"/>
                <a:ea typeface="Arial" panose="020B0604020202090204"/>
                <a:cs typeface="Arial" panose="020B0604020202090204"/>
              </a:defRPr>
            </a:pPr>
            <a:r>
              <a:rPr sz="1390" b="0">
                <a:solidFill>
                  <a:srgbClr val="171B38"/>
                </a:solidFill>
                <a:latin typeface="Arial" panose="020B0604020202090204"/>
                <a:ea typeface="Arial" panose="020B0604020202090204"/>
                <a:cs typeface="Arial" panose="020B0604020202090204"/>
              </a:rPr>
              <a:t>Connected-product quality assessment should incorporate consumer needs and measurable product performance.</a:t>
            </a:r>
            <a:endParaRPr sz="1650">
              <a:solidFill>
                <a:srgbClr val="30205A"/>
              </a:solidFill>
              <a:latin typeface="Times New Roman" panose="02020503050405090304"/>
              <a:ea typeface="Times New Roman" panose="02020503050405090304"/>
              <a:cs typeface="Times New Roman" panose="02020503050405090304"/>
            </a:endParaRPr>
          </a:p>
        </p:txBody>
      </p:sp>
      <p:pic>
        <p:nvPicPr>
          <p:cNvPr id="11" name="Picture 4"/>
          <p:cNvPicPr>
            <a:picLocks noChangeAspect="1"/>
          </p:cNvPicPr>
          <p:nvPr/>
        </p:nvPicPr>
        <p:blipFill>
          <a:blip r:embed="rId2"/>
          <a:stretch>
            <a:fillRect/>
          </a:stretch>
        </p:blipFill>
        <p:spPr>
          <a:xfrm>
            <a:off x="5715000" y="1571625"/>
            <a:ext cx="5429250" cy="1600200"/>
          </a:xfrm>
          <a:prstGeom prst="rect">
            <a:avLst/>
          </a:prstGeom>
          <a:ln w="22225">
            <a:solidFill>
              <a:schemeClr val="tx1"/>
            </a:solidFill>
          </a:ln>
        </p:spPr>
      </p:pic>
      <p:pic>
        <p:nvPicPr>
          <p:cNvPr id="12" name="Picture 7"/>
          <p:cNvPicPr>
            <a:picLocks noChangeAspect="1"/>
          </p:cNvPicPr>
          <p:nvPr/>
        </p:nvPicPr>
        <p:blipFill>
          <a:blip r:embed="rId3"/>
          <a:stretch>
            <a:fillRect/>
          </a:stretch>
        </p:blipFill>
        <p:spPr>
          <a:xfrm>
            <a:off x="8572500" y="3476625"/>
            <a:ext cx="2095500" cy="2219325"/>
          </a:xfrm>
          <a:prstGeom prst="rect">
            <a:avLst/>
          </a:prstGeom>
          <a:ln w="15875">
            <a:solidFill>
              <a:schemeClr val="tx1"/>
            </a:solidFill>
          </a:ln>
        </p:spPr>
      </p:pic>
      <p:pic>
        <p:nvPicPr>
          <p:cNvPr id="13" name="Picture 13"/>
          <p:cNvPicPr>
            <a:picLocks noChangeAspect="1"/>
          </p:cNvPicPr>
          <p:nvPr/>
        </p:nvPicPr>
        <p:blipFill>
          <a:blip r:embed="rId4"/>
          <a:stretch>
            <a:fillRect/>
          </a:stretch>
        </p:blipFill>
        <p:spPr>
          <a:xfrm>
            <a:off x="762000" y="3649980"/>
            <a:ext cx="6267450" cy="19704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4"/>
          <p:cNvPicPr>
            <a:picLocks noChangeAspect="1"/>
          </p:cNvPicPr>
          <p:nvPr/>
        </p:nvPicPr>
        <p:blipFill>
          <a:blip r:embed="rId1"/>
          <a:srcRect t="27" b="27"/>
          <a:stretch>
            <a:fillRect/>
          </a:stretch>
        </p:blipFill>
        <p:spPr>
          <a:xfrm>
            <a:off x="0" y="0"/>
            <a:ext cx="12192000" cy="6858000"/>
          </a:xfrm>
          <a:prstGeom prst="rect">
            <a:avLst/>
          </a:prstGeom>
        </p:spPr>
      </p:pic>
      <p:sp>
        <p:nvSpPr>
          <p:cNvPr id="2" name="title-14"/>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12: Investment Implementation and Team</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bullets-12"/>
          <p:cNvSpPr>
            <a:spLocks noGrp="1"/>
          </p:cNvSpPr>
          <p:nvPr/>
        </p:nvSpPr>
        <p:spPr>
          <a:xfrm>
            <a:off x="762000" y="1666875"/>
            <a:ext cx="4905375" cy="3619500"/>
          </a:xfrm>
          <a:prstGeom prst="rect">
            <a:avLst/>
          </a:prstGeom>
          <a:noFill/>
          <a:ln w="0">
            <a:noFill/>
          </a:ln>
        </p:spPr>
        <p:txBody>
          <a:bodyPr anchor="t">
            <a:normAutofit/>
          </a:bodyPr>
          <a:lstStyle/>
          <a:p>
            <a:pPr marL="266700" indent="-127000">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HydraTrack seeks £100,000 equity investment, complemented by £10,000 of founder capital.</a:t>
            </a:r>
            <a:endParaRPr sz="1650">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Funding covers £30,000 inventory, £25,000 launch marketing and £55,000 product, staffing and operating requirements.</a:t>
            </a:r>
            <a:endParaRPr sz="1650">
              <a:solidFill>
                <a:srgbClr val="30205A"/>
              </a:solidFill>
              <a:latin typeface="Times New Roman" panose="02020503050405090304"/>
              <a:ea typeface="Times New Roman" panose="02020503050405090304"/>
              <a:cs typeface="Times New Roman" panose="02020503050405090304"/>
            </a:endParaRPr>
          </a:p>
          <a:p>
            <a:pPr marL="266700" indent="-127000">
              <a:spcAft>
                <a:spcPts val="1800"/>
              </a:spcAft>
              <a:buChar char="•"/>
              <a:defRPr sz="1500" b="0">
                <a:solidFill>
                  <a:srgbClr val="171B38"/>
                </a:solidFill>
                <a:latin typeface="Arial" panose="020B0604020202090204"/>
                <a:ea typeface="Arial" panose="020B0604020202090204"/>
                <a:cs typeface="Arial" panose="020B0604020202090204"/>
              </a:defRPr>
            </a:pPr>
            <a:r>
              <a:rPr sz="1500" b="0">
                <a:solidFill>
                  <a:srgbClr val="171B38"/>
                </a:solidFill>
                <a:latin typeface="Arial" panose="020B0604020202090204"/>
                <a:ea typeface="Arial" panose="020B0604020202090204"/>
                <a:cs typeface="Arial" panose="020B0604020202090204"/>
              </a:rPr>
              <a:t>Privacy controls must develop alongside the application because connected health devices process sensitive user information (Shahid et al., 2022).</a:t>
            </a:r>
            <a:endParaRPr sz="1650">
              <a:solidFill>
                <a:srgbClr val="30205A"/>
              </a:solidFill>
              <a:latin typeface="Times New Roman" panose="02020503050405090304"/>
              <a:ea typeface="Times New Roman" panose="02020503050405090304"/>
              <a:cs typeface="Times New Roman" panose="02020503050405090304"/>
            </a:endParaRPr>
          </a:p>
        </p:txBody>
      </p:sp>
      <p:pic>
        <p:nvPicPr>
          <p:cNvPr id="10" name="Picture 5"/>
          <p:cNvPicPr>
            <a:picLocks noChangeAspect="1"/>
          </p:cNvPicPr>
          <p:nvPr/>
        </p:nvPicPr>
        <p:blipFill>
          <a:blip r:embed="rId2"/>
          <a:stretch>
            <a:fillRect/>
          </a:stretch>
        </p:blipFill>
        <p:spPr>
          <a:xfrm>
            <a:off x="8178165" y="2054225"/>
            <a:ext cx="3061335" cy="2244725"/>
          </a:xfrm>
          <a:prstGeom prst="rect">
            <a:avLst/>
          </a:prstGeom>
          <a:ln>
            <a:solidFill>
              <a:schemeClr val="tx1"/>
            </a:solidFill>
          </a:ln>
        </p:spPr>
      </p:pic>
      <p:pic>
        <p:nvPicPr>
          <p:cNvPr id="11" name="Picture 8"/>
          <p:cNvPicPr>
            <a:picLocks noChangeAspect="1"/>
          </p:cNvPicPr>
          <p:nvPr/>
        </p:nvPicPr>
        <p:blipFill>
          <a:blip r:embed="rId3"/>
          <a:stretch>
            <a:fillRect/>
          </a:stretch>
        </p:blipFill>
        <p:spPr>
          <a:xfrm>
            <a:off x="5476875" y="2054225"/>
            <a:ext cx="2453005" cy="22453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2" name="title-16"/>
          <p:cNvSpPr>
            <a:spLocks noGrp="1"/>
          </p:cNvSpPr>
          <p:nvPr/>
        </p:nvSpPr>
        <p:spPr>
          <a:xfrm>
            <a:off x="666750" y="381000"/>
            <a:ext cx="10572750" cy="714375"/>
          </a:xfrm>
          <a:prstGeom prst="rect">
            <a:avLst/>
          </a:prstGeom>
          <a:noFill/>
          <a:ln w="0">
            <a:noFill/>
          </a:ln>
        </p:spPr>
        <p:txBody>
          <a:bodyPr anchor="ctr">
            <a:normAutofit/>
          </a:bodyPr>
          <a:lstStyle/>
          <a:p>
            <a:pPr>
              <a:buNone/>
              <a:defRPr sz="2400" b="1">
                <a:solidFill>
                  <a:srgbClr val="FFFFFF"/>
                </a:solidFill>
                <a:latin typeface="Arial" panose="020B0604020202090204"/>
                <a:ea typeface="Arial" panose="020B0604020202090204"/>
                <a:cs typeface="Arial" panose="020B0604020202090204"/>
              </a:defRPr>
            </a:pPr>
            <a:r>
              <a:rPr sz="2400" b="1">
                <a:solidFill>
                  <a:srgbClr val="FFFFFF"/>
                </a:solidFill>
                <a:latin typeface="Arial" panose="020B0604020202090204"/>
                <a:ea typeface="Arial" panose="020B0604020202090204"/>
                <a:cs typeface="Arial" panose="020B0604020202090204"/>
              </a:rPr>
              <a:t>Reference List</a:t>
            </a:r>
            <a:endParaRPr sz="2550" b="1">
              <a:solidFill>
                <a:srgbClr val="F5F5F5"/>
              </a:solidFill>
              <a:latin typeface="Times New Roman" panose="02020503050405090304"/>
              <a:ea typeface="Times New Roman" panose="02020503050405090304"/>
              <a:cs typeface="Times New Roman" panose="02020503050405090304"/>
            </a:endParaRPr>
          </a:p>
        </p:txBody>
      </p:sp>
      <p:sp>
        <p:nvSpPr>
          <p:cNvPr id="3" name="references-2"/>
          <p:cNvSpPr>
            <a:spLocks noGrp="1"/>
          </p:cNvSpPr>
          <p:nvPr/>
        </p:nvSpPr>
        <p:spPr>
          <a:xfrm>
            <a:off x="762000" y="1476375"/>
            <a:ext cx="10668000" cy="4667250"/>
          </a:xfrm>
          <a:prstGeom prst="rect">
            <a:avLst/>
          </a:prstGeom>
          <a:noFill/>
          <a:ln w="0">
            <a:noFill/>
          </a:ln>
        </p:spPr>
        <p:txBody>
          <a:bodyPr anchor="t">
            <a:normAutofit/>
          </a:bodyPr>
          <a:lstStyle/>
          <a:p>
            <a:pPr>
              <a:defRPr sz="900" b="0">
                <a:solidFill>
                  <a:srgbClr val="171B38"/>
                </a:solidFill>
                <a:latin typeface="Arial" panose="020B0604020202090204"/>
                <a:ea typeface="Arial" panose="020B0604020202090204"/>
                <a:cs typeface="Arial" panose="020B0604020202090204"/>
              </a:defRPr>
            </a:pPr>
            <a:r>
              <a:rPr sz="900" b="0" u="sng">
                <a:solidFill>
                  <a:srgbClr val="171B38"/>
                </a:solidFill>
                <a:latin typeface="Arial" panose="020B0604020202090204"/>
                <a:ea typeface="Arial" panose="020B0604020202090204"/>
                <a:cs typeface="Arial" panose="020B0604020202090204"/>
              </a:rPr>
              <a:t>Alaslani</a:t>
            </a:r>
            <a:r>
              <a:rPr sz="900" b="0" u="sng">
                <a:solidFill>
                  <a:srgbClr val="171B38"/>
                </a:solidFill>
                <a:latin typeface="Arial" panose="020B0604020202090204"/>
                <a:ea typeface="Arial" panose="020B0604020202090204"/>
                <a:cs typeface="Arial" panose="020B0604020202090204"/>
              </a:rPr>
              <a:t>, R., </a:t>
            </a:r>
            <a:r>
              <a:rPr sz="900" b="0" u="sng">
                <a:solidFill>
                  <a:srgbClr val="171B38"/>
                </a:solidFill>
                <a:latin typeface="Arial" panose="020B0604020202090204"/>
                <a:ea typeface="Arial" panose="020B0604020202090204"/>
                <a:cs typeface="Arial" panose="020B0604020202090204"/>
              </a:rPr>
              <a:t>Perzhilla</a:t>
            </a:r>
            <a:r>
              <a:rPr sz="900" b="0" u="sng">
                <a:solidFill>
                  <a:srgbClr val="171B38"/>
                </a:solidFill>
                <a:latin typeface="Arial" panose="020B0604020202090204"/>
                <a:ea typeface="Arial" panose="020B0604020202090204"/>
                <a:cs typeface="Arial" panose="020B0604020202090204"/>
              </a:rPr>
              <a:t>, L., Rahman, M.M.U., Laleg-Kirati, T.M. and Al-</a:t>
            </a:r>
            <a:r>
              <a:rPr sz="900" b="0" u="sng">
                <a:solidFill>
                  <a:srgbClr val="171B38"/>
                </a:solidFill>
                <a:latin typeface="Arial" panose="020B0604020202090204"/>
                <a:ea typeface="Arial" panose="020B0604020202090204"/>
                <a:cs typeface="Arial" panose="020B0604020202090204"/>
              </a:rPr>
              <a:t>Naffouri</a:t>
            </a:r>
            <a:r>
              <a:rPr sz="900" b="0" u="sng">
                <a:solidFill>
                  <a:srgbClr val="171B38"/>
                </a:solidFill>
                <a:latin typeface="Arial" panose="020B0604020202090204"/>
                <a:ea typeface="Arial" panose="020B0604020202090204"/>
                <a:cs typeface="Arial" panose="020B0604020202090204"/>
              </a:rPr>
              <a:t>, T.Y., 2025. You can monitor your hydration level using your smartphone camera. </a:t>
            </a:r>
            <a:r>
              <a:rPr sz="900" b="0" i="1" u="sng">
                <a:solidFill>
                  <a:srgbClr val="171B38"/>
                </a:solidFill>
                <a:latin typeface="Arial" panose="020B0604020202090204"/>
                <a:ea typeface="Arial" panose="020B0604020202090204"/>
                <a:cs typeface="Arial" panose="020B0604020202090204"/>
              </a:rPr>
              <a:t>IEEE Transactions on Instrumentation and Measurement</a:t>
            </a:r>
            <a:r>
              <a:rPr sz="900" b="0" u="sng">
                <a:solidFill>
                  <a:srgbClr val="171B38"/>
                </a:solidFill>
                <a:latin typeface="Arial" panose="020B0604020202090204"/>
                <a:ea typeface="Arial" panose="020B0604020202090204"/>
                <a:cs typeface="Arial" panose="020B0604020202090204"/>
              </a:rPr>
              <a:t>, </a:t>
            </a:r>
            <a:r>
              <a:rPr sz="900" b="0" i="1" u="sng">
                <a:solidFill>
                  <a:srgbClr val="171B38"/>
                </a:solidFill>
                <a:latin typeface="Arial" panose="020B0604020202090204"/>
                <a:ea typeface="Arial" panose="020B0604020202090204"/>
                <a:cs typeface="Arial" panose="020B0604020202090204"/>
              </a:rPr>
              <a:t>74</a:t>
            </a:r>
            <a:r>
              <a:rPr sz="900" b="0" u="sng">
                <a:solidFill>
                  <a:srgbClr val="171B38"/>
                </a:solidFill>
                <a:latin typeface="Arial" panose="020B0604020202090204"/>
                <a:ea typeface="Arial" panose="020B0604020202090204"/>
                <a:cs typeface="Arial" panose="020B0604020202090204"/>
              </a:rPr>
              <a:t>, pp.1-14. </a:t>
            </a:r>
            <a:r>
              <a:rPr sz="900" b="0" u="sng">
                <a:solidFill>
                  <a:srgbClr val="171B38"/>
                </a:solidFill>
                <a:latin typeface="Arial" panose="020B0604020202090204"/>
                <a:ea typeface="Arial" panose="020B0604020202090204"/>
                <a:cs typeface="Arial" panose="020B0604020202090204"/>
                <a:hlinkClick r:id="rId2"/>
              </a:rPr>
              <a:t>https://ieeexplore.ieee.org/abstract/document/11062629/</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Calegari, L.P., Tortorella, G.L. and </a:t>
            </a:r>
            <a:r>
              <a:rPr sz="900" b="0">
                <a:solidFill>
                  <a:srgbClr val="171B38"/>
                </a:solidFill>
                <a:latin typeface="Arial" panose="020B0604020202090204"/>
                <a:ea typeface="Arial" panose="020B0604020202090204"/>
                <a:cs typeface="Arial" panose="020B0604020202090204"/>
              </a:rPr>
              <a:t>Fettermann</a:t>
            </a:r>
            <a:r>
              <a:rPr sz="900" b="0">
                <a:solidFill>
                  <a:srgbClr val="171B38"/>
                </a:solidFill>
                <a:latin typeface="Arial" panose="020B0604020202090204"/>
                <a:ea typeface="Arial" panose="020B0604020202090204"/>
                <a:cs typeface="Arial" panose="020B0604020202090204"/>
              </a:rPr>
              <a:t>, D.C., 2023. Getting connected to m-health technologies through a meta-analysis. </a:t>
            </a:r>
            <a:r>
              <a:rPr sz="900" b="0" i="1">
                <a:solidFill>
                  <a:srgbClr val="171B38"/>
                </a:solidFill>
                <a:latin typeface="Arial" panose="020B0604020202090204"/>
                <a:ea typeface="Arial" panose="020B0604020202090204"/>
                <a:cs typeface="Arial" panose="020B0604020202090204"/>
              </a:rPr>
              <a:t>International journal of environmental research and public health</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20</a:t>
            </a:r>
            <a:r>
              <a:rPr sz="900" b="0">
                <a:solidFill>
                  <a:srgbClr val="171B38"/>
                </a:solidFill>
                <a:latin typeface="Arial" panose="020B0604020202090204"/>
                <a:ea typeface="Arial" panose="020B0604020202090204"/>
                <a:cs typeface="Arial" panose="020B0604020202090204"/>
              </a:rPr>
              <a:t>(5), p.4369. </a:t>
            </a:r>
            <a:r>
              <a:rPr sz="900" b="0" u="sng">
                <a:solidFill>
                  <a:srgbClr val="171B38"/>
                </a:solidFill>
                <a:latin typeface="Arial" panose="020B0604020202090204"/>
                <a:ea typeface="Arial" panose="020B0604020202090204"/>
                <a:cs typeface="Arial" panose="020B0604020202090204"/>
                <a:hlinkClick r:id="rId3"/>
              </a:rPr>
              <a:t>https://www.mdpi.com/1660-4601/20/5/4369</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Dube, A., Gouws, C. and </a:t>
            </a:r>
            <a:r>
              <a:rPr sz="900" b="0">
                <a:solidFill>
                  <a:srgbClr val="171B38"/>
                </a:solidFill>
                <a:latin typeface="Arial" panose="020B0604020202090204"/>
                <a:ea typeface="Arial" panose="020B0604020202090204"/>
                <a:cs typeface="Arial" panose="020B0604020202090204"/>
              </a:rPr>
              <a:t>Breukelman</a:t>
            </a:r>
            <a:r>
              <a:rPr sz="900" b="0">
                <a:solidFill>
                  <a:srgbClr val="171B38"/>
                </a:solidFill>
                <a:latin typeface="Arial" panose="020B0604020202090204"/>
                <a:ea typeface="Arial" panose="020B0604020202090204"/>
                <a:cs typeface="Arial" panose="020B0604020202090204"/>
              </a:rPr>
              <a:t>, G., 2022. Effects of hypohydration and fluid balance in athletes' cognitive performance: a systematic review. </a:t>
            </a:r>
            <a:r>
              <a:rPr sz="900" b="0" i="1">
                <a:solidFill>
                  <a:srgbClr val="171B38"/>
                </a:solidFill>
                <a:latin typeface="Arial" panose="020B0604020202090204"/>
                <a:ea typeface="Arial" panose="020B0604020202090204"/>
                <a:cs typeface="Arial" panose="020B0604020202090204"/>
              </a:rPr>
              <a:t>African health sciences</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22</a:t>
            </a:r>
            <a:r>
              <a:rPr sz="900" b="0">
                <a:solidFill>
                  <a:srgbClr val="171B38"/>
                </a:solidFill>
                <a:latin typeface="Arial" panose="020B0604020202090204"/>
                <a:ea typeface="Arial" panose="020B0604020202090204"/>
                <a:cs typeface="Arial" panose="020B0604020202090204"/>
              </a:rPr>
              <a:t>(1), p.367. </a:t>
            </a:r>
            <a:r>
              <a:rPr sz="900" b="0" u="sng">
                <a:solidFill>
                  <a:srgbClr val="171B38"/>
                </a:solidFill>
                <a:latin typeface="Arial" panose="020B0604020202090204"/>
                <a:ea typeface="Arial" panose="020B0604020202090204"/>
                <a:cs typeface="Arial" panose="020B0604020202090204"/>
                <a:hlinkClick r:id="rId4"/>
              </a:rPr>
              <a:t>https://pmc.ncbi.nlm.nih.gov/articles/PMC9382508/</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Hussain, A., Ting, D.H. and Mazhar, M., 2022. Driving consumer value co-creation and purchase intention by social media advertising value. </a:t>
            </a:r>
            <a:r>
              <a:rPr sz="900" b="0" i="1">
                <a:solidFill>
                  <a:srgbClr val="171B38"/>
                </a:solidFill>
                <a:latin typeface="Arial" panose="020B0604020202090204"/>
                <a:ea typeface="Arial" panose="020B0604020202090204"/>
                <a:cs typeface="Arial" panose="020B0604020202090204"/>
              </a:rPr>
              <a:t>Frontiers in psychology</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13</a:t>
            </a:r>
            <a:r>
              <a:rPr sz="900" b="0">
                <a:solidFill>
                  <a:srgbClr val="171B38"/>
                </a:solidFill>
                <a:latin typeface="Arial" panose="020B0604020202090204"/>
                <a:ea typeface="Arial" panose="020B0604020202090204"/>
                <a:cs typeface="Arial" panose="020B0604020202090204"/>
              </a:rPr>
              <a:t>, p.800206. </a:t>
            </a:r>
            <a:r>
              <a:rPr sz="900" b="0" u="sng">
                <a:solidFill>
                  <a:srgbClr val="171B38"/>
                </a:solidFill>
                <a:latin typeface="Arial" panose="020B0604020202090204"/>
                <a:ea typeface="Arial" panose="020B0604020202090204"/>
                <a:cs typeface="Arial" panose="020B0604020202090204"/>
                <a:hlinkClick r:id="rId5"/>
              </a:rPr>
              <a:t>https://www.frontiersin.org/journals/psychology/articles/10.3389/fpsyg.2022.800206/full</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Li, S., Xiao, X. and Zhang, X., 2023. Hydration status in older adults: current knowledge and future challenges. </a:t>
            </a:r>
            <a:r>
              <a:rPr sz="900" b="0" i="1">
                <a:solidFill>
                  <a:srgbClr val="171B38"/>
                </a:solidFill>
                <a:latin typeface="Arial" panose="020B0604020202090204"/>
                <a:ea typeface="Arial" panose="020B0604020202090204"/>
                <a:cs typeface="Arial" panose="020B0604020202090204"/>
              </a:rPr>
              <a:t>Nutrients</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15</a:t>
            </a:r>
            <a:r>
              <a:rPr sz="900" b="0">
                <a:solidFill>
                  <a:srgbClr val="171B38"/>
                </a:solidFill>
                <a:latin typeface="Arial" panose="020B0604020202090204"/>
                <a:ea typeface="Arial" panose="020B0604020202090204"/>
                <a:cs typeface="Arial" panose="020B0604020202090204"/>
              </a:rPr>
              <a:t>(11), p.2609. </a:t>
            </a:r>
            <a:r>
              <a:rPr sz="900" b="0" u="sng">
                <a:solidFill>
                  <a:srgbClr val="171B38"/>
                </a:solidFill>
                <a:latin typeface="Arial" panose="020B0604020202090204"/>
                <a:ea typeface="Arial" panose="020B0604020202090204"/>
                <a:cs typeface="Arial" panose="020B0604020202090204"/>
                <a:hlinkClick r:id="rId6"/>
              </a:rPr>
              <a:t>https://www.mdpi.com/2072-6643/15/11/2609</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Naem, M.S.A., </a:t>
            </a:r>
            <a:r>
              <a:rPr sz="900" b="0">
                <a:solidFill>
                  <a:srgbClr val="171B38"/>
                </a:solidFill>
                <a:latin typeface="Arial" panose="020B0604020202090204"/>
                <a:ea typeface="Arial" panose="020B0604020202090204"/>
                <a:cs typeface="Arial" panose="020B0604020202090204"/>
              </a:rPr>
              <a:t>Koudil</a:t>
            </a:r>
            <a:r>
              <a:rPr sz="900" b="0">
                <a:solidFill>
                  <a:srgbClr val="171B38"/>
                </a:solidFill>
                <a:latin typeface="Arial" panose="020B0604020202090204"/>
                <a:ea typeface="Arial" panose="020B0604020202090204"/>
                <a:cs typeface="Arial" panose="020B0604020202090204"/>
              </a:rPr>
              <a:t>, M. and </a:t>
            </a:r>
            <a:r>
              <a:rPr sz="900" b="0">
                <a:solidFill>
                  <a:srgbClr val="171B38"/>
                </a:solidFill>
                <a:latin typeface="Arial" panose="020B0604020202090204"/>
                <a:ea typeface="Arial" panose="020B0604020202090204"/>
                <a:cs typeface="Arial" panose="020B0604020202090204"/>
              </a:rPr>
              <a:t>Ouldimam</a:t>
            </a:r>
            <a:r>
              <a:rPr sz="900" b="0">
                <a:solidFill>
                  <a:srgbClr val="171B38"/>
                </a:solidFill>
                <a:latin typeface="Arial" panose="020B0604020202090204"/>
                <a:ea typeface="Arial" panose="020B0604020202090204"/>
                <a:cs typeface="Arial" panose="020B0604020202090204"/>
              </a:rPr>
              <a:t>, Z., 2022. Product quality assessment in the internet of things: a consumer-oriented approach. </a:t>
            </a:r>
            <a:r>
              <a:rPr sz="900" b="0" i="1">
                <a:solidFill>
                  <a:srgbClr val="171B38"/>
                </a:solidFill>
                <a:latin typeface="Arial" panose="020B0604020202090204"/>
                <a:ea typeface="Arial" panose="020B0604020202090204"/>
                <a:cs typeface="Arial" panose="020B0604020202090204"/>
              </a:rPr>
              <a:t>Sensors</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22</a:t>
            </a:r>
            <a:r>
              <a:rPr sz="900" b="0">
                <a:solidFill>
                  <a:srgbClr val="171B38"/>
                </a:solidFill>
                <a:latin typeface="Arial" panose="020B0604020202090204"/>
                <a:ea typeface="Arial" panose="020B0604020202090204"/>
                <a:cs typeface="Arial" panose="020B0604020202090204"/>
              </a:rPr>
              <a:t>(6), p.2215. </a:t>
            </a:r>
            <a:r>
              <a:rPr sz="900" b="0" u="sng">
                <a:solidFill>
                  <a:srgbClr val="171B38"/>
                </a:solidFill>
                <a:latin typeface="Arial" panose="020B0604020202090204"/>
                <a:ea typeface="Arial" panose="020B0604020202090204"/>
                <a:cs typeface="Arial" panose="020B0604020202090204"/>
                <a:hlinkClick r:id="rId7"/>
              </a:rPr>
              <a:t>https://www.mdpi.com/1424-8220/22/6/2215</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Nishi, S.K., </a:t>
            </a:r>
            <a:r>
              <a:rPr sz="900" b="0">
                <a:solidFill>
                  <a:srgbClr val="171B38"/>
                </a:solidFill>
                <a:latin typeface="Arial" panose="020B0604020202090204"/>
                <a:ea typeface="Arial" panose="020B0604020202090204"/>
                <a:cs typeface="Arial" panose="020B0604020202090204"/>
              </a:rPr>
              <a:t>Babio</a:t>
            </a:r>
            <a:r>
              <a:rPr sz="900" b="0">
                <a:solidFill>
                  <a:srgbClr val="171B38"/>
                </a:solidFill>
                <a:latin typeface="Arial" panose="020B0604020202090204"/>
                <a:ea typeface="Arial" panose="020B0604020202090204"/>
                <a:cs typeface="Arial" panose="020B0604020202090204"/>
              </a:rPr>
              <a:t>, N., Paz-Graniel, I., Serra-</a:t>
            </a:r>
            <a:r>
              <a:rPr sz="900" b="0">
                <a:solidFill>
                  <a:srgbClr val="171B38"/>
                </a:solidFill>
                <a:latin typeface="Arial" panose="020B0604020202090204"/>
                <a:ea typeface="Arial" panose="020B0604020202090204"/>
                <a:cs typeface="Arial" panose="020B0604020202090204"/>
              </a:rPr>
              <a:t>Majem</a:t>
            </a:r>
            <a:r>
              <a:rPr sz="900" b="0">
                <a:solidFill>
                  <a:srgbClr val="171B38"/>
                </a:solidFill>
                <a:latin typeface="Arial" panose="020B0604020202090204"/>
                <a:ea typeface="Arial" panose="020B0604020202090204"/>
                <a:cs typeface="Arial" panose="020B0604020202090204"/>
              </a:rPr>
              <a:t>, L., </a:t>
            </a:r>
            <a:r>
              <a:rPr sz="900" b="0">
                <a:solidFill>
                  <a:srgbClr val="171B38"/>
                </a:solidFill>
                <a:latin typeface="Arial" panose="020B0604020202090204"/>
                <a:ea typeface="Arial" panose="020B0604020202090204"/>
                <a:cs typeface="Arial" panose="020B0604020202090204"/>
              </a:rPr>
              <a:t>Vioque</a:t>
            </a:r>
            <a:r>
              <a:rPr sz="900" b="0">
                <a:solidFill>
                  <a:srgbClr val="171B38"/>
                </a:solidFill>
                <a:latin typeface="Arial" panose="020B0604020202090204"/>
                <a:ea typeface="Arial" panose="020B0604020202090204"/>
                <a:cs typeface="Arial" panose="020B0604020202090204"/>
              </a:rPr>
              <a:t>, J., Fitó, M., Corella, D., </a:t>
            </a:r>
            <a:r>
              <a:rPr sz="900" b="0">
                <a:solidFill>
                  <a:srgbClr val="171B38"/>
                </a:solidFill>
                <a:latin typeface="Arial" panose="020B0604020202090204"/>
                <a:ea typeface="Arial" panose="020B0604020202090204"/>
                <a:cs typeface="Arial" panose="020B0604020202090204"/>
              </a:rPr>
              <a:t>Pintó</a:t>
            </a:r>
            <a:r>
              <a:rPr sz="900" b="0">
                <a:solidFill>
                  <a:srgbClr val="171B38"/>
                </a:solidFill>
                <a:latin typeface="Arial" panose="020B0604020202090204"/>
                <a:ea typeface="Arial" panose="020B0604020202090204"/>
                <a:cs typeface="Arial" panose="020B0604020202090204"/>
              </a:rPr>
              <a:t>, X., Bueno-</a:t>
            </a:r>
            <a:r>
              <a:rPr sz="900" b="0">
                <a:solidFill>
                  <a:srgbClr val="171B38"/>
                </a:solidFill>
                <a:latin typeface="Arial" panose="020B0604020202090204"/>
                <a:ea typeface="Arial" panose="020B0604020202090204"/>
                <a:cs typeface="Arial" panose="020B0604020202090204"/>
              </a:rPr>
              <a:t>Cavanillas</a:t>
            </a:r>
            <a:r>
              <a:rPr sz="900" b="0">
                <a:solidFill>
                  <a:srgbClr val="171B38"/>
                </a:solidFill>
                <a:latin typeface="Arial" panose="020B0604020202090204"/>
                <a:ea typeface="Arial" panose="020B0604020202090204"/>
                <a:cs typeface="Arial" panose="020B0604020202090204"/>
              </a:rPr>
              <a:t>, A., Tur, J.A. and Diez-</a:t>
            </a:r>
            <a:r>
              <a:rPr sz="900" b="0">
                <a:solidFill>
                  <a:srgbClr val="171B38"/>
                </a:solidFill>
                <a:latin typeface="Arial" panose="020B0604020202090204"/>
                <a:ea typeface="Arial" panose="020B0604020202090204"/>
                <a:cs typeface="Arial" panose="020B0604020202090204"/>
              </a:rPr>
              <a:t>Ricote</a:t>
            </a:r>
            <a:r>
              <a:rPr sz="900" b="0">
                <a:solidFill>
                  <a:srgbClr val="171B38"/>
                </a:solidFill>
                <a:latin typeface="Arial" panose="020B0604020202090204"/>
                <a:ea typeface="Arial" panose="020B0604020202090204"/>
                <a:cs typeface="Arial" panose="020B0604020202090204"/>
              </a:rPr>
              <a:t>, L., 2023. Water intake, hydration status and 2-year changes in cognitive performance: a prospective cohort study. </a:t>
            </a:r>
            <a:r>
              <a:rPr sz="900" b="0" i="1">
                <a:solidFill>
                  <a:srgbClr val="171B38"/>
                </a:solidFill>
                <a:latin typeface="Arial" panose="020B0604020202090204"/>
                <a:ea typeface="Arial" panose="020B0604020202090204"/>
                <a:cs typeface="Arial" panose="020B0604020202090204"/>
              </a:rPr>
              <a:t>BMC medicine</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21</a:t>
            </a:r>
            <a:r>
              <a:rPr sz="900" b="0">
                <a:solidFill>
                  <a:srgbClr val="171B38"/>
                </a:solidFill>
                <a:latin typeface="Arial" panose="020B0604020202090204"/>
                <a:ea typeface="Arial" panose="020B0604020202090204"/>
                <a:cs typeface="Arial" panose="020B0604020202090204"/>
              </a:rPr>
              <a:t>(1), p.82. </a:t>
            </a:r>
            <a:r>
              <a:rPr sz="900" b="0" u="sng">
                <a:solidFill>
                  <a:srgbClr val="171B38"/>
                </a:solidFill>
                <a:latin typeface="Arial" panose="020B0604020202090204"/>
                <a:ea typeface="Arial" panose="020B0604020202090204"/>
                <a:cs typeface="Arial" panose="020B0604020202090204"/>
                <a:hlinkClick r:id="rId8"/>
              </a:rPr>
              <a:t>https://link.springer.com/article/10.1186/s12916-023-02771-4</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OECD (2022) Financing SMEs and Entrepreneurs 2022: An OECD Scoreboard. Paris: OECD Publishing. </a:t>
            </a:r>
            <a:r>
              <a:rPr sz="900" b="0" u="sng">
                <a:solidFill>
                  <a:srgbClr val="171B38"/>
                </a:solidFill>
                <a:latin typeface="Arial" panose="020B0604020202090204"/>
                <a:ea typeface="Arial" panose="020B0604020202090204"/>
                <a:cs typeface="Arial" panose="020B0604020202090204"/>
                <a:hlinkClick r:id="rId9"/>
              </a:rPr>
              <a:t>https://doi.org/10.1787/e9073a0f-en</a:t>
            </a:r>
            <a:r>
              <a:rPr sz="900" b="0">
                <a:solidFill>
                  <a:srgbClr val="171B38"/>
                </a:solidFill>
                <a:latin typeface="Arial" panose="020B0604020202090204"/>
                <a:ea typeface="Arial" panose="020B0604020202090204"/>
                <a:cs typeface="Arial" panose="020B0604020202090204"/>
              </a:rPr>
              <a:t>.</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Patreau</a:t>
            </a:r>
            <a:r>
              <a:rPr sz="900" b="0">
                <a:solidFill>
                  <a:srgbClr val="171B38"/>
                </a:solidFill>
                <a:latin typeface="Arial" panose="020B0604020202090204"/>
                <a:ea typeface="Arial" panose="020B0604020202090204"/>
                <a:cs typeface="Arial" panose="020B0604020202090204"/>
              </a:rPr>
              <a:t>, V., Bernard, S., Leroux, J., Bellemare, M. and Morissette, J., 2023. Consumer interest and willingness to pay for in-bulk products with reusable packaging options. </a:t>
            </a:r>
            <a:r>
              <a:rPr sz="900" b="0" i="1">
                <a:solidFill>
                  <a:srgbClr val="171B38"/>
                </a:solidFill>
                <a:latin typeface="Arial" panose="020B0604020202090204"/>
                <a:ea typeface="Arial" panose="020B0604020202090204"/>
                <a:cs typeface="Arial" panose="020B0604020202090204"/>
              </a:rPr>
              <a:t>Frontiers in Sustainability</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4</a:t>
            </a:r>
            <a:r>
              <a:rPr sz="900" b="0">
                <a:solidFill>
                  <a:srgbClr val="171B38"/>
                </a:solidFill>
                <a:latin typeface="Arial" panose="020B0604020202090204"/>
                <a:ea typeface="Arial" panose="020B0604020202090204"/>
                <a:cs typeface="Arial" panose="020B0604020202090204"/>
              </a:rPr>
              <a:t>, p.1228917. </a:t>
            </a:r>
            <a:r>
              <a:rPr sz="900" b="0" u="sng">
                <a:solidFill>
                  <a:srgbClr val="171B38"/>
                </a:solidFill>
                <a:latin typeface="Arial" panose="020B0604020202090204"/>
                <a:ea typeface="Arial" panose="020B0604020202090204"/>
                <a:cs typeface="Arial" panose="020B0604020202090204"/>
                <a:hlinkClick r:id="rId10"/>
              </a:rPr>
              <a:t>https://www.frontiersin.org/journals/sustainability/articles/10.3389/frsus.2023.1228917/full</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Rosinger, A.Y., John, J.D. and Murdock, K.W., 2024. Ad libitum dehydration is associated with poorer performance on a sustained attention task but not other measures of cognitive performance among middle‐to‐older aged community‐dwelling adults: A short‐term longitudinal study. </a:t>
            </a:r>
            <a:r>
              <a:rPr sz="900" b="0" i="1">
                <a:solidFill>
                  <a:srgbClr val="171B38"/>
                </a:solidFill>
                <a:latin typeface="Arial" panose="020B0604020202090204"/>
                <a:ea typeface="Arial" panose="020B0604020202090204"/>
                <a:cs typeface="Arial" panose="020B0604020202090204"/>
              </a:rPr>
              <a:t>American Journal of Human Biology</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36</a:t>
            </a:r>
            <a:r>
              <a:rPr sz="900" b="0">
                <a:solidFill>
                  <a:srgbClr val="171B38"/>
                </a:solidFill>
                <a:latin typeface="Arial" panose="020B0604020202090204"/>
                <a:ea typeface="Arial" panose="020B0604020202090204"/>
                <a:cs typeface="Arial" panose="020B0604020202090204"/>
              </a:rPr>
              <a:t>(6), p.e24051. </a:t>
            </a:r>
            <a:r>
              <a:rPr sz="900" b="0" u="sng">
                <a:solidFill>
                  <a:srgbClr val="171B38"/>
                </a:solidFill>
                <a:latin typeface="Arial" panose="020B0604020202090204"/>
                <a:ea typeface="Arial" panose="020B0604020202090204"/>
                <a:cs typeface="Arial" panose="020B0604020202090204"/>
                <a:hlinkClick r:id="rId11"/>
              </a:rPr>
              <a:t>https://onlinelibrary.wiley.com/doi/abs/10.1002/ajhb.24051</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Shahid, J., Ahmad, R., Kiani, A.K., Ahmad, T., Saeed, S. and </a:t>
            </a:r>
            <a:r>
              <a:rPr sz="900" b="0">
                <a:solidFill>
                  <a:srgbClr val="171B38"/>
                </a:solidFill>
                <a:latin typeface="Arial" panose="020B0604020202090204"/>
                <a:ea typeface="Arial" panose="020B0604020202090204"/>
                <a:cs typeface="Arial" panose="020B0604020202090204"/>
              </a:rPr>
              <a:t>Almuhaideb</a:t>
            </a:r>
            <a:r>
              <a:rPr sz="900" b="0">
                <a:solidFill>
                  <a:srgbClr val="171B38"/>
                </a:solidFill>
                <a:latin typeface="Arial" panose="020B0604020202090204"/>
                <a:ea typeface="Arial" panose="020B0604020202090204"/>
                <a:cs typeface="Arial" panose="020B0604020202090204"/>
              </a:rPr>
              <a:t>, A.M., 2022. Data protection and privacy of the internet of healthcare things (</a:t>
            </a:r>
            <a:r>
              <a:rPr sz="900" b="0">
                <a:solidFill>
                  <a:srgbClr val="171B38"/>
                </a:solidFill>
                <a:latin typeface="Arial" panose="020B0604020202090204"/>
                <a:ea typeface="Arial" panose="020B0604020202090204"/>
                <a:cs typeface="Arial" panose="020B0604020202090204"/>
              </a:rPr>
              <a:t>IoHTs</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Applied Sciences</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12</a:t>
            </a:r>
            <a:r>
              <a:rPr sz="900" b="0">
                <a:solidFill>
                  <a:srgbClr val="171B38"/>
                </a:solidFill>
                <a:latin typeface="Arial" panose="020B0604020202090204"/>
                <a:ea typeface="Arial" panose="020B0604020202090204"/>
                <a:cs typeface="Arial" panose="020B0604020202090204"/>
              </a:rPr>
              <a:t>(4), p.1927. </a:t>
            </a:r>
            <a:r>
              <a:rPr sz="900" b="0" u="sng">
                <a:solidFill>
                  <a:srgbClr val="171B38"/>
                </a:solidFill>
                <a:latin typeface="Arial" panose="020B0604020202090204"/>
                <a:ea typeface="Arial" panose="020B0604020202090204"/>
                <a:cs typeface="Arial" panose="020B0604020202090204"/>
                <a:hlinkClick r:id="rId12"/>
              </a:rPr>
              <a:t>https://www.mdpi.com/2076-3417/12/4/1927</a:t>
            </a:r>
            <a:endParaRPr sz="1000"/>
          </a:p>
          <a:p>
            <a:pPr>
              <a:defRPr sz="900" b="0">
                <a:solidFill>
                  <a:srgbClr val="171B38"/>
                </a:solidFill>
                <a:latin typeface="Arial" panose="020B0604020202090204"/>
                <a:ea typeface="Arial" panose="020B0604020202090204"/>
                <a:cs typeface="Arial" panose="020B0604020202090204"/>
              </a:defRPr>
            </a:pPr>
            <a:r>
              <a:rPr sz="900" b="0">
                <a:solidFill>
                  <a:srgbClr val="171B38"/>
                </a:solidFill>
                <a:latin typeface="Arial" panose="020B0604020202090204"/>
                <a:ea typeface="Arial" panose="020B0604020202090204"/>
                <a:cs typeface="Arial" panose="020B0604020202090204"/>
              </a:rPr>
              <a:t>Takas, N., </a:t>
            </a:r>
            <a:r>
              <a:rPr sz="900" b="0">
                <a:solidFill>
                  <a:srgbClr val="171B38"/>
                </a:solidFill>
                <a:latin typeface="Arial" panose="020B0604020202090204"/>
                <a:ea typeface="Arial" panose="020B0604020202090204"/>
                <a:cs typeface="Arial" panose="020B0604020202090204"/>
              </a:rPr>
              <a:t>Kouloumpris</a:t>
            </a:r>
            <a:r>
              <a:rPr sz="900" b="0">
                <a:solidFill>
                  <a:srgbClr val="171B38"/>
                </a:solidFill>
                <a:latin typeface="Arial" panose="020B0604020202090204"/>
                <a:ea typeface="Arial" panose="020B0604020202090204"/>
                <a:cs typeface="Arial" panose="020B0604020202090204"/>
              </a:rPr>
              <a:t>, E., </a:t>
            </a:r>
            <a:r>
              <a:rPr sz="900" b="0">
                <a:solidFill>
                  <a:srgbClr val="171B38"/>
                </a:solidFill>
                <a:latin typeface="Arial" panose="020B0604020202090204"/>
                <a:ea typeface="Arial" panose="020B0604020202090204"/>
                <a:cs typeface="Arial" panose="020B0604020202090204"/>
              </a:rPr>
              <a:t>Moutsianas</a:t>
            </a:r>
            <a:r>
              <a:rPr sz="900" b="0">
                <a:solidFill>
                  <a:srgbClr val="171B38"/>
                </a:solidFill>
                <a:latin typeface="Arial" panose="020B0604020202090204"/>
                <a:ea typeface="Arial" panose="020B0604020202090204"/>
                <a:cs typeface="Arial" panose="020B0604020202090204"/>
              </a:rPr>
              <a:t>, K., Liapis, G., </a:t>
            </a:r>
            <a:r>
              <a:rPr sz="900" b="0">
                <a:solidFill>
                  <a:srgbClr val="171B38"/>
                </a:solidFill>
                <a:latin typeface="Arial" panose="020B0604020202090204"/>
                <a:ea typeface="Arial" panose="020B0604020202090204"/>
                <a:cs typeface="Arial" panose="020B0604020202090204"/>
              </a:rPr>
              <a:t>Vlahavas</a:t>
            </a:r>
            <a:r>
              <a:rPr sz="900" b="0">
                <a:solidFill>
                  <a:srgbClr val="171B38"/>
                </a:solidFill>
                <a:latin typeface="Arial" panose="020B0604020202090204"/>
                <a:ea typeface="Arial" panose="020B0604020202090204"/>
                <a:cs typeface="Arial" panose="020B0604020202090204"/>
              </a:rPr>
              <a:t>, I. and </a:t>
            </a:r>
            <a:r>
              <a:rPr sz="900" b="0">
                <a:solidFill>
                  <a:srgbClr val="171B38"/>
                </a:solidFill>
                <a:latin typeface="Arial" panose="020B0604020202090204"/>
                <a:ea typeface="Arial" panose="020B0604020202090204"/>
                <a:cs typeface="Arial" panose="020B0604020202090204"/>
              </a:rPr>
              <a:t>Kousenidis</a:t>
            </a:r>
            <a:r>
              <a:rPr sz="900" b="0">
                <a:solidFill>
                  <a:srgbClr val="171B38"/>
                </a:solidFill>
                <a:latin typeface="Arial" panose="020B0604020202090204"/>
                <a:ea typeface="Arial" panose="020B0604020202090204"/>
                <a:cs typeface="Arial" panose="020B0604020202090204"/>
              </a:rPr>
              <a:t>, D., 2024. Startup sustainability forecasting with artificial intelligence. </a:t>
            </a:r>
            <a:r>
              <a:rPr sz="900" b="0" i="1">
                <a:solidFill>
                  <a:srgbClr val="171B38"/>
                </a:solidFill>
                <a:latin typeface="Arial" panose="020B0604020202090204"/>
                <a:ea typeface="Arial" panose="020B0604020202090204"/>
                <a:cs typeface="Arial" panose="020B0604020202090204"/>
              </a:rPr>
              <a:t>Applied Sciences</a:t>
            </a:r>
            <a:r>
              <a:rPr sz="900" b="0">
                <a:solidFill>
                  <a:srgbClr val="171B38"/>
                </a:solidFill>
                <a:latin typeface="Arial" panose="020B0604020202090204"/>
                <a:ea typeface="Arial" panose="020B0604020202090204"/>
                <a:cs typeface="Arial" panose="020B0604020202090204"/>
              </a:rPr>
              <a:t>, </a:t>
            </a:r>
            <a:r>
              <a:rPr sz="900" b="0" i="1">
                <a:solidFill>
                  <a:srgbClr val="171B38"/>
                </a:solidFill>
                <a:latin typeface="Arial" panose="020B0604020202090204"/>
                <a:ea typeface="Arial" panose="020B0604020202090204"/>
                <a:cs typeface="Arial" panose="020B0604020202090204"/>
              </a:rPr>
              <a:t>14</a:t>
            </a:r>
            <a:r>
              <a:rPr sz="900" b="0">
                <a:solidFill>
                  <a:srgbClr val="171B38"/>
                </a:solidFill>
                <a:latin typeface="Arial" panose="020B0604020202090204"/>
                <a:ea typeface="Arial" panose="020B0604020202090204"/>
                <a:cs typeface="Arial" panose="020B0604020202090204"/>
              </a:rPr>
              <a:t>(19), p.8925. </a:t>
            </a:r>
            <a:r>
              <a:rPr sz="900" b="0" u="sng">
                <a:solidFill>
                  <a:srgbClr val="171B38"/>
                </a:solidFill>
                <a:latin typeface="Arial" panose="020B0604020202090204"/>
                <a:ea typeface="Arial" panose="020B0604020202090204"/>
                <a:cs typeface="Arial" panose="020B0604020202090204"/>
                <a:hlinkClick r:id="rId13"/>
              </a:rPr>
              <a:t>https://www.mdpi.com/2076-3417/14/19/8925</a:t>
            </a:r>
            <a:endParaRPr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3"/>
          <p:cNvPicPr>
            <a:picLocks noChangeAspect="1"/>
          </p:cNvPicPr>
          <p:nvPr/>
        </p:nvPicPr>
        <p:blipFill>
          <a:blip r:embed="rId1"/>
          <a:srcRect t="27" b="27"/>
          <a:stretch>
            <a:fillRect/>
          </a:stretch>
        </p:blipFill>
        <p:spPr>
          <a:xfrm>
            <a:off x="0" y="0"/>
            <a:ext cx="12192000" cy="6858000"/>
          </a:xfrm>
          <a:prstGeom prst="rect">
            <a:avLst/>
          </a:prstGeom>
        </p:spPr>
      </p:pic>
      <p:sp>
        <p:nvSpPr>
          <p:cNvPr id="3" name="references-2"/>
          <p:cNvSpPr>
            <a:spLocks noGrp="1"/>
          </p:cNvSpPr>
          <p:nvPr/>
        </p:nvSpPr>
        <p:spPr>
          <a:xfrm>
            <a:off x="3957955" y="2143125"/>
            <a:ext cx="7239000" cy="1524000"/>
          </a:xfrm>
          <a:prstGeom prst="rect">
            <a:avLst/>
          </a:prstGeom>
          <a:noFill/>
          <a:ln w="0">
            <a:noFill/>
          </a:ln>
        </p:spPr>
        <p:txBody>
          <a:bodyPr anchor="ctr">
            <a:normAutofit/>
          </a:bodyPr>
          <a:lstStyle/>
          <a:p>
            <a:pPr>
              <a:defRPr sz="4050" b="1">
                <a:solidFill>
                  <a:srgbClr val="171B38"/>
                </a:solidFill>
                <a:latin typeface="Arial" panose="020B0604020202090204"/>
                <a:ea typeface="Arial" panose="020B0604020202090204"/>
                <a:cs typeface="Arial" panose="020B0604020202090204"/>
              </a:defRPr>
            </a:pPr>
            <a:r>
              <a:rPr sz="4050" b="1">
                <a:solidFill>
                  <a:srgbClr val="171B38"/>
                </a:solidFill>
                <a:latin typeface="Arial" panose="020B0604020202090204"/>
                <a:ea typeface="Arial" panose="020B0604020202090204"/>
                <a:cs typeface="Arial" panose="020B0604020202090204"/>
              </a:rPr>
              <a:t>Thank You!</a:t>
            </a:r>
            <a:endParaRPr sz="4800">
              <a:latin typeface="Tahoma" panose="020B0604030504040204"/>
              <a:ea typeface="Tahoma" panose="020B0604030504040204"/>
              <a:cs typeface="Tahoma" panose="020B060403050404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7827</Words>
  <Application>WPS Writer</Application>
  <PresentationFormat>Converted Presentation</PresentationFormat>
  <Paragraphs>119</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Arial</vt:lpstr>
      <vt:lpstr>Times New Roman</vt:lpstr>
      <vt:lpstr>Tahoma</vt:lpstr>
      <vt:lpstr>Microsoft YaHei</vt:lpstr>
      <vt:lpstr>汉仪旗黑</vt:lpstr>
      <vt:lpstr>Arial Unicode MS</vt:lpstr>
      <vt:lpstr>Calibri</vt:lpstr>
      <vt:lpstr>Helvetica Neue</vt:lpstr>
      <vt:lpstr>宋体-简</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Deepak Paliwal</cp:lastModifiedBy>
  <cp:revision>4</cp:revision>
  <dcterms:created xsi:type="dcterms:W3CDTF">2026-09-12T08:14:34Z</dcterms:created>
  <dcterms:modified xsi:type="dcterms:W3CDTF">2026-09-12T08:14:34Z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074CAC9C51000129EA09A56A3FD8342D_43</vt:lpwstr>
  </property>
  <property fmtid="{D5CDD505-2E9C-101B-9397-08002B2CF9AE}" pid="3" name="KSOProductBuildVer">
    <vt:lpwstr>1033-12.1.23155.23155</vt:lpwstr>
  </property>
</Properties>
</file>